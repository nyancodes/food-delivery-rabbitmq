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1.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97e992a5ac984748" /><Relationship Type="http://schemas.openxmlformats.org/officeDocument/2006/relationships/extended-properties" Target="/docProps/app.xml" Id="R6bfe269739cc422d" /><Relationship Type="http://schemas.openxmlformats.org/officeDocument/2006/relationships/officeDocument" Target="/ppt/presentation.xml" Id="R5cee9f34e34a41fb" /></Relationships>
</file>

<file path=ppt/presentation.xml><?xml version="1.0" encoding="utf-8"?>
<p:presentation xmlns:p="http://schemas.openxmlformats.org/presentationml/2006/main">
  <p:sldMasterIdLst>
    <p:sldMasterId xmlns:r="http://schemas.openxmlformats.org/officeDocument/2006/relationships" id="2147483648" r:id="Rda5c09df044d4732"/>
  </p:sldMasterIdLst>
  <p:notesMasterIdLst>
    <p:notesMasterId xmlns:r="http://schemas.openxmlformats.org/officeDocument/2006/relationships" r:id="R6a23b7549e4c47a6"/>
  </p:notesMasterIdLst>
  <p:sldIdLst>
    <p:sldId xmlns:r="http://schemas.openxmlformats.org/officeDocument/2006/relationships" id="256" r:id="R328eaf9fb0b74ce5"/>
    <p:sldId xmlns:r="http://schemas.openxmlformats.org/officeDocument/2006/relationships" id="257" r:id="R26ac5dd2c3f5415e"/>
    <p:sldId xmlns:r="http://schemas.openxmlformats.org/officeDocument/2006/relationships" id="258" r:id="Reab7742678454685"/>
    <p:sldId xmlns:r="http://schemas.openxmlformats.org/officeDocument/2006/relationships" id="259" r:id="R6d1def6ecad64fd9"/>
    <p:sldId xmlns:r="http://schemas.openxmlformats.org/officeDocument/2006/relationships" id="260" r:id="R03e58edd16b44485"/>
    <p:sldId xmlns:r="http://schemas.openxmlformats.org/officeDocument/2006/relationships" id="261" r:id="R7a8317997cb34fe1"/>
    <p:sldId xmlns:r="http://schemas.openxmlformats.org/officeDocument/2006/relationships" id="262" r:id="Rbdd8424293164620"/>
    <p:sldId xmlns:r="http://schemas.openxmlformats.org/officeDocument/2006/relationships" id="263" r:id="R69f7e75c0a0a4fbd"/>
    <p:sldId xmlns:r="http://schemas.openxmlformats.org/officeDocument/2006/relationships" id="264" r:id="Rabd62d57325843bc"/>
    <p:sldId xmlns:r="http://schemas.openxmlformats.org/officeDocument/2006/relationships" id="265" r:id="Rceb39191d230441f"/>
    <p:sldId xmlns:r="http://schemas.openxmlformats.org/officeDocument/2006/relationships" id="266" r:id="R80a7e00e58d3474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7f5c6217f3a4060" /><Relationship Type="http://schemas.openxmlformats.org/officeDocument/2006/relationships/slideMaster" Target="/ppt/slideMasters/slideMaster1.xml" Id="Rda5c09df044d4732" /><Relationship Type="http://schemas.openxmlformats.org/officeDocument/2006/relationships/notesMaster" Target="/ppt/notesMasters/notesMaster1.xml" Id="R6a23b7549e4c47a6" /><Relationship Type="http://schemas.openxmlformats.org/officeDocument/2006/relationships/presProps" Target="/ppt/presProps.xml" Id="Re5a5c23e245d40c8" /><Relationship Type="http://schemas.openxmlformats.org/officeDocument/2006/relationships/tableStyles" Target="/ppt/tableStyles.xml" Id="R67f679bfc39f476e" /><Relationship Type="http://schemas.openxmlformats.org/officeDocument/2006/relationships/slide" Target="/ppt/slides/slide1.xml" Id="R328eaf9fb0b74ce5" /><Relationship Type="http://schemas.openxmlformats.org/officeDocument/2006/relationships/slide" Target="/ppt/slides/slide2.xml" Id="R26ac5dd2c3f5415e" /><Relationship Type="http://schemas.openxmlformats.org/officeDocument/2006/relationships/slide" Target="/ppt/slides/slide3.xml" Id="Reab7742678454685" /><Relationship Type="http://schemas.openxmlformats.org/officeDocument/2006/relationships/slide" Target="/ppt/slides/slide4.xml" Id="R6d1def6ecad64fd9" /><Relationship Type="http://schemas.openxmlformats.org/officeDocument/2006/relationships/slide" Target="/ppt/slides/slide5.xml" Id="R03e58edd16b44485" /><Relationship Type="http://schemas.openxmlformats.org/officeDocument/2006/relationships/slide" Target="/ppt/slides/slide6.xml" Id="R7a8317997cb34fe1" /><Relationship Type="http://schemas.openxmlformats.org/officeDocument/2006/relationships/slide" Target="/ppt/slides/slide7.xml" Id="Rbdd8424293164620" /><Relationship Type="http://schemas.openxmlformats.org/officeDocument/2006/relationships/slide" Target="/ppt/slides/slide8.xml" Id="R69f7e75c0a0a4fbd" /><Relationship Type="http://schemas.openxmlformats.org/officeDocument/2006/relationships/slide" Target="/ppt/slides/slide9.xml" Id="Rabd62d57325843bc" /><Relationship Type="http://schemas.openxmlformats.org/officeDocument/2006/relationships/slide" Target="/ppt/slides/slide10.xml" Id="Rceb39191d230441f" /><Relationship Type="http://schemas.openxmlformats.org/officeDocument/2006/relationships/slide" Target="/ppt/slides/slide11.xml" Id="R80a7e00e58d3474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2eb6a9f231f4ef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a1ecc4ab2ed4240" /><Relationship Type="http://schemas.openxmlformats.org/officeDocument/2006/relationships/notesMaster" Target="/ppt/notesMasters/notesMaster1.xml" Id="Reb180215ce4641e5" /></Relationships>
</file>

<file path=ppt/notesSlides/_rels/notesSlide2.xml.rels>&#65279;<?xml version="1.0" encoding="utf-8"?><Relationships xmlns="http://schemas.openxmlformats.org/package/2006/relationships"><Relationship Type="http://schemas.openxmlformats.org/officeDocument/2006/relationships/slide" Target="/ppt/slides/slide2.xml" Id="R554ac73f24aa4f9c" /><Relationship Type="http://schemas.openxmlformats.org/officeDocument/2006/relationships/notesMaster" Target="/ppt/notesMasters/notesMaster1.xml" Id="Ra62f0d55fa5a4677" /></Relationships>
</file>

<file path=ppt/notesSlides/_rels/notesSlide3.xml.rels>&#65279;<?xml version="1.0" encoding="utf-8"?><Relationships xmlns="http://schemas.openxmlformats.org/package/2006/relationships"><Relationship Type="http://schemas.openxmlformats.org/officeDocument/2006/relationships/slide" Target="/ppt/slides/slide3.xml" Id="R48af0a054d324d3f" /><Relationship Type="http://schemas.openxmlformats.org/officeDocument/2006/relationships/notesMaster" Target="/ppt/notesMasters/notesMaster1.xml" Id="Rbb799ee3b78441ab" /></Relationships>
</file>

<file path=ppt/notesSlides/_rels/notesSlide4.xml.rels>&#65279;<?xml version="1.0" encoding="utf-8"?><Relationships xmlns="http://schemas.openxmlformats.org/package/2006/relationships"><Relationship Type="http://schemas.openxmlformats.org/officeDocument/2006/relationships/slide" Target="/ppt/slides/slide4.xml" Id="R5c32a45cc80c4446" /><Relationship Type="http://schemas.openxmlformats.org/officeDocument/2006/relationships/notesMaster" Target="/ppt/notesMasters/notesMaster1.xml" Id="R26794d4fd81b459a" /></Relationships>
</file>

<file path=ppt/notesSlides/_rels/notesSlide5.xml.rels>&#65279;<?xml version="1.0" encoding="utf-8"?><Relationships xmlns="http://schemas.openxmlformats.org/package/2006/relationships"><Relationship Type="http://schemas.openxmlformats.org/officeDocument/2006/relationships/slide" Target="/ppt/slides/slide5.xml" Id="Rd486c25671cf4f2f" /><Relationship Type="http://schemas.openxmlformats.org/officeDocument/2006/relationships/notesMaster" Target="/ppt/notesMasters/notesMaster1.xml" Id="Rde2aef3d4fc44974" /></Relationships>
</file>

<file path=ppt/notesSlides/_rels/notesSlide6.xml.rels>&#65279;<?xml version="1.0" encoding="utf-8"?><Relationships xmlns="http://schemas.openxmlformats.org/package/2006/relationships"><Relationship Type="http://schemas.openxmlformats.org/officeDocument/2006/relationships/slide" Target="/ppt/slides/slide6.xml" Id="Rfbca848c8add4cc6" /><Relationship Type="http://schemas.openxmlformats.org/officeDocument/2006/relationships/notesMaster" Target="/ppt/notesMasters/notesMaster1.xml" Id="R14e7019329fa4783" /></Relationships>
</file>

<file path=ppt/notesSlides/_rels/notesSlide7.xml.rels>&#65279;<?xml version="1.0" encoding="utf-8"?><Relationships xmlns="http://schemas.openxmlformats.org/package/2006/relationships"><Relationship Type="http://schemas.openxmlformats.org/officeDocument/2006/relationships/slide" Target="/ppt/slides/slide7.xml" Id="R85b2a0bedfdd482c" /><Relationship Type="http://schemas.openxmlformats.org/officeDocument/2006/relationships/notesMaster" Target="/ppt/notesMasters/notesMaster1.xml" Id="R8d119cde682b4cb1" /></Relationships>
</file>

<file path=ppt/notesSlides/_rels/notesSlide8.xml.rels>&#65279;<?xml version="1.0" encoding="utf-8"?><Relationships xmlns="http://schemas.openxmlformats.org/package/2006/relationships"><Relationship Type="http://schemas.openxmlformats.org/officeDocument/2006/relationships/slide" Target="/ppt/slides/slide8.xml" Id="R7332c879719f43e4" /><Relationship Type="http://schemas.openxmlformats.org/officeDocument/2006/relationships/notesMaster" Target="/ppt/notesMasters/notesMaster1.xml" Id="Rb0153baf83754c4c" /></Relationships>
</file>

<file path=ppt/notesSlides/_rels/notesSlide9.xml.rels>&#65279;<?xml version="1.0" encoding="utf-8"?><Relationships xmlns="http://schemas.openxmlformats.org/package/2006/relationships"><Relationship Type="http://schemas.openxmlformats.org/officeDocument/2006/relationships/slide" Target="/ppt/slides/slide9.xml" Id="R2664f6532f2e4e7e" /><Relationship Type="http://schemas.openxmlformats.org/officeDocument/2006/relationships/notesMaster" Target="/ppt/notesMasters/notesMaster1.xml" Id="R4f1bb67d1850439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f5e6fbd7bf54235" /><Relationship Type="http://schemas.openxmlformats.org/officeDocument/2006/relationships/notesMaster" Target="/ppt/notesMasters/notesMaster1.xml" Id="R1f4f1b7a1e794a2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f9c626736744ebd" /><Relationship Type="http://schemas.openxmlformats.org/officeDocument/2006/relationships/notesMaster" Target="/ppt/notesMasters/notesMaster1.xml" Id="Rbca85d4519b845f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1 | 0:35</a:t>
            </a:r>
          </a:p>
          <a:p xmlns:a="http://schemas.openxmlformats.org/drawingml/2006/main">
            <a:r>
              <a:t/>
            </a:r>
          </a:p>
          <a:p xmlns:a="http://schemas.openxmlformats.org/drawingml/2006/main">
            <a:r>
              <a:t>Introduce the problem in plain language. A food order waits inside one web request while payment, restaurant work, inventory, and notifications finish. The project uses RabbitMQ to move that slow work into background workers.</a:t>
            </a:r>
          </a:p>
          <a:p xmlns:a="http://schemas.openxmlformats.org/drawingml/2006/main">
            <a:r>
              <a:t/>
            </a:r>
          </a:p>
          <a:p xmlns:a="http://schemas.openxmlformats.org/drawingml/2006/main">
            <a:r>
              <a:t>Preview the three sections. Presenter 1 explains the problem and RabbitMQ. Presenter 2 explains the solution and implementation. Presenter 3 covers reliability, results, and the demonstration.</a:t>
            </a:r>
          </a:p>
          <a:p xmlns:a="http://schemas.openxmlformats.org/drawingml/2006/main">
            <a:r>
              <a:t/>
            </a:r>
          </a:p>
          <a:p xmlns:a="http://schemas.openxmlformats.org/drawingml/2006/main">
            <a:r>
              <a:t>Sources: README.md; app/api.py.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1 | 1:20</a:t>
            </a:r>
          </a:p>
          <a:p xmlns:a="http://schemas.openxmlformats.org/drawingml/2006/main">
            <a:r>
              <a:t/>
            </a:r>
          </a:p>
          <a:p xmlns:a="http://schemas.openxmlformats.org/drawingml/2006/main">
            <a:r>
              <a:t>Walk through the four simulated delays. Payment takes 0.8 seconds, restaurant notification takes 0.5 seconds, inventory takes 0.3 seconds, and customer notification takes 0.4 seconds. The caller waits about two seconds.</a:t>
            </a:r>
          </a:p>
          <a:p xmlns:a="http://schemas.openxmlformats.org/drawingml/2006/main">
            <a:r>
              <a:t/>
            </a:r>
          </a:p>
          <a:p xmlns:a="http://schemas.openxmlformats.org/drawingml/2006/main">
            <a:r>
              <a:t>The visible problem is latency. The deeper problem is coupling. A slow or unavailable dependency delays the complete request.</a:t>
            </a:r>
          </a:p>
          <a:p xmlns:a="http://schemas.openxmlformats.org/drawingml/2006/main">
            <a:r>
              <a:t/>
            </a:r>
          </a:p>
          <a:p xmlns:a="http://schemas.openxmlformats.org/drawingml/2006/main">
            <a:r>
              <a:t>Sources: app/api.py; app/config.py; 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1 | 1:20</a:t>
            </a:r>
          </a:p>
          <a:p xmlns:a="http://schemas.openxmlformats.org/drawingml/2006/main">
            <a:r>
              <a:t/>
            </a:r>
          </a:p>
          <a:p xmlns:a="http://schemas.openxmlformats.org/drawingml/2006/main">
            <a:r>
              <a:t>Describe RabbitMQ without jargon first. The API places job instructions in a waiting room. RabbitMQ keeps and routes them. Workers collect the jobs when they are ready.</a:t>
            </a:r>
          </a:p>
          <a:p xmlns:a="http://schemas.openxmlformats.org/drawingml/2006/main">
            <a:r>
              <a:t/>
            </a:r>
          </a:p>
          <a:p xmlns:a="http://schemas.openxmlformats.org/drawingml/2006/main">
            <a:r>
              <a:t>Then introduce the four terms. An acknowledgement tells RabbitMQ that the worker finished successfully. If the worker stops before that point, the message remains available.</a:t>
            </a:r>
          </a:p>
          <a:p xmlns:a="http://schemas.openxmlformats.org/drawingml/2006/main">
            <a:r>
              <a:t/>
            </a:r>
          </a:p>
          <a:p xmlns:a="http://schemas.openxmlformats.org/drawingml/2006/main">
            <a:r>
              <a:t>Handoff to Presenter 2.</a:t>
            </a:r>
          </a:p>
          <a:p xmlns:a="http://schemas.openxmlformats.org/drawingml/2006/main">
            <a:r>
              <a:t/>
            </a:r>
          </a:p>
          <a:p xmlns:a="http://schemas.openxmlformats.org/drawingml/2006/main">
            <a:r>
              <a:t>Sources: app/broker.py; app/workers/base.py; 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2 | 1:05</a:t>
            </a:r>
          </a:p>
          <a:p xmlns:a="http://schemas.openxmlformats.org/drawingml/2006/main">
            <a:r>
              <a:t/>
            </a:r>
          </a:p>
          <a:p xmlns:a="http://schemas.openxmlformats.org/drawingml/2006/main">
            <a:r>
              <a:t>Explain the new request boundary. The API validates the payload, saves a PENDING order, publishes order.created, and returns HTTP 202 with a tracking path.</a:t>
            </a:r>
          </a:p>
          <a:p xmlns:a="http://schemas.openxmlformats.org/drawingml/2006/main">
            <a:r>
              <a:t/>
            </a:r>
          </a:p>
          <a:p xmlns:a="http://schemas.openxmlformats.org/drawingml/2006/main">
            <a:r>
              <a:t>RabbitMQ sends separate copies to payment, restaurant, and notification queues. The workers continue after the customer response.</a:t>
            </a:r>
          </a:p>
          <a:p xmlns:a="http://schemas.openxmlformats.org/drawingml/2006/main">
            <a:r>
              <a:t/>
            </a:r>
          </a:p>
          <a:p xmlns:a="http://schemas.openxmlformats.org/drawingml/2006/main">
            <a:r>
              <a:t>Sources: app/api.py; app/models.py; 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2 | 1:30</a:t>
            </a:r>
          </a:p>
          <a:p xmlns:a="http://schemas.openxmlformats.org/drawingml/2006/main">
            <a:r>
              <a:t/>
            </a:r>
          </a:p>
          <a:p xmlns:a="http://schemas.openxmlformats.org/drawingml/2006/main">
            <a:r>
              <a:t>Walk left to right. FastAPI saves the order and publishes order.created to the RabbitMQ exchange. RabbitMQ copies it into three queues. Each queue feeds one worker role.</a:t>
            </a:r>
          </a:p>
          <a:p xmlns:a="http://schemas.openxmlformats.org/drawingml/2006/main">
            <a:r>
              <a:t/>
            </a:r>
          </a:p>
          <a:p xmlns:a="http://schemas.openxmlformats.org/drawingml/2006/main">
            <a:r>
              <a:t>Workers update the order state and timeline in PostgreSQL. Jobs that keep failing eventually move to orders.dlq for inspection.</a:t>
            </a:r>
          </a:p>
          <a:p xmlns:a="http://schemas.openxmlformats.org/drawingml/2006/main">
            <a:r>
              <a:t/>
            </a:r>
          </a:p>
          <a:p xmlns:a="http://schemas.openxmlformats.org/drawingml/2006/main">
            <a:r>
              <a:t>Every object remains editable.</a:t>
            </a:r>
          </a:p>
          <a:p xmlns:a="http://schemas.openxmlformats.org/drawingml/2006/main">
            <a:r>
              <a:t/>
            </a:r>
          </a:p>
          <a:p xmlns:a="http://schemas.openxmlformats.org/drawingml/2006/main">
            <a:r>
              <a:t>Sources: app/broker.py; app/config.py; app/workers/*.py; migrations/001_init.sql.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2 | 1:15</a:t>
            </a:r>
          </a:p>
          <a:p xmlns:a="http://schemas.openxmlformats.org/drawingml/2006/main">
            <a:r>
              <a:t/>
            </a:r>
          </a:p>
          <a:p xmlns:a="http://schemas.openxmlformats.org/drawingml/2006/main">
            <a:r>
              <a:t>Use this slide to explain the customer journey without a complex sequence diagram. The API returns an order ID and tracking path before the workers finish.</a:t>
            </a:r>
          </a:p>
          <a:p xmlns:a="http://schemas.openxmlformats.org/drawingml/2006/main">
            <a:r>
              <a:t/>
            </a:r>
          </a:p>
          <a:p xmlns:a="http://schemas.openxmlformats.org/drawingml/2006/main">
            <a:r>
              <a:t>The customer polls GET /orders/{id}. PostgreSQL returns the latest status and a chronological list of events. Restaurant and payment work run concurrently, so some middle events can appear in a different order.</a:t>
            </a:r>
          </a:p>
          <a:p xmlns:a="http://schemas.openxmlformats.org/drawingml/2006/main">
            <a:r>
              <a:t/>
            </a:r>
          </a:p>
          <a:p xmlns:a="http://schemas.openxmlformats.org/drawingml/2006/main">
            <a:r>
              <a:t>Sources: app/api.py; app/store.py; tests/test_flow.py.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2 | 1:10</a:t>
            </a:r>
          </a:p>
          <a:p xmlns:a="http://schemas.openxmlformats.org/drawingml/2006/main">
            <a:r>
              <a:t/>
            </a:r>
          </a:p>
          <a:p xmlns:a="http://schemas.openxmlformats.org/drawingml/2006/main">
            <a:r>
              <a:t>Summarize the implementation in four phases. First build the API and database model. Next declare the RabbitMQ topology. Then implement the three workers using the shared consumer loop. Finally test success and failure paths and prepare the demonstrations.</a:t>
            </a:r>
          </a:p>
          <a:p xmlns:a="http://schemas.openxmlformats.org/drawingml/2006/main">
            <a:r>
              <a:t/>
            </a:r>
          </a:p>
          <a:p xmlns:a="http://schemas.openxmlformats.org/drawingml/2006/main">
            <a:r>
              <a:t>Handoff to Presenter 3.</a:t>
            </a:r>
          </a:p>
          <a:p xmlns:a="http://schemas.openxmlformats.org/drawingml/2006/main">
            <a:r>
              <a:t/>
            </a:r>
          </a:p>
          <a:p xmlns:a="http://schemas.openxmlformats.org/drawingml/2006/main">
            <a:r>
              <a:t>Sources: app/*.py; app/workers/*.py; tests/*.py; demo/*.py.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3 | 1:25</a:t>
            </a:r>
          </a:p>
          <a:p xmlns:a="http://schemas.openxmlformats.org/drawingml/2006/main">
            <a:r>
              <a:t/>
            </a:r>
          </a:p>
          <a:p xmlns:a="http://schemas.openxmlformats.org/drawingml/2006/main">
            <a:r>
              <a:t>Contrast two cases. During a temporary outage, RabbitMQ keeps the jobs in the durable queue. After the worker restarts, the queue drains.</a:t>
            </a:r>
          </a:p>
          <a:p xmlns:a="http://schemas.openxmlformats.org/drawingml/2006/main">
            <a:r>
              <a:t/>
            </a:r>
          </a:p>
          <a:p xmlns:a="http://schemas.openxmlformats.org/drawingml/2006/main">
            <a:r>
              <a:t>For repeated handler failure, the worker retries privately inside the same service queue. After the third attempt, it marks the order FAILED and sends the message to orders.dlq.</a:t>
            </a:r>
          </a:p>
          <a:p xmlns:a="http://schemas.openxmlformats.org/drawingml/2006/main">
            <a:r>
              <a:t/>
            </a:r>
          </a:p>
          <a:p xmlns:a="http://schemas.openxmlformats.org/drawingml/2006/main">
            <a:r>
              <a:t>The project demonstrates at-least-once delivery. A production payment call must use order_id as an idempotency key.</a:t>
            </a:r>
          </a:p>
          <a:p xmlns:a="http://schemas.openxmlformats.org/drawingml/2006/main">
            <a:r>
              <a:t/>
            </a:r>
          </a:p>
          <a:p xmlns:a="http://schemas.openxmlformats.org/drawingml/2006/main">
            <a:r>
              <a:t>Sources: app/workers/base.py; demo/chaos_demo.py; demo/failure_demo.py.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3 | 1:10</a:t>
            </a:r>
          </a:p>
          <a:p xmlns:a="http://schemas.openxmlformats.org/drawingml/2006/main">
            <a:r>
              <a:t/>
            </a:r>
          </a:p>
          <a:p xmlns:a="http://schemas.openxmlformats.org/drawingml/2006/main">
            <a:r>
              <a:t>Explain that Docker Compose runs RabbitMQ, PostgreSQL, the migration job, the API, and three worker roles. Health checks prevent the application from starting before its dependencies are ready.</a:t>
            </a:r>
          </a:p>
          <a:p xmlns:a="http://schemas.openxmlformats.org/drawingml/2006/main">
            <a:r>
              <a:t/>
            </a:r>
          </a:p>
          <a:p xmlns:a="http://schemas.openxmlformats.org/drawingml/2006/main">
            <a:r>
              <a:t>Tests cover the request model, broker topology, worker behavior, and live flow. Demo scripts cover load, worker interruption, and dead-letter handling.</a:t>
            </a:r>
          </a:p>
          <a:p xmlns:a="http://schemas.openxmlformats.org/drawingml/2006/main">
            <a:r>
              <a:t/>
            </a:r>
          </a:p>
          <a:p xmlns:a="http://schemas.openxmlformats.org/drawingml/2006/main">
            <a:r>
              <a:t>Sources: compose.yaml; Dockerfile; tests/*.py; demo/*.py.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3 | 1:15</a:t>
            </a:r>
          </a:p>
          <a:p xmlns:a="http://schemas.openxmlformats.org/drawingml/2006/main">
            <a:r>
              <a:t/>
            </a:r>
          </a:p>
          <a:p xmlns:a="http://schemas.openxmlformats.org/drawingml/2006/main">
            <a:r>
              <a:t>State the benchmark conditions first. The synchronous endpoint averaged 2,031.4 milliseconds. The RabbitMQ endpoint averaged 6.0 milliseconds for API acceptance, about 339 times faster.</a:t>
            </a:r>
          </a:p>
          <a:p xmlns:a="http://schemas.openxmlformats.org/drawingml/2006/main">
            <a:r>
              <a:t/>
            </a:r>
          </a:p>
          <a:p xmlns:a="http://schemas.openxmlformats.org/drawingml/2006/main">
            <a:r>
              <a:t>All 30 asynchronous orders eventually completed. Clarify that the result measures how quickly the API releases the caller. The background workers still perform every task.</a:t>
            </a:r>
          </a:p>
          <a:p xmlns:a="http://schemas.openxmlformats.org/drawingml/2006/main">
            <a:r>
              <a:t/>
            </a:r>
          </a:p>
          <a:p xmlns:a="http://schemas.openxmlformats.org/drawingml/2006/main">
            <a:r>
              <a:t>Sources: README.md; demo/load_test.py.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3 | 1:30</a:t>
            </a:r>
          </a:p>
          <a:p xmlns:a="http://schemas.openxmlformats.org/drawingml/2006/main">
            <a:r>
              <a:t/>
            </a:r>
          </a:p>
          <a:p xmlns:a="http://schemas.openxmlformats.org/drawingml/2006/main">
            <a:r>
              <a:t>Use the dashboard to compare both paths. Follow one asynchronous order until COMPLETED. Show the RabbitMQ queue and consumer counts. If time permits, run the worker interruption and failure demonstrations.</a:t>
            </a:r>
          </a:p>
          <a:p xmlns:a="http://schemas.openxmlformats.org/drawingml/2006/main">
            <a:r>
              <a:t/>
            </a:r>
          </a:p>
          <a:p xmlns:a="http://schemas.openxmlformats.org/drawingml/2006/main">
            <a:r>
              <a:t>Close with one sentence. RabbitMQ releases the customer quickly, preserves unfinished work, and provides a clear place to inspect permanent failures.</a:t>
            </a:r>
          </a:p>
          <a:p xmlns:a="http://schemas.openxmlformats.org/drawingml/2006/main">
            <a:r>
              <a:t/>
            </a:r>
          </a:p>
          <a:p xmlns:a="http://schemas.openxmlformats.org/drawingml/2006/main">
            <a:r>
              <a:t>Sources: README.md; Makefile; demo/*.py.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fbc822e9a79494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e7a986509544052" /><Relationship Type="http://schemas.openxmlformats.org/officeDocument/2006/relationships/slideLayout" Target="/ppt/slideLayouts/slideLayout1.xml" Id="R13df495c21774ad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3df495c21774ad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9bb6db3bd3b4fba" /><Relationship Type="http://schemas.openxmlformats.org/officeDocument/2006/relationships/notesSlide" Target="/ppt/notesSlides/notesSlide1.xml" Id="R3afed81d66e6427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d34c469adbf4736" /><Relationship Type="http://schemas.openxmlformats.org/officeDocument/2006/relationships/notesSlide" Target="/ppt/notesSlides/notesSlide2.xml" Id="Rbb2c1359ea21449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f1477e494354b94" /><Relationship Type="http://schemas.openxmlformats.org/officeDocument/2006/relationships/notesSlide" Target="/ppt/notesSlides/notesSlide3.xml" Id="Rdf744e5fb2724d2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30019f0f7474677" /><Relationship Type="http://schemas.openxmlformats.org/officeDocument/2006/relationships/notesSlide" Target="/ppt/notesSlides/notesSlide4.xml" Id="R8b52da8e12944ad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0d82e1d60df4d08" /><Relationship Type="http://schemas.openxmlformats.org/officeDocument/2006/relationships/notesSlide" Target="/ppt/notesSlides/notesSlide5.xml" Id="R258223863657424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ce8053be38d4ec2" /><Relationship Type="http://schemas.openxmlformats.org/officeDocument/2006/relationships/notesSlide" Target="/ppt/notesSlides/notesSlide6.xml" Id="R5e38238732df485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19dedf2a7164f90" /><Relationship Type="http://schemas.openxmlformats.org/officeDocument/2006/relationships/notesSlide" Target="/ppt/notesSlides/notesSlide7.xml" Id="Rfb2dc4dc02414f9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04b59bb6cd04e76" /><Relationship Type="http://schemas.openxmlformats.org/officeDocument/2006/relationships/notesSlide" Target="/ppt/notesSlides/notesSlide8.xml" Id="Rf95e5302b60f4cb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2eeadf676e8744a5" /><Relationship Type="http://schemas.openxmlformats.org/officeDocument/2006/relationships/notesSlide" Target="/ppt/notesSlides/notesSlide9.xml" Id="Re5b0d98a3392404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4ca69bae658547a6" /><Relationship Type="http://schemas.openxmlformats.org/officeDocument/2006/relationships/chart" Target="/ppt/slides/charts/chart1.xml" Id="Rb3d2435450e14d5e" /><Relationship Type="http://schemas.openxmlformats.org/officeDocument/2006/relationships/notesSlide" Target="/ppt/notesSlides/notesSlide10.xml" Id="R4c6e60b08b4f47b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63196f5ee83f461b" /><Relationship Type="http://schemas.openxmlformats.org/officeDocument/2006/relationships/notesSlide" Target="/ppt/notesSlides/notesSlide11.xml" Id="R2a1836dbe26249ba"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Mean API response (ms)</c:v>
          </c:tx>
          <c:spPr>
            <a:solidFill xmlns:a="http://schemas.openxmlformats.org/drawingml/2006/main">
              <a:srgbClr val="F36B21"/>
            </a:solidFill>
          </c:spPr>
          <c:cat>
            <c:strRef>
              <c:f>'Chart Data'!$A$2:$A$3</c:f>
              <c:strCache>
                <c:ptCount val="2"/>
                <c:pt idx="0">
                  <c:v>Synchronous</c:v>
                </c:pt>
                <c:pt idx="1">
                  <c:v>RabbitMQ</c:v>
                </c:pt>
              </c:strCache>
            </c:strRef>
          </c:cat>
          <c:val>
            <c:numRef>
              <c:f>'Chart Data'!$B$2:$B$3</c:f>
              <c:numCache>
                <c:formatCode>General</c:formatCode>
                <c:ptCount val="2"/>
                <c:pt idx="0">
                  <c:v>2031.4</c:v>
                </c:pt>
                <c:pt idx="1">
                  <c:v>6</c:v>
                </c:pt>
              </c:numCache>
            </c:numRef>
          </c:val>
        </c:ser>
        <c:dLbls>
          <c:txPr>
            <a:bodyPr xmlns:a="http://schemas.openxmlformats.org/drawingml/2006/main" anchorCtr="1"/>
            <a:lstStyle xmlns:a="http://schemas.openxmlformats.org/drawingml/2006/main"/>
            <a:p xmlns:a="http://schemas.openxmlformats.org/drawingml/2006/main">
              <a:pPr>
                <a:defRPr sz="1200" b="1">
                  <a:solidFill>
                    <a:srgbClr val="142B4A"/>
                  </a:solidFill>
                  <a:latin typeface="Avenir Next"/>
                  <a:ea typeface="Avenir Next"/>
                  <a:cs typeface="Avenir Next"/>
                </a:defRPr>
              </a:pPr>
            </a:p>
          </c:txPr>
          <c:dLblPos val="outEnd"/>
          <c:showLegendKey val="0"/>
          <c:showVal val="1"/>
          <c:showCatName val="0"/>
          <c:showSerName val="0"/>
          <c:showPercent val="0"/>
          <c:showBubbleSize val="0"/>
          <c:showLeaderLines val="0"/>
        </c:dLbls>
        <c:gapWidth val="55"/>
        <c:axId val="48650112"/>
        <c:axId val="48672768"/>
      </c:barChart>
      <c:catAx>
        <c:axId val="48650112"/>
        <c:scaling>
          <c:orientation val="minMax"/>
        </c:scaling>
        <c:delete val="0"/>
        <c:axPos val="l"/>
        <c:majorGridlines>
          <c:spPr>
            <a:ln xmlns:a="http://schemas.openxmlformats.org/drawingml/2006/main" w="9525">
              <a:solidFill>
                <a:srgbClr val="E5E8EC"/>
              </a:solidFill>
              <a:prstDash val="solid"/>
            </a:ln>
          </c:spPr>
        </c:majorGridlines>
        <c:title>
          <c:tx>
            <c:rich>
              <a:bodyPr xmlns:a="http://schemas.openxmlformats.org/drawingml/2006/main"/>
              <a:lstStyle xmlns:a="http://schemas.openxmlformats.org/drawingml/2006/main"/>
              <a:p xmlns:a="http://schemas.openxmlformats.org/drawingml/2006/main">
                <a:r>
                  <a:rPr>
                    <a:latin typeface="Avenir Next"/>
                    <a:ea typeface="Avenir Next"/>
                    <a:cs typeface="Avenir Next"/>
                  </a:rPr>
                  <a:t>Mean API response, milliseconds</a:t>
                </a:r>
              </a:p>
            </c:rich>
          </c:tx>
          <c:overlay val="0"/>
          <c:txPr>
            <a:bodyPr xmlns:a="http://schemas.openxmlformats.org/drawingml/2006/main" anchorCtr="1"/>
            <a:lstStyle xmlns:a="http://schemas.openxmlformats.org/drawingml/2006/main"/>
            <a:p xmlns:a="http://schemas.openxmlformats.org/drawingml/2006/main">
              <a:pPr>
                <a:defRPr>
                  <a:latin typeface="Avenir Next"/>
                  <a:ea typeface="Avenir Next"/>
                  <a:cs typeface="Avenir Next"/>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27083"/>
                </a:solidFill>
                <a:latin typeface="Avenir Next"/>
                <a:ea typeface="Avenir Next"/>
                <a:cs typeface="Avenir Next"/>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C7D0DA"/>
            </a:solidFill>
          </a:ln>
        </c:spPr>
        <c:txPr>
          <a:bodyPr xmlns:a="http://schemas.openxmlformats.org/drawingml/2006/main" anchorCtr="1"/>
          <a:lstStyle xmlns:a="http://schemas.openxmlformats.org/drawingml/2006/main"/>
          <a:p xmlns:a="http://schemas.openxmlformats.org/drawingml/2006/main">
            <a:pPr>
              <a:defRPr sz="1275" b="1">
                <a:solidFill>
                  <a:srgbClr val="18202C"/>
                </a:solidFill>
                <a:latin typeface="Avenir Next"/>
                <a:ea typeface="Avenir Next"/>
                <a:cs typeface="Avenir Next"/>
              </a:defRPr>
            </a:pPr>
          </a:p>
        </c:txPr>
        <c:crossAx val="48650112"/>
        <c:crossBetween val="between"/>
      </c:valAx>
      <c:spPr>
        <a:solidFill xmlns:a="http://schemas.openxmlformats.org/drawingml/2006/main">
          <a:srgbClr val="F8F7F3"/>
        </a:solidFill>
      </c:spPr>
    </c:plotArea>
    <c:plotVisOnly val="1"/>
  </c:chart>
  <c:spPr>
    <a:solidFill xmlns:a="http://schemas.openxmlformats.org/drawingml/2006/main">
      <a:srgbClr val="F8F7F3"/>
    </a:solidFill>
    <a:ln xmlns:a="http://schemas.openxmlformats.org/drawingml/2006/main" w="0">
      <a:solidFill>
        <a:srgbClr val="F8F7F3"/>
      </a:solid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42B4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4A5FEEF-4AE5-4DCB-9692-0DB2DAB2C001}"/>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F36B2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FCBD7F7-F513-40CA-994F-7F858F745CD3}"/>
              </a:ext>
            </a:extLst>
          </p:cNvPr>
          <p:cNvSpPr>
            <a:spLocks xmlns:a="http://schemas.openxmlformats.org/drawingml/2006/main" noGrp="1"/>
          </p:cNvSpPr>
          <p:nvPr/>
        </p:nvSpPr>
        <p:spPr>
          <a:xfrm xmlns:a="http://schemas.openxmlformats.org/drawingml/2006/main">
            <a:off x="742950" y="857250"/>
            <a:ext cx="552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06000"/>
              </a:lnSpc>
              <a:buNone/>
              <a:defRPr sz="1350" b="1">
                <a:solidFill>
                  <a:srgbClr val="F36B21"/>
                </a:solidFill>
                <a:latin typeface="Avenir Next"/>
                <a:ea typeface="Avenir Next"/>
                <a:cs typeface="Avenir Next"/>
              </a:defRPr>
            </a:pPr>
            <a:r>
              <a:rPr sz="1350" b="1">
                <a:solidFill>
                  <a:srgbClr val="F36B21"/>
                </a:solidFill>
                <a:latin typeface="Avenir Next"/>
                <a:ea typeface="Avenir Next"/>
                <a:cs typeface="Avenir Next"/>
              </a:rPr>
              <a:t>FOOD DELIVERY ORDER PROCESSING</a:t>
            </a:r>
          </a:p>
        </p:txBody>
      </p:sp>
      <p:sp>
        <p:nvSpPr>
          <p:cNvPr id="3" name="">
            <a:extLst xmlns:a="http://schemas.openxmlformats.org/drawingml/2006/main">
              <a:ext uri="{FF2B5EF4-FFF2-40B4-BE49-F238E27FC236}">
                <a16:creationId xmlns:a16="http://schemas.microsoft.com/office/drawing/2014/main" id="{387D9AFE-66FC-4298-B646-073D1EA8DD6D}"/>
              </a:ext>
            </a:extLst>
          </p:cNvPr>
          <p:cNvSpPr>
            <a:spLocks xmlns:a="http://schemas.openxmlformats.org/drawingml/2006/main" noGrp="1"/>
          </p:cNvSpPr>
          <p:nvPr/>
        </p:nvSpPr>
        <p:spPr>
          <a:xfrm xmlns:a="http://schemas.openxmlformats.org/drawingml/2006/main">
            <a:off x="723900" y="1381125"/>
            <a:ext cx="7524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93227"/>
          </a:bodyPr>
          <a:lstStyle xmlns:a="http://schemas.openxmlformats.org/drawingml/2006/main"/>
          <a:p xmlns:a="http://schemas.openxmlformats.org/drawingml/2006/main">
            <a:pPr algn="l">
              <a:lnSpc>
                <a:spcPct val="98000"/>
              </a:lnSpc>
              <a:buNone/>
              <a:defRPr sz="4500" b="1">
                <a:solidFill>
                  <a:srgbClr val="FFFFFF"/>
                </a:solidFill>
                <a:latin typeface="Avenir Next"/>
                <a:ea typeface="Avenir Next"/>
                <a:cs typeface="Avenir Next"/>
              </a:defRPr>
            </a:pPr>
            <a:r>
              <a:rPr sz="4500" b="1">
                <a:solidFill>
                  <a:srgbClr val="FFFFFF"/>
                </a:solidFill>
                <a:latin typeface="Avenir Next"/>
                <a:ea typeface="Avenir Next"/>
                <a:cs typeface="Avenir Next"/>
              </a:rPr>
              <a:t>Faster orders with RabbitMQ</a:t>
            </a:r>
          </a:p>
        </p:txBody>
      </p:sp>
      <p:sp>
        <p:nvSpPr>
          <p:cNvPr id="4" name="">
            <a:extLst xmlns:a="http://schemas.openxmlformats.org/drawingml/2006/main">
              <a:ext uri="{FF2B5EF4-FFF2-40B4-BE49-F238E27FC236}">
                <a16:creationId xmlns:a16="http://schemas.microsoft.com/office/drawing/2014/main" id="{DFDCAF73-0F27-42D3-9DAF-B70D79AC258A}"/>
              </a:ext>
            </a:extLst>
          </p:cNvPr>
          <p:cNvSpPr>
            <a:spLocks xmlns:a="http://schemas.openxmlformats.org/drawingml/2006/main" noGrp="1"/>
          </p:cNvSpPr>
          <p:nvPr/>
        </p:nvSpPr>
        <p:spPr>
          <a:xfrm xmlns:a="http://schemas.openxmlformats.org/drawingml/2006/main">
            <a:off x="762000" y="2857500"/>
            <a:ext cx="7048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12000"/>
              </a:lnSpc>
              <a:buNone/>
              <a:defRPr sz="2100" b="0">
                <a:solidFill>
                  <a:srgbClr val="DCE6F1"/>
                </a:solidFill>
                <a:latin typeface="Avenir Next"/>
                <a:ea typeface="Avenir Next"/>
                <a:cs typeface="Avenir Next"/>
              </a:defRPr>
            </a:pPr>
            <a:r>
              <a:rPr sz="2100" b="0">
                <a:solidFill>
                  <a:srgbClr val="DCE6F1"/>
                </a:solidFill>
                <a:latin typeface="Avenir Next"/>
                <a:ea typeface="Avenir Next"/>
                <a:cs typeface="Avenir Next"/>
              </a:rPr>
              <a:t>Moving slow payment, restaurant, and notification work out of the customer request</a:t>
            </a:r>
          </a:p>
        </p:txBody>
      </p:sp>
      <p:sp>
        <p:nvSpPr>
          <p:cNvPr id="5" name="">
            <a:extLst xmlns:a="http://schemas.openxmlformats.org/drawingml/2006/main">
              <a:ext uri="{FF2B5EF4-FFF2-40B4-BE49-F238E27FC236}">
                <a16:creationId xmlns:a16="http://schemas.microsoft.com/office/drawing/2014/main" id="{42BE03E6-F581-4A5D-84A3-36B3ED5E8B5D}"/>
              </a:ext>
            </a:extLst>
          </p:cNvPr>
          <p:cNvSpPr>
            <a:spLocks xmlns:a="http://schemas.openxmlformats.org/drawingml/2006/main" noGrp="1"/>
          </p:cNvSpPr>
          <p:nvPr/>
        </p:nvSpPr>
        <p:spPr>
          <a:xfrm xmlns:a="http://schemas.openxmlformats.org/drawingml/2006/main">
            <a:off x="8572500" y="1524000"/>
            <a:ext cx="2476500" cy="1047750"/>
          </a:xfrm>
          <a:prstGeom xmlns:a="http://schemas.openxmlformats.org/drawingml/2006/main" prst="roundRect">
            <a:avLst>
              <a:gd name="adj" fmla="val 10909"/>
            </a:avLst>
          </a:prstGeom>
          <a:solidFill xmlns:a="http://schemas.openxmlformats.org/drawingml/2006/main">
            <a:srgbClr val="FBE7E5"/>
          </a:solidFill>
          <a:ln xmlns:a="http://schemas.openxmlformats.org/drawingml/2006/main" w="14288">
            <a:solidFill>
              <a:srgbClr val="C9322B"/>
            </a:solidFill>
          </a:ln>
        </p:spPr>
        <p:txBody>
          <a:bodyPr xmlns:a="http://schemas.openxmlformats.org/drawingml/2006/main" wrap="square" lIns="95250" tIns="76200" rIns="95250" bIns="76200" anchor="ctr">
            <a:normAutofit fontScale="100000"/>
          </a:bodyPr>
          <a:lstStyle xmlns:a="http://schemas.openxmlformats.org/drawingml/2006/main"/>
          <a:p xmlns:a="http://schemas.openxmlformats.org/drawingml/2006/main">
            <a:pPr algn="ctr">
              <a:lnSpc>
                <a:spcPct val="100000"/>
              </a:lnSpc>
              <a:buNone/>
              <a:defRPr sz="1875" b="1">
                <a:solidFill>
                  <a:srgbClr val="C9322B"/>
                </a:solidFill>
                <a:latin typeface="Avenir Next"/>
                <a:ea typeface="Avenir Next"/>
                <a:cs typeface="Avenir Next"/>
              </a:defRPr>
            </a:pPr>
            <a:r>
              <a:rPr sz="1875" b="1">
                <a:solidFill>
                  <a:srgbClr val="C9322B"/>
                </a:solidFill>
                <a:latin typeface="Avenir Next"/>
                <a:ea typeface="Avenir Next"/>
                <a:cs typeface="Avenir Next"/>
              </a:rPr>
              <a:t>Problem</a:t>
            </a:r>
          </a:p>
          <a:p xmlns:a="http://schemas.openxmlformats.org/drawingml/2006/main">
            <a:pPr algn="ctr">
              <a:lnSpc>
                <a:spcPct val="100000"/>
              </a:lnSpc>
              <a:buNone/>
              <a:defRPr sz="1875" b="1">
                <a:solidFill>
                  <a:srgbClr val="C9322B"/>
                </a:solidFill>
                <a:latin typeface="Avenir Next"/>
                <a:ea typeface="Avenir Next"/>
                <a:cs typeface="Avenir Next"/>
              </a:defRPr>
            </a:pPr>
            <a:r>
              <a:rPr sz="1875" b="1">
                <a:solidFill>
                  <a:srgbClr val="C9322B"/>
                </a:solidFill>
                <a:latin typeface="Avenir Next"/>
                <a:ea typeface="Avenir Next"/>
                <a:cs typeface="Avenir Next"/>
              </a:rPr>
              <a:t>about 2 s wait</a:t>
            </a:r>
          </a:p>
        </p:txBody>
      </p:sp>
      <p:sp>
        <p:nvSpPr>
          <p:cNvPr id="6" name="">
            <a:extLst xmlns:a="http://schemas.openxmlformats.org/drawingml/2006/main">
              <a:ext uri="{FF2B5EF4-FFF2-40B4-BE49-F238E27FC236}">
                <a16:creationId xmlns:a16="http://schemas.microsoft.com/office/drawing/2014/main" id="{A44E03C6-CFFF-4430-860C-9CA07AA4FBFB}"/>
              </a:ext>
            </a:extLst>
          </p:cNvPr>
          <p:cNvSpPr>
            <a:spLocks xmlns:a="http://schemas.openxmlformats.org/drawingml/2006/main" noGrp="1"/>
          </p:cNvSpPr>
          <p:nvPr/>
        </p:nvSpPr>
        <p:spPr>
          <a:xfrm xmlns:a="http://schemas.openxmlformats.org/drawingml/2006/main">
            <a:off x="8572500" y="3238500"/>
            <a:ext cx="2476500" cy="1047750"/>
          </a:xfrm>
          <a:prstGeom xmlns:a="http://schemas.openxmlformats.org/drawingml/2006/main" prst="roundRect">
            <a:avLst>
              <a:gd name="adj" fmla="val 10909"/>
            </a:avLst>
          </a:prstGeom>
          <a:solidFill xmlns:a="http://schemas.openxmlformats.org/drawingml/2006/main">
            <a:srgbClr val="DFF1E3"/>
          </a:solidFill>
          <a:ln xmlns:a="http://schemas.openxmlformats.org/drawingml/2006/main" w="14288">
            <a:solidFill>
              <a:srgbClr val="2E7D4F"/>
            </a:solidFill>
          </a:ln>
        </p:spPr>
        <p:txBody>
          <a:bodyPr xmlns:a="http://schemas.openxmlformats.org/drawingml/2006/main" wrap="square" lIns="95250" tIns="76200" rIns="95250" bIns="76200" anchor="ctr">
            <a:normAutofit fontScale="96634"/>
          </a:bodyPr>
          <a:lstStyle xmlns:a="http://schemas.openxmlformats.org/drawingml/2006/main"/>
          <a:p xmlns:a="http://schemas.openxmlformats.org/drawingml/2006/main">
            <a:pPr algn="ctr">
              <a:lnSpc>
                <a:spcPct val="100000"/>
              </a:lnSpc>
              <a:buNone/>
              <a:defRPr sz="1875" b="1">
                <a:solidFill>
                  <a:srgbClr val="142B4A"/>
                </a:solidFill>
                <a:latin typeface="Avenir Next"/>
                <a:ea typeface="Avenir Next"/>
                <a:cs typeface="Avenir Next"/>
              </a:defRPr>
            </a:pPr>
            <a:r>
              <a:rPr sz="1875" b="1">
                <a:solidFill>
                  <a:srgbClr val="142B4A"/>
                </a:solidFill>
                <a:latin typeface="Avenir Next"/>
                <a:ea typeface="Avenir Next"/>
                <a:cs typeface="Avenir Next"/>
              </a:rPr>
              <a:t>Solution</a:t>
            </a:r>
          </a:p>
          <a:p xmlns:a="http://schemas.openxmlformats.org/drawingml/2006/main">
            <a:pPr algn="ctr">
              <a:lnSpc>
                <a:spcPct val="100000"/>
              </a:lnSpc>
              <a:buNone/>
              <a:defRPr sz="1875" b="1">
                <a:solidFill>
                  <a:srgbClr val="142B4A"/>
                </a:solidFill>
                <a:latin typeface="Avenir Next"/>
                <a:ea typeface="Avenir Next"/>
                <a:cs typeface="Avenir Next"/>
              </a:defRPr>
            </a:pPr>
            <a:r>
              <a:rPr sz="1875" b="1">
                <a:solidFill>
                  <a:srgbClr val="142B4A"/>
                </a:solidFill>
                <a:latin typeface="Avenir Next"/>
                <a:ea typeface="Avenir Next"/>
                <a:cs typeface="Avenir Next"/>
              </a:rPr>
              <a:t>RabbitMQ + workers</a:t>
            </a:r>
          </a:p>
        </p:txBody>
      </p:sp>
      <p:sp>
        <p:nvSpPr>
          <p:cNvPr id="7" name="">
            <a:extLst xmlns:a="http://schemas.openxmlformats.org/drawingml/2006/main">
              <a:ext uri="{FF2B5EF4-FFF2-40B4-BE49-F238E27FC236}">
                <a16:creationId xmlns:a16="http://schemas.microsoft.com/office/drawing/2014/main" id="{01FBBFE0-BEF7-4494-9196-475BEE3F553C}"/>
              </a:ext>
            </a:extLst>
          </p:cNvPr>
          <p:cNvSpPr>
            <a:spLocks xmlns:a="http://schemas.openxmlformats.org/drawingml/2006/main" noGrp="1"/>
          </p:cNvSpPr>
          <p:nvPr/>
        </p:nvSpPr>
        <p:spPr>
          <a:xfrm xmlns:a="http://schemas.openxmlformats.org/drawingml/2006/main">
            <a:off x="762000" y="51435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06000"/>
              </a:lnSpc>
              <a:buNone/>
              <a:defRPr sz="1575" b="1">
                <a:solidFill>
                  <a:srgbClr val="FFFFFF"/>
                </a:solidFill>
                <a:latin typeface="Avenir Next"/>
                <a:ea typeface="Avenir Next"/>
                <a:cs typeface="Avenir Next"/>
              </a:defRPr>
            </a:pPr>
            <a:r>
              <a:rPr sz="1575" b="1">
                <a:solidFill>
                  <a:srgbClr val="FFFFFF"/>
                </a:solidFill>
                <a:latin typeface="Avenir Next"/>
                <a:ea typeface="Avenir Next"/>
                <a:cs typeface="Avenir Next"/>
              </a:rPr>
              <a:t>11-slide presentation for three presenters</a:t>
            </a:r>
          </a:p>
        </p:txBody>
      </p:sp>
      <p:sp>
        <p:nvSpPr>
          <p:cNvPr id="8" name="">
            <a:extLst xmlns:a="http://schemas.openxmlformats.org/drawingml/2006/main">
              <a:ext uri="{FF2B5EF4-FFF2-40B4-BE49-F238E27FC236}">
                <a16:creationId xmlns:a16="http://schemas.microsoft.com/office/drawing/2014/main" id="{C7FDD435-339D-40AC-887E-415B71769249}"/>
              </a:ext>
            </a:extLst>
          </p:cNvPr>
          <p:cNvSpPr>
            <a:spLocks xmlns:a="http://schemas.openxmlformats.org/drawingml/2006/main" noGrp="1"/>
          </p:cNvSpPr>
          <p:nvPr/>
        </p:nvSpPr>
        <p:spPr>
          <a:xfrm xmlns:a="http://schemas.openxmlformats.org/drawingml/2006/main">
            <a:off x="762000" y="5572125"/>
            <a:ext cx="5810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06000"/>
              </a:lnSpc>
              <a:buNone/>
              <a:defRPr sz="1350" b="0">
                <a:solidFill>
                  <a:srgbClr val="B9C9DA"/>
                </a:solidFill>
                <a:latin typeface="Avenir Next"/>
                <a:ea typeface="Avenir Next"/>
                <a:cs typeface="Avenir Next"/>
              </a:defRPr>
            </a:pPr>
            <a:r>
              <a:rPr sz="1350" b="0">
                <a:solidFill>
                  <a:srgbClr val="B9C9DA"/>
                </a:solidFill>
                <a:latin typeface="Avenir Next"/>
                <a:ea typeface="Avenir Next"/>
                <a:cs typeface="Avenir Next"/>
              </a:rPr>
              <a:t>P1 slides 1–3   P2 slides 4–7   P3 slides 8–11</a:t>
            </a:r>
          </a:p>
        </p:txBody>
      </p:sp>
      <p:sp>
        <p:nvSpPr>
          <p:cNvPr id="9" name="">
            <a:extLst xmlns:a="http://schemas.openxmlformats.org/drawingml/2006/main">
              <a:ext uri="{FF2B5EF4-FFF2-40B4-BE49-F238E27FC236}">
                <a16:creationId xmlns:a16="http://schemas.microsoft.com/office/drawing/2014/main" id="{E96262A1-E63C-40D5-92A2-FD4EDDF680D5}"/>
              </a:ext>
            </a:extLst>
          </p:cNvPr>
          <p:cNvSpPr>
            <a:spLocks xmlns:a="http://schemas.openxmlformats.org/drawingml/2006/main" noGrp="1"/>
          </p:cNvSpPr>
          <p:nvPr/>
        </p:nvSpPr>
        <p:spPr>
          <a:xfrm xmlns:a="http://schemas.openxmlformats.org/drawingml/2006/main">
            <a:off x="10382250" y="6619875"/>
            <a:ext cx="7239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91719"/>
          </a:bodyPr>
          <a:lstStyle xmlns:a="http://schemas.openxmlformats.org/drawingml/2006/main"/>
          <a:p xmlns:a="http://schemas.openxmlformats.org/drawingml/2006/main">
            <a:pPr algn="r">
              <a:lnSpc>
                <a:spcPct val="106000"/>
              </a:lnSpc>
              <a:buNone/>
              <a:defRPr sz="900" b="1">
                <a:solidFill>
                  <a:srgbClr val="FFFFFF"/>
                </a:solidFill>
                <a:latin typeface="Avenir Next"/>
                <a:ea typeface="Avenir Next"/>
                <a:cs typeface="Avenir Next"/>
              </a:defRPr>
            </a:pPr>
            <a:r>
              <a:rPr sz="900" b="1">
                <a:solidFill>
                  <a:srgbClr val="FFFFFF"/>
                </a:solidFill>
                <a:latin typeface="Avenir Next"/>
                <a:ea typeface="Avenir Next"/>
                <a:cs typeface="Avenir Next"/>
              </a:rPr>
              <a:t>P1</a:t>
            </a:r>
          </a:p>
        </p:txBody>
      </p:sp>
      <p:sp>
        <p:nvSpPr>
          <p:cNvPr id="10" name="">
            <a:extLst xmlns:a="http://schemas.openxmlformats.org/drawingml/2006/main">
              <a:ext uri="{FF2B5EF4-FFF2-40B4-BE49-F238E27FC236}">
                <a16:creationId xmlns:a16="http://schemas.microsoft.com/office/drawing/2014/main" id="{1F3245E9-9EC8-4664-A25A-A6D847C49440}"/>
              </a:ext>
            </a:extLst>
          </p:cNvPr>
          <p:cNvSpPr>
            <a:spLocks xmlns:a="http://schemas.openxmlformats.org/drawingml/2006/main" noGrp="1"/>
          </p:cNvSpPr>
          <p:nvPr/>
        </p:nvSpPr>
        <p:spPr>
          <a:xfrm xmlns:a="http://schemas.openxmlformats.org/drawingml/2006/main">
            <a:off x="11191875" y="6619875"/>
            <a:ext cx="4286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91719"/>
          </a:bodyPr>
          <a:lstStyle xmlns:a="http://schemas.openxmlformats.org/drawingml/2006/main"/>
          <a:p xmlns:a="http://schemas.openxmlformats.org/drawingml/2006/main">
            <a:pPr algn="r">
              <a:lnSpc>
                <a:spcPct val="106000"/>
              </a:lnSpc>
              <a:buNone/>
              <a:defRPr sz="900" b="0">
                <a:solidFill>
                  <a:srgbClr val="FFFFFF"/>
                </a:solidFill>
                <a:latin typeface="Avenir Next"/>
                <a:ea typeface="Avenir Next"/>
                <a:cs typeface="Avenir Next"/>
              </a:defRPr>
            </a:pPr>
            <a:r>
              <a:rPr sz="900" b="0">
                <a:solidFill>
                  <a:srgbClr val="FFFFFF"/>
                </a:solidFill>
                <a:latin typeface="Avenir Next"/>
                <a:ea typeface="Avenir Next"/>
                <a:cs typeface="Avenir Next"/>
              </a:rPr>
              <a:t>01</a:t>
            </a:r>
          </a:p>
        </p:txBody>
      </p:sp>
    </p:spTree>
    <p:extLst>
      <p:ext uri="{BB962C8B-B14F-4D97-AF65-F5344CB8AC3E}">
        <p14:creationId xmlns:p14="http://schemas.microsoft.com/office/powerpoint/2010/main" val="106133357"/>
      </p:ext>
    </p:extLst>
  </p:cSld>
</p:sld>
</file>

<file path=ppt/slides/slide2.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0D1A5920-A426-4FCF-8B28-DFDAA9A9E580}"/>
              </a:ext>
            </a:extLst>
          </p:cNvPr>
          <p:cNvSpPr>
            <a:spLocks xmlns:a="http://schemas.openxmlformats.org/drawingml/2006/main" noGrp="1"/>
          </p:cNvSpPr>
          <p:nvPr/>
        </p:nvSpPr>
        <p:spPr>
          <a:xfrm xmlns:a="http://schemas.openxmlformats.org/drawingml/2006/main">
            <a:off x="552450" y="342900"/>
            <a:ext cx="10287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95071"/>
          </a:bodyPr>
          <a:lstStyle xmlns:a="http://schemas.openxmlformats.org/drawingml/2006/main"/>
          <a:p xmlns:a="http://schemas.openxmlformats.org/drawingml/2006/main">
            <a:pPr algn="l">
              <a:lnSpc>
                <a:spcPct val="106000"/>
              </a:lnSpc>
              <a:buNone/>
              <a:defRPr sz="3225" b="1">
                <a:solidFill>
                  <a:srgbClr val="18202C"/>
                </a:solidFill>
                <a:latin typeface="Avenir Next"/>
                <a:ea typeface="Avenir Next"/>
                <a:cs typeface="Avenir Next"/>
              </a:defRPr>
            </a:pPr>
            <a:r>
              <a:rPr sz="3225" b="1">
                <a:solidFill>
                  <a:srgbClr val="18202C"/>
                </a:solidFill>
                <a:latin typeface="Avenir Next"/>
                <a:ea typeface="Avenir Next"/>
                <a:cs typeface="Avenir Next"/>
              </a:rPr>
              <a:t>The customer waits for every task</a:t>
            </a:r>
          </a:p>
        </p:txBody>
      </p:sp>
      <p:sp>
        <p:nvSpPr>
          <p:cNvPr id="2" name="">
            <a:extLst xmlns:a="http://schemas.openxmlformats.org/drawingml/2006/main">
              <a:ext uri="{FF2B5EF4-FFF2-40B4-BE49-F238E27FC236}">
                <a16:creationId xmlns:a16="http://schemas.microsoft.com/office/drawing/2014/main" id="{C3C13A45-AF5D-4E5F-8232-113F3B1E40CF}"/>
              </a:ext>
            </a:extLst>
          </p:cNvPr>
          <p:cNvSpPr>
            <a:spLocks xmlns:a="http://schemas.openxmlformats.org/drawingml/2006/main" noGrp="1"/>
          </p:cNvSpPr>
          <p:nvPr/>
        </p:nvSpPr>
        <p:spPr>
          <a:xfrm xmlns:a="http://schemas.openxmlformats.org/drawingml/2006/main">
            <a:off x="571500" y="914400"/>
            <a:ext cx="1028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06000"/>
              </a:lnSpc>
              <a:buNone/>
              <a:defRPr sz="1500" b="0">
                <a:solidFill>
                  <a:srgbClr val="627083"/>
                </a:solidFill>
                <a:latin typeface="Avenir Next"/>
                <a:ea typeface="Avenir Next"/>
                <a:cs typeface="Avenir Next"/>
              </a:defRPr>
            </a:pPr>
            <a:r>
              <a:rPr sz="1500" b="0">
                <a:solidFill>
                  <a:srgbClr val="627083"/>
                </a:solidFill>
                <a:latin typeface="Avenir Next"/>
                <a:ea typeface="Avenir Next"/>
                <a:cs typeface="Avenir Next"/>
              </a:rPr>
              <a:t>One dinner order passes through four slow steps before the API responds</a:t>
            </a:r>
          </a:p>
        </p:txBody>
      </p:sp>
      <p:sp>
        <p:nvSpPr>
          <p:cNvPr id="3" name="">
            <a:extLst xmlns:a="http://schemas.openxmlformats.org/drawingml/2006/main">
              <a:ext uri="{FF2B5EF4-FFF2-40B4-BE49-F238E27FC236}">
                <a16:creationId xmlns:a16="http://schemas.microsoft.com/office/drawing/2014/main" id="{AC2987D3-2CC2-441E-809F-26C9B0ED685E}"/>
              </a:ext>
            </a:extLst>
          </p:cNvPr>
          <p:cNvSpPr>
            <a:spLocks xmlns:a="http://schemas.openxmlformats.org/drawingml/2006/main" noGrp="1"/>
          </p:cNvSpPr>
          <p:nvPr/>
        </p:nvSpPr>
        <p:spPr>
          <a:xfrm xmlns:a="http://schemas.openxmlformats.org/drawingml/2006/main">
            <a:off x="533400" y="1295400"/>
            <a:ext cx="11125200" cy="47625"/>
          </a:xfrm>
          <a:prstGeom xmlns:a="http://schemas.openxmlformats.org/drawingml/2006/main" prst="rect">
            <a:avLst/>
          </a:prstGeom>
          <a:solidFill xmlns:a="http://schemas.openxmlformats.org/drawingml/2006/main">
            <a:srgbClr val="F36B21"/>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9A087BF-7A75-436A-A596-B8A6D18A5EA6}"/>
              </a:ext>
            </a:extLst>
          </p:cNvPr>
          <p:cNvSpPr>
            <a:spLocks xmlns:a="http://schemas.openxmlformats.org/drawingml/2006/main" noGrp="1"/>
          </p:cNvSpPr>
          <p:nvPr/>
        </p:nvSpPr>
        <p:spPr>
          <a:xfrm xmlns:a="http://schemas.openxmlformats.org/drawingml/2006/main">
            <a:off x="10382250" y="6619875"/>
            <a:ext cx="7239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91719"/>
          </a:bodyPr>
          <a:lstStyle xmlns:a="http://schemas.openxmlformats.org/drawingml/2006/main"/>
          <a:p xmlns:a="http://schemas.openxmlformats.org/drawingml/2006/main">
            <a:pPr algn="r">
              <a:lnSpc>
                <a:spcPct val="106000"/>
              </a:lnSpc>
              <a:buNone/>
              <a:defRPr sz="900" b="1">
                <a:solidFill>
                  <a:srgbClr val="627083"/>
                </a:solidFill>
                <a:latin typeface="Avenir Next"/>
                <a:ea typeface="Avenir Next"/>
                <a:cs typeface="Avenir Next"/>
              </a:defRPr>
            </a:pPr>
            <a:r>
              <a:rPr sz="900" b="1">
                <a:solidFill>
                  <a:srgbClr val="627083"/>
                </a:solidFill>
                <a:latin typeface="Avenir Next"/>
                <a:ea typeface="Avenir Next"/>
                <a:cs typeface="Avenir Next"/>
              </a:rPr>
              <a:t>P1</a:t>
            </a:r>
          </a:p>
        </p:txBody>
      </p:sp>
      <p:sp>
        <p:nvSpPr>
          <p:cNvPr id="5" name="">
            <a:extLst xmlns:a="http://schemas.openxmlformats.org/drawingml/2006/main">
              <a:ext uri="{FF2B5EF4-FFF2-40B4-BE49-F238E27FC236}">
                <a16:creationId xmlns:a16="http://schemas.microsoft.com/office/drawing/2014/main" id="{F365C632-4D3E-4E96-9E9D-F44C71485FA4}"/>
              </a:ext>
            </a:extLst>
          </p:cNvPr>
          <p:cNvSpPr>
            <a:spLocks xmlns:a="http://schemas.openxmlformats.org/drawingml/2006/main" noGrp="1"/>
          </p:cNvSpPr>
          <p:nvPr/>
        </p:nvSpPr>
        <p:spPr>
          <a:xfrm xmlns:a="http://schemas.openxmlformats.org/drawingml/2006/main">
            <a:off x="11191875" y="6619875"/>
            <a:ext cx="4286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91719"/>
          </a:bodyPr>
          <a:lstStyle xmlns:a="http://schemas.openxmlformats.org/drawingml/2006/main"/>
          <a:p xmlns:a="http://schemas.openxmlformats.org/drawingml/2006/main">
            <a:pPr algn="r">
              <a:lnSpc>
                <a:spcPct val="106000"/>
              </a:lnSpc>
              <a:buNone/>
              <a:defRPr sz="900" b="0">
                <a:solidFill>
                  <a:srgbClr val="627083"/>
                </a:solidFill>
                <a:latin typeface="Avenir Next"/>
                <a:ea typeface="Avenir Next"/>
                <a:cs typeface="Avenir Next"/>
              </a:defRPr>
            </a:pPr>
            <a:r>
              <a:rPr sz="900" b="0">
                <a:solidFill>
                  <a:srgbClr val="627083"/>
                </a:solidFill>
                <a:latin typeface="Avenir Next"/>
                <a:ea typeface="Avenir Next"/>
                <a:cs typeface="Avenir Next"/>
              </a:rPr>
              <a:t>02</a:t>
            </a:r>
          </a:p>
        </p:txBody>
      </p:sp>
      <p:sp>
        <p:nvSpPr>
          <p:cNvPr id="6" name="">
            <a:extLst xmlns:a="http://schemas.openxmlformats.org/drawingml/2006/main">
              <a:ext uri="{FF2B5EF4-FFF2-40B4-BE49-F238E27FC236}">
                <a16:creationId xmlns:a16="http://schemas.microsoft.com/office/drawing/2014/main" id="{F5AD8E13-3D6C-4942-BB1C-235DB0B6CBD7}"/>
              </a:ext>
            </a:extLst>
          </p:cNvPr>
          <p:cNvSpPr>
            <a:spLocks xmlns:a="http://schemas.openxmlformats.org/drawingml/2006/main" noGrp="1"/>
          </p:cNvSpPr>
          <p:nvPr/>
        </p:nvSpPr>
        <p:spPr>
          <a:xfrm xmlns:a="http://schemas.openxmlformats.org/drawingml/2006/main">
            <a:off x="619125" y="1666875"/>
            <a:ext cx="5429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06000"/>
              </a:lnSpc>
              <a:buNone/>
              <a:defRPr sz="2100" b="1">
                <a:solidFill>
                  <a:srgbClr val="142B4A"/>
                </a:solidFill>
                <a:latin typeface="Avenir Next"/>
                <a:ea typeface="Avenir Next"/>
                <a:cs typeface="Avenir Next"/>
              </a:defRPr>
            </a:pPr>
            <a:r>
              <a:rPr sz="2100" b="1">
                <a:solidFill>
                  <a:srgbClr val="142B4A"/>
                </a:solidFill>
                <a:latin typeface="Avenir Next"/>
                <a:ea typeface="Avenir Next"/>
                <a:cs typeface="Avenir Next"/>
              </a:rPr>
              <a:t>Aung orders noodles and iced tea</a:t>
            </a:r>
          </a:p>
        </p:txBody>
      </p:sp>
      <p:sp>
        <p:nvSpPr>
          <p:cNvPr id="7" name="">
            <a:extLst xmlns:a="http://schemas.openxmlformats.org/drawingml/2006/main">
              <a:ext uri="{FF2B5EF4-FFF2-40B4-BE49-F238E27FC236}">
                <a16:creationId xmlns:a16="http://schemas.microsoft.com/office/drawing/2014/main" id="{926D03C5-83EB-443E-9276-2DE4DD76716D}"/>
              </a:ext>
            </a:extLst>
          </p:cNvPr>
          <p:cNvSpPr>
            <a:spLocks xmlns:a="http://schemas.openxmlformats.org/drawingml/2006/main" noGrp="1"/>
          </p:cNvSpPr>
          <p:nvPr/>
        </p:nvSpPr>
        <p:spPr>
          <a:xfrm xmlns:a="http://schemas.openxmlformats.org/drawingml/2006/main">
            <a:off x="638175" y="2114550"/>
            <a:ext cx="619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06000"/>
              </a:lnSpc>
              <a:buNone/>
              <a:defRPr sz="1575" b="0">
                <a:solidFill>
                  <a:srgbClr val="627083"/>
                </a:solidFill>
                <a:latin typeface="Avenir Next"/>
                <a:ea typeface="Avenir Next"/>
                <a:cs typeface="Avenir Next"/>
              </a:defRPr>
            </a:pPr>
            <a:r>
              <a:rPr sz="1575" b="0">
                <a:solidFill>
                  <a:srgbClr val="627083"/>
                </a:solidFill>
                <a:latin typeface="Avenir Next"/>
                <a:ea typeface="Avenir Next"/>
                <a:cs typeface="Avenir Next"/>
              </a:rPr>
              <a:t>The synchronous API completes each task in sequence.</a:t>
            </a:r>
          </a:p>
        </p:txBody>
      </p:sp>
      <p:sp>
        <p:nvSpPr>
          <p:cNvPr id="8" name="">
            <a:extLst xmlns:a="http://schemas.openxmlformats.org/drawingml/2006/main">
              <a:ext uri="{FF2B5EF4-FFF2-40B4-BE49-F238E27FC236}">
                <a16:creationId xmlns:a16="http://schemas.microsoft.com/office/drawing/2014/main" id="{AEA44AC5-3153-426A-83A7-69BFB60D5F6A}"/>
              </a:ext>
            </a:extLst>
          </p:cNvPr>
          <p:cNvSpPr>
            <a:spLocks xmlns:a="http://schemas.openxmlformats.org/drawingml/2006/main" noGrp="1"/>
          </p:cNvSpPr>
          <p:nvPr/>
        </p:nvSpPr>
        <p:spPr>
          <a:xfrm xmlns:a="http://schemas.openxmlformats.org/drawingml/2006/main">
            <a:off x="619125" y="3048000"/>
            <a:ext cx="1714500" cy="876300"/>
          </a:xfrm>
          <a:prstGeom xmlns:a="http://schemas.openxmlformats.org/drawingml/2006/main" prst="roundRect">
            <a:avLst>
              <a:gd name="adj" fmla="val 13043"/>
            </a:avLst>
          </a:prstGeom>
          <a:solidFill xmlns:a="http://schemas.openxmlformats.org/drawingml/2006/main">
            <a:srgbClr val="DDEBFA"/>
          </a:solidFill>
          <a:ln xmlns:a="http://schemas.openxmlformats.org/drawingml/2006/main" w="14288">
            <a:solidFill>
              <a:srgbClr val="C7D0DA"/>
            </a:solidFill>
          </a:ln>
        </p:spPr>
        <p:txBody>
          <a:bodyPr xmlns:a="http://schemas.openxmlformats.org/drawingml/2006/main" wrap="square" lIns="95250" tIns="76200" rIns="95250" bIns="76200" anchor="ctr">
            <a:normAutofit fontScale="100000"/>
          </a:bodyPr>
          <a:lstStyle xmlns:a="http://schemas.openxmlformats.org/drawingml/2006/main"/>
          <a:p xmlns:a="http://schemas.openxmlformats.org/drawingml/2006/main">
            <a:pPr algn="ctr">
              <a:lnSpc>
                <a:spcPct val="100000"/>
              </a:lnSpc>
              <a:buNone/>
              <a:defRPr sz="1650" b="1">
                <a:solidFill>
                  <a:srgbClr val="142B4A"/>
                </a:solidFill>
                <a:latin typeface="Avenir Next"/>
                <a:ea typeface="Avenir Next"/>
                <a:cs typeface="Avenir Next"/>
              </a:defRPr>
            </a:pPr>
            <a:r>
              <a:rPr sz="1650" b="1">
                <a:solidFill>
                  <a:srgbClr val="142B4A"/>
                </a:solidFill>
                <a:latin typeface="Avenir Next"/>
                <a:ea typeface="Avenir Next"/>
                <a:cs typeface="Avenir Next"/>
              </a:rPr>
              <a:t>Payment</a:t>
            </a:r>
          </a:p>
          <a:p xmlns:a="http://schemas.openxmlformats.org/drawingml/2006/main">
            <a:pPr algn="ctr">
              <a:lnSpc>
                <a:spcPct val="100000"/>
              </a:lnSpc>
              <a:buNone/>
              <a:defRPr sz="1650" b="1">
                <a:solidFill>
                  <a:srgbClr val="142B4A"/>
                </a:solidFill>
                <a:latin typeface="Avenir Next"/>
                <a:ea typeface="Avenir Next"/>
                <a:cs typeface="Avenir Next"/>
              </a:defRPr>
            </a:pPr>
            <a:r>
              <a:rPr sz="1650" b="1">
                <a:solidFill>
                  <a:srgbClr val="142B4A"/>
                </a:solidFill>
                <a:latin typeface="Avenir Next"/>
                <a:ea typeface="Avenir Next"/>
                <a:cs typeface="Avenir Next"/>
              </a:rPr>
              <a:t>0.8 s</a:t>
            </a:r>
          </a:p>
        </p:txBody>
      </p:sp>
      <p:sp>
        <p:nvSpPr>
          <p:cNvPr id="9" name="">
            <a:extLst xmlns:a="http://schemas.openxmlformats.org/drawingml/2006/main">
              <a:ext uri="{FF2B5EF4-FFF2-40B4-BE49-F238E27FC236}">
                <a16:creationId xmlns:a16="http://schemas.microsoft.com/office/drawing/2014/main" id="{125A9FDD-ED4C-4AEB-BBC3-FD70FF432CDA}"/>
              </a:ext>
            </a:extLst>
          </p:cNvPr>
          <p:cNvSpPr>
            <a:spLocks xmlns:a="http://schemas.openxmlformats.org/drawingml/2006/main" noGrp="1"/>
          </p:cNvSpPr>
          <p:nvPr/>
        </p:nvSpPr>
        <p:spPr>
          <a:xfrm xmlns:a="http://schemas.openxmlformats.org/drawingml/2006/main">
            <a:off x="2762250" y="3048000"/>
            <a:ext cx="1714500" cy="876300"/>
          </a:xfrm>
          <a:prstGeom xmlns:a="http://schemas.openxmlformats.org/drawingml/2006/main" prst="roundRect">
            <a:avLst>
              <a:gd name="adj" fmla="val 13043"/>
            </a:avLst>
          </a:prstGeom>
          <a:solidFill xmlns:a="http://schemas.openxmlformats.org/drawingml/2006/main">
            <a:srgbClr val="EDE4F7"/>
          </a:solidFill>
          <a:ln xmlns:a="http://schemas.openxmlformats.org/drawingml/2006/main" w="14288">
            <a:solidFill>
              <a:srgbClr val="C7D0DA"/>
            </a:solidFill>
          </a:ln>
        </p:spPr>
        <p:txBody>
          <a:bodyPr xmlns:a="http://schemas.openxmlformats.org/drawingml/2006/main" wrap="square" lIns="95250" tIns="76200" rIns="95250" bIns="76200" anchor="ctr">
            <a:normAutofit fontScale="100000"/>
          </a:bodyPr>
          <a:lstStyle xmlns:a="http://schemas.openxmlformats.org/drawingml/2006/main"/>
          <a:p xmlns:a="http://schemas.openxmlformats.org/drawingml/2006/main">
            <a:pPr algn="ctr">
              <a:lnSpc>
                <a:spcPct val="100000"/>
              </a:lnSpc>
              <a:buNone/>
              <a:defRPr sz="1650" b="1">
                <a:solidFill>
                  <a:srgbClr val="142B4A"/>
                </a:solidFill>
                <a:latin typeface="Avenir Next"/>
                <a:ea typeface="Avenir Next"/>
                <a:cs typeface="Avenir Next"/>
              </a:defRPr>
            </a:pPr>
            <a:r>
              <a:rPr sz="1650" b="1">
                <a:solidFill>
                  <a:srgbClr val="142B4A"/>
                </a:solidFill>
                <a:latin typeface="Avenir Next"/>
                <a:ea typeface="Avenir Next"/>
                <a:cs typeface="Avenir Next"/>
              </a:rPr>
              <a:t>Restaurant</a:t>
            </a:r>
          </a:p>
          <a:p xmlns:a="http://schemas.openxmlformats.org/drawingml/2006/main">
            <a:pPr algn="ctr">
              <a:lnSpc>
                <a:spcPct val="100000"/>
              </a:lnSpc>
              <a:buNone/>
              <a:defRPr sz="1650" b="1">
                <a:solidFill>
                  <a:srgbClr val="142B4A"/>
                </a:solidFill>
                <a:latin typeface="Avenir Next"/>
                <a:ea typeface="Avenir Next"/>
                <a:cs typeface="Avenir Next"/>
              </a:defRPr>
            </a:pPr>
            <a:r>
              <a:rPr sz="1650" b="1">
                <a:solidFill>
                  <a:srgbClr val="142B4A"/>
                </a:solidFill>
                <a:latin typeface="Avenir Next"/>
                <a:ea typeface="Avenir Next"/>
                <a:cs typeface="Avenir Next"/>
              </a:rPr>
              <a:t>0.5 s</a:t>
            </a:r>
          </a:p>
        </p:txBody>
      </p:sp>
      <p:sp>
        <p:nvSpPr>
          <p:cNvPr id="10" name="">
            <a:extLst xmlns:a="http://schemas.openxmlformats.org/drawingml/2006/main">
              <a:ext uri="{FF2B5EF4-FFF2-40B4-BE49-F238E27FC236}">
                <a16:creationId xmlns:a16="http://schemas.microsoft.com/office/drawing/2014/main" id="{D318213D-73A6-4936-9D23-835FFEC7A5D6}"/>
              </a:ext>
            </a:extLst>
          </p:cNvPr>
          <p:cNvSpPr>
            <a:spLocks xmlns:a="http://schemas.openxmlformats.org/drawingml/2006/main" noGrp="1"/>
          </p:cNvSpPr>
          <p:nvPr/>
        </p:nvSpPr>
        <p:spPr>
          <a:xfrm xmlns:a="http://schemas.openxmlformats.org/drawingml/2006/main">
            <a:off x="4905375" y="3048000"/>
            <a:ext cx="1714500" cy="876300"/>
          </a:xfrm>
          <a:prstGeom xmlns:a="http://schemas.openxmlformats.org/drawingml/2006/main" prst="roundRect">
            <a:avLst>
              <a:gd name="adj" fmla="val 13043"/>
            </a:avLst>
          </a:prstGeom>
          <a:solidFill xmlns:a="http://schemas.openxmlformats.org/drawingml/2006/main">
            <a:srgbClr val="F6E7B0"/>
          </a:solidFill>
          <a:ln xmlns:a="http://schemas.openxmlformats.org/drawingml/2006/main" w="14288">
            <a:solidFill>
              <a:srgbClr val="C7D0DA"/>
            </a:solidFill>
          </a:ln>
        </p:spPr>
        <p:txBody>
          <a:bodyPr xmlns:a="http://schemas.openxmlformats.org/drawingml/2006/main" wrap="square" lIns="95250" tIns="76200" rIns="95250" bIns="76200" anchor="ctr">
            <a:normAutofit fontScale="100000"/>
          </a:bodyPr>
          <a:lstStyle xmlns:a="http://schemas.openxmlformats.org/drawingml/2006/main"/>
          <a:p xmlns:a="http://schemas.openxmlformats.org/drawingml/2006/main">
            <a:pPr algn="ctr">
              <a:lnSpc>
                <a:spcPct val="100000"/>
              </a:lnSpc>
              <a:buNone/>
              <a:defRPr sz="1650" b="1">
                <a:solidFill>
                  <a:srgbClr val="142B4A"/>
                </a:solidFill>
                <a:latin typeface="Avenir Next"/>
                <a:ea typeface="Avenir Next"/>
                <a:cs typeface="Avenir Next"/>
              </a:defRPr>
            </a:pPr>
            <a:r>
              <a:rPr sz="1650" b="1">
                <a:solidFill>
                  <a:srgbClr val="142B4A"/>
                </a:solidFill>
                <a:latin typeface="Avenir Next"/>
                <a:ea typeface="Avenir Next"/>
                <a:cs typeface="Avenir Next"/>
              </a:rPr>
              <a:t>Inventory</a:t>
            </a:r>
          </a:p>
          <a:p xmlns:a="http://schemas.openxmlformats.org/drawingml/2006/main">
            <a:pPr algn="ctr">
              <a:lnSpc>
                <a:spcPct val="100000"/>
              </a:lnSpc>
              <a:buNone/>
              <a:defRPr sz="1650" b="1">
                <a:solidFill>
                  <a:srgbClr val="142B4A"/>
                </a:solidFill>
                <a:latin typeface="Avenir Next"/>
                <a:ea typeface="Avenir Next"/>
                <a:cs typeface="Avenir Next"/>
              </a:defRPr>
            </a:pPr>
            <a:r>
              <a:rPr sz="1650" b="1">
                <a:solidFill>
                  <a:srgbClr val="142B4A"/>
                </a:solidFill>
                <a:latin typeface="Avenir Next"/>
                <a:ea typeface="Avenir Next"/>
                <a:cs typeface="Avenir Next"/>
              </a:rPr>
              <a:t>0.3 s</a:t>
            </a:r>
          </a:p>
        </p:txBody>
      </p:sp>
      <p:sp>
        <p:nvSpPr>
          <p:cNvPr id="11" name="">
            <a:extLst xmlns:a="http://schemas.openxmlformats.org/drawingml/2006/main">
              <a:ext uri="{FF2B5EF4-FFF2-40B4-BE49-F238E27FC236}">
                <a16:creationId xmlns:a16="http://schemas.microsoft.com/office/drawing/2014/main" id="{17F35721-0D3C-4BC2-BC6F-40218C02561D}"/>
              </a:ext>
            </a:extLst>
          </p:cNvPr>
          <p:cNvSpPr>
            <a:spLocks xmlns:a="http://schemas.openxmlformats.org/drawingml/2006/main" noGrp="1"/>
          </p:cNvSpPr>
          <p:nvPr/>
        </p:nvSpPr>
        <p:spPr>
          <a:xfrm xmlns:a="http://schemas.openxmlformats.org/drawingml/2006/main">
            <a:off x="7048500" y="3048000"/>
            <a:ext cx="1714500" cy="876300"/>
          </a:xfrm>
          <a:prstGeom xmlns:a="http://schemas.openxmlformats.org/drawingml/2006/main" prst="roundRect">
            <a:avLst>
              <a:gd name="adj" fmla="val 13043"/>
            </a:avLst>
          </a:prstGeom>
          <a:solidFill xmlns:a="http://schemas.openxmlformats.org/drawingml/2006/main">
            <a:srgbClr val="DFF1E3"/>
          </a:solidFill>
          <a:ln xmlns:a="http://schemas.openxmlformats.org/drawingml/2006/main" w="14288">
            <a:solidFill>
              <a:srgbClr val="C7D0DA"/>
            </a:solidFill>
          </a:ln>
        </p:spPr>
        <p:txBody>
          <a:bodyPr xmlns:a="http://schemas.openxmlformats.org/drawingml/2006/main" wrap="square" lIns="95250" tIns="76200" rIns="95250" bIns="76200" anchor="ctr">
            <a:normAutofit fontScale="100000"/>
          </a:bodyPr>
          <a:lstStyle xmlns:a="http://schemas.openxmlformats.org/drawingml/2006/main"/>
          <a:p xmlns:a="http://schemas.openxmlformats.org/drawingml/2006/main">
            <a:pPr algn="ctr">
              <a:lnSpc>
                <a:spcPct val="100000"/>
              </a:lnSpc>
              <a:buNone/>
              <a:defRPr sz="1650" b="1">
                <a:solidFill>
                  <a:srgbClr val="142B4A"/>
                </a:solidFill>
                <a:latin typeface="Avenir Next"/>
                <a:ea typeface="Avenir Next"/>
                <a:cs typeface="Avenir Next"/>
              </a:defRPr>
            </a:pPr>
            <a:r>
              <a:rPr sz="1650" b="1">
                <a:solidFill>
                  <a:srgbClr val="142B4A"/>
                </a:solidFill>
                <a:latin typeface="Avenir Next"/>
                <a:ea typeface="Avenir Next"/>
                <a:cs typeface="Avenir Next"/>
              </a:rPr>
              <a:t>Notify</a:t>
            </a:r>
          </a:p>
          <a:p xmlns:a="http://schemas.openxmlformats.org/drawingml/2006/main">
            <a:pPr algn="ctr">
              <a:lnSpc>
                <a:spcPct val="100000"/>
              </a:lnSpc>
              <a:buNone/>
              <a:defRPr sz="1650" b="1">
                <a:solidFill>
                  <a:srgbClr val="142B4A"/>
                </a:solidFill>
                <a:latin typeface="Avenir Next"/>
                <a:ea typeface="Avenir Next"/>
                <a:cs typeface="Avenir Next"/>
              </a:defRPr>
            </a:pPr>
            <a:r>
              <a:rPr sz="1650" b="1">
                <a:solidFill>
                  <a:srgbClr val="142B4A"/>
                </a:solidFill>
                <a:latin typeface="Avenir Next"/>
                <a:ea typeface="Avenir Next"/>
                <a:cs typeface="Avenir Next"/>
              </a:rPr>
              <a:t>0.4 s</a:t>
            </a:r>
          </a:p>
        </p:txBody>
      </p:sp>
      <p:cxnSp>
        <p:nvCxnSpPr>
          <p:cNvPr id="33" name=""/>
          <p:cNvCxnSpPr>
            <a:stCxn xmlns:a="http://schemas.openxmlformats.org/drawingml/2006/main" id="8" idx="3"/>
            <a:endCxn xmlns:a="http://schemas.openxmlformats.org/drawingml/2006/main" id="9" idx="1"/>
          </p:cNvCxnSpPr>
          <p:nvPr/>
        </p:nvCxnSpPr>
        <p:spPr>
          <a:xfrm xmlns:a="http://schemas.openxmlformats.org/drawingml/2006/main">
            <a:off x="2333625" y="3486150"/>
            <a:ext cx="428625" cy="0"/>
          </a:xfrm>
          <a:prstGeom xmlns:a="http://schemas.openxmlformats.org/drawingml/2006/main" prst="straightConnector1">
            <a:avLst/>
          </a:prstGeom>
          <a:ln xmlns:a="http://schemas.openxmlformats.org/drawingml/2006/main" w="19050">
            <a:solidFill>
              <a:srgbClr val="142B4A"/>
            </a:solidFill>
            <a:prstDash val="solid"/>
            <a:tailEnd type="triangle" w="sm" len="sm"/>
          </a:ln>
        </p:spPr>
      </p:cxnSp>
      <p:cxnSp>
        <p:nvCxnSpPr>
          <p:cNvPr id="34" name=""/>
          <p:cNvCxnSpPr>
            <a:stCxn xmlns:a="http://schemas.openxmlformats.org/drawingml/2006/main" id="9" idx="3"/>
            <a:endCxn xmlns:a="http://schemas.openxmlformats.org/drawingml/2006/main" id="10" idx="1"/>
          </p:cNvCxnSpPr>
          <p:nvPr/>
        </p:nvCxnSpPr>
        <p:spPr>
          <a:xfrm xmlns:a="http://schemas.openxmlformats.org/drawingml/2006/main">
            <a:off x="4476750" y="3486150"/>
            <a:ext cx="428625" cy="0"/>
          </a:xfrm>
          <a:prstGeom xmlns:a="http://schemas.openxmlformats.org/drawingml/2006/main" prst="straightConnector1">
            <a:avLst/>
          </a:prstGeom>
          <a:ln xmlns:a="http://schemas.openxmlformats.org/drawingml/2006/main" w="19050">
            <a:solidFill>
              <a:srgbClr val="142B4A"/>
            </a:solidFill>
            <a:prstDash val="solid"/>
            <a:tailEnd type="triangle" w="sm" len="sm"/>
          </a:ln>
        </p:spPr>
      </p:cxnSp>
      <p:cxnSp>
        <p:nvCxnSpPr>
          <p:cNvPr id="35" name=""/>
          <p:cNvCxnSpPr>
            <a:stCxn xmlns:a="http://schemas.openxmlformats.org/drawingml/2006/main" id="10" idx="3"/>
            <a:endCxn xmlns:a="http://schemas.openxmlformats.org/drawingml/2006/main" id="11" idx="1"/>
          </p:cNvCxnSpPr>
          <p:nvPr/>
        </p:nvCxnSpPr>
        <p:spPr>
          <a:xfrm xmlns:a="http://schemas.openxmlformats.org/drawingml/2006/main">
            <a:off x="6619875" y="3486150"/>
            <a:ext cx="428625" cy="0"/>
          </a:xfrm>
          <a:prstGeom xmlns:a="http://schemas.openxmlformats.org/drawingml/2006/main" prst="straightConnector1">
            <a:avLst/>
          </a:prstGeom>
          <a:ln xmlns:a="http://schemas.openxmlformats.org/drawingml/2006/main" w="19050">
            <a:solidFill>
              <a:srgbClr val="142B4A"/>
            </a:solidFill>
            <a:prstDash val="solid"/>
            <a:tailEnd type="triangle" w="sm" len="sm"/>
          </a:ln>
        </p:spPr>
      </p:cxnSp>
      <p:sp>
        <p:nvSpPr>
          <p:cNvPr id="15" name="">
            <a:extLst xmlns:a="http://schemas.openxmlformats.org/drawingml/2006/main">
              <a:ext uri="{FF2B5EF4-FFF2-40B4-BE49-F238E27FC236}">
                <a16:creationId xmlns:a16="http://schemas.microsoft.com/office/drawing/2014/main" id="{8B343E2A-40A0-4842-85C6-58A75A921375}"/>
              </a:ext>
            </a:extLst>
          </p:cNvPr>
          <p:cNvSpPr>
            <a:spLocks xmlns:a="http://schemas.openxmlformats.org/drawingml/2006/main" noGrp="1"/>
          </p:cNvSpPr>
          <p:nvPr/>
        </p:nvSpPr>
        <p:spPr>
          <a:xfrm xmlns:a="http://schemas.openxmlformats.org/drawingml/2006/main">
            <a:off x="9191625" y="2905125"/>
            <a:ext cx="2047875" cy="1162050"/>
          </a:xfrm>
          <a:prstGeom xmlns:a="http://schemas.openxmlformats.org/drawingml/2006/main" prst="roundRect">
            <a:avLst>
              <a:gd name="adj" fmla="val 9836"/>
            </a:avLst>
          </a:prstGeom>
          <a:solidFill xmlns:a="http://schemas.openxmlformats.org/drawingml/2006/main">
            <a:srgbClr val="FBE7E5"/>
          </a:solidFill>
          <a:ln xmlns:a="http://schemas.openxmlformats.org/drawingml/2006/main" w="19050">
            <a:solidFill>
              <a:srgbClr val="C9322B"/>
            </a:solidFill>
          </a:ln>
        </p:spPr>
        <p:txBody>
          <a:bodyPr xmlns:a="http://schemas.openxmlformats.org/drawingml/2006/main" wrap="square" lIns="95250" tIns="76200" rIns="95250" bIns="76200" anchor="ctr">
            <a:normAutofit fontScale="100000"/>
          </a:bodyPr>
          <a:lstStyle xmlns:a="http://schemas.openxmlformats.org/drawingml/2006/main"/>
          <a:p xmlns:a="http://schemas.openxmlformats.org/drawingml/2006/main">
            <a:pPr algn="ctr">
              <a:lnSpc>
                <a:spcPct val="100000"/>
              </a:lnSpc>
              <a:buNone/>
              <a:defRPr sz="1875" b="1">
                <a:solidFill>
                  <a:srgbClr val="C9322B"/>
                </a:solidFill>
                <a:latin typeface="Avenir Next"/>
                <a:ea typeface="Avenir Next"/>
                <a:cs typeface="Avenir Next"/>
              </a:defRPr>
            </a:pPr>
            <a:r>
              <a:rPr sz="1875" b="1">
                <a:solidFill>
                  <a:srgbClr val="C9322B"/>
                </a:solidFill>
                <a:latin typeface="Avenir Next"/>
                <a:ea typeface="Avenir Next"/>
                <a:cs typeface="Avenir Next"/>
              </a:rPr>
              <a:t>Response</a:t>
            </a:r>
          </a:p>
          <a:p xmlns:a="http://schemas.openxmlformats.org/drawingml/2006/main">
            <a:pPr algn="ctr">
              <a:lnSpc>
                <a:spcPct val="100000"/>
              </a:lnSpc>
              <a:buNone/>
              <a:defRPr sz="1875" b="1">
                <a:solidFill>
                  <a:srgbClr val="C9322B"/>
                </a:solidFill>
                <a:latin typeface="Avenir Next"/>
                <a:ea typeface="Avenir Next"/>
                <a:cs typeface="Avenir Next"/>
              </a:defRPr>
            </a:pPr>
            <a:r>
              <a:rPr sz="1875" b="1">
                <a:solidFill>
                  <a:srgbClr val="C9322B"/>
                </a:solidFill>
                <a:latin typeface="Avenir Next"/>
                <a:ea typeface="Avenir Next"/>
                <a:cs typeface="Avenir Next"/>
              </a:rPr>
              <a:t>about 2 seconds</a:t>
            </a:r>
          </a:p>
        </p:txBody>
      </p:sp>
      <p:cxnSp>
        <p:nvCxnSpPr>
          <p:cNvPr id="37" name=""/>
          <p:cNvCxnSpPr>
            <a:stCxn xmlns:a="http://schemas.openxmlformats.org/drawingml/2006/main" id="11" idx="3"/>
            <a:endCxn xmlns:a="http://schemas.openxmlformats.org/drawingml/2006/main" id="15" idx="1"/>
          </p:cNvCxnSpPr>
          <p:nvPr/>
        </p:nvCxnSpPr>
        <p:spPr>
          <a:xfrm xmlns:a="http://schemas.openxmlformats.org/drawingml/2006/main">
            <a:off x="8763000" y="3486150"/>
            <a:ext cx="428625" cy="0"/>
          </a:xfrm>
          <a:prstGeom xmlns:a="http://schemas.openxmlformats.org/drawingml/2006/main" prst="straightConnector1">
            <a:avLst/>
          </a:prstGeom>
          <a:ln xmlns:a="http://schemas.openxmlformats.org/drawingml/2006/main" w="19050">
            <a:solidFill>
              <a:srgbClr val="C9322B"/>
            </a:solidFill>
            <a:prstDash val="solid"/>
            <a:tailEnd type="triangle" w="sm" len="sm"/>
          </a:ln>
        </p:spPr>
      </p:cxnSp>
      <p:sp>
        <p:nvSpPr>
          <p:cNvPr id="17" name="">
            <a:extLst xmlns:a="http://schemas.openxmlformats.org/drawingml/2006/main">
              <a:ext uri="{FF2B5EF4-FFF2-40B4-BE49-F238E27FC236}">
                <a16:creationId xmlns:a16="http://schemas.microsoft.com/office/drawing/2014/main" id="{7FB245A4-9729-4E36-BC6E-F758517E9D31}"/>
              </a:ext>
            </a:extLst>
          </p:cNvPr>
          <p:cNvSpPr>
            <a:spLocks xmlns:a="http://schemas.openxmlformats.org/drawingml/2006/main" noGrp="1"/>
          </p:cNvSpPr>
          <p:nvPr/>
        </p:nvSpPr>
        <p:spPr>
          <a:xfrm xmlns:a="http://schemas.openxmlformats.org/drawingml/2006/main">
            <a:off x="6191250" y="4619625"/>
            <a:ext cx="0" cy="1333500"/>
          </a:xfrm>
          <a:prstGeom xmlns:a="http://schemas.openxmlformats.org/drawingml/2006/main" prst="line">
            <a:avLst/>
          </a:prstGeom>
          <a:noFill xmlns:a="http://schemas.openxmlformats.org/drawingml/2006/main"/>
          <a:ln xmlns:a="http://schemas.openxmlformats.org/drawingml/2006/main" w="19050">
            <a:solidFill>
              <a:srgbClr val="C7D0DA"/>
            </a:solidFill>
            <a:prstDash val="solid"/>
          </a:ln>
        </p:spPr>
      </p:sp>
      <p:sp>
        <p:nvSpPr>
          <p:cNvPr id="18" name="">
            <a:extLst xmlns:a="http://schemas.openxmlformats.org/drawingml/2006/main">
              <a:ext uri="{FF2B5EF4-FFF2-40B4-BE49-F238E27FC236}">
                <a16:creationId xmlns:a16="http://schemas.microsoft.com/office/drawing/2014/main" id="{332ADA32-E5AB-4A2D-833D-C8F727366ADD}"/>
              </a:ext>
            </a:extLst>
          </p:cNvPr>
          <p:cNvSpPr>
            <a:spLocks xmlns:a="http://schemas.openxmlformats.org/drawingml/2006/main" noGrp="1"/>
          </p:cNvSpPr>
          <p:nvPr/>
        </p:nvSpPr>
        <p:spPr>
          <a:xfrm xmlns:a="http://schemas.openxmlformats.org/drawingml/2006/main">
            <a:off x="666750" y="4619625"/>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98998"/>
          </a:bodyPr>
          <a:lstStyle xmlns:a="http://schemas.openxmlformats.org/drawingml/2006/main"/>
          <a:p xmlns:a="http://schemas.openxmlformats.org/drawingml/2006/main">
            <a:pPr algn="l">
              <a:lnSpc>
                <a:spcPct val="106000"/>
              </a:lnSpc>
              <a:buNone/>
              <a:defRPr sz="2025" b="1">
                <a:solidFill>
                  <a:srgbClr val="C94710"/>
                </a:solidFill>
                <a:latin typeface="Avenir Next"/>
                <a:ea typeface="Avenir Next"/>
                <a:cs typeface="Avenir Next"/>
              </a:defRPr>
            </a:pPr>
            <a:r>
              <a:rPr sz="2025" b="1">
                <a:solidFill>
                  <a:srgbClr val="C94710"/>
                </a:solidFill>
                <a:latin typeface="Avenir Next"/>
                <a:ea typeface="Avenir Next"/>
                <a:cs typeface="Avenir Next"/>
              </a:rPr>
              <a:t>Why this hurts</a:t>
            </a:r>
          </a:p>
        </p:txBody>
      </p:sp>
      <p:sp>
        <p:nvSpPr>
          <p:cNvPr id="19" name="">
            <a:extLst xmlns:a="http://schemas.openxmlformats.org/drawingml/2006/main">
              <a:ext uri="{FF2B5EF4-FFF2-40B4-BE49-F238E27FC236}">
                <a16:creationId xmlns:a16="http://schemas.microsoft.com/office/drawing/2014/main" id="{343C9983-206E-461E-9760-DB8C28136939}"/>
              </a:ext>
            </a:extLst>
          </p:cNvPr>
          <p:cNvSpPr>
            <a:spLocks xmlns:a="http://schemas.openxmlformats.org/drawingml/2006/main" noGrp="1"/>
          </p:cNvSpPr>
          <p:nvPr/>
        </p:nvSpPr>
        <p:spPr>
          <a:xfrm xmlns:a="http://schemas.openxmlformats.org/drawingml/2006/main">
            <a:off x="666750" y="5095875"/>
            <a:ext cx="4857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16000"/>
              </a:lnSpc>
              <a:buNone/>
              <a:defRPr sz="1725" b="0">
                <a:solidFill>
                  <a:srgbClr val="18202C"/>
                </a:solidFill>
                <a:latin typeface="Avenir Next"/>
                <a:ea typeface="Avenir Next"/>
                <a:cs typeface="Avenir Next"/>
              </a:defRPr>
            </a:pPr>
            <a:r>
              <a:rPr sz="1725" b="0">
                <a:solidFill>
                  <a:srgbClr val="18202C"/>
                </a:solidFill>
                <a:latin typeface="Avenir Next"/>
                <a:ea typeface="Avenir Next"/>
                <a:cs typeface="Avenir Next"/>
              </a:rPr>
              <a:t>The customer waits. A slow service delays the whole order.</a:t>
            </a:r>
          </a:p>
        </p:txBody>
      </p:sp>
      <p:sp>
        <p:nvSpPr>
          <p:cNvPr id="20" name="">
            <a:extLst xmlns:a="http://schemas.openxmlformats.org/drawingml/2006/main">
              <a:ext uri="{FF2B5EF4-FFF2-40B4-BE49-F238E27FC236}">
                <a16:creationId xmlns:a16="http://schemas.microsoft.com/office/drawing/2014/main" id="{7601057F-9EB1-46AB-A1EF-D71F3CF44B0B}"/>
              </a:ext>
            </a:extLst>
          </p:cNvPr>
          <p:cNvSpPr>
            <a:spLocks xmlns:a="http://schemas.openxmlformats.org/drawingml/2006/main" noGrp="1"/>
          </p:cNvSpPr>
          <p:nvPr/>
        </p:nvSpPr>
        <p:spPr>
          <a:xfrm xmlns:a="http://schemas.openxmlformats.org/drawingml/2006/main">
            <a:off x="6762750" y="4619625"/>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98998"/>
          </a:bodyPr>
          <a:lstStyle xmlns:a="http://schemas.openxmlformats.org/drawingml/2006/main"/>
          <a:p xmlns:a="http://schemas.openxmlformats.org/drawingml/2006/main">
            <a:pPr algn="l">
              <a:lnSpc>
                <a:spcPct val="106000"/>
              </a:lnSpc>
              <a:buNone/>
              <a:defRPr sz="2025" b="1">
                <a:solidFill>
                  <a:srgbClr val="2E7D4F"/>
                </a:solidFill>
                <a:latin typeface="Avenir Next"/>
                <a:ea typeface="Avenir Next"/>
                <a:cs typeface="Avenir Next"/>
              </a:defRPr>
            </a:pPr>
            <a:r>
              <a:rPr sz="2025" b="1">
                <a:solidFill>
                  <a:srgbClr val="2E7D4F"/>
                </a:solidFill>
                <a:latin typeface="Avenir Next"/>
                <a:ea typeface="Avenir Next"/>
                <a:cs typeface="Avenir Next"/>
              </a:rPr>
              <a:t>What we need</a:t>
            </a:r>
          </a:p>
        </p:txBody>
      </p:sp>
      <p:sp>
        <p:nvSpPr>
          <p:cNvPr id="21" name="">
            <a:extLst xmlns:a="http://schemas.openxmlformats.org/drawingml/2006/main">
              <a:ext uri="{FF2B5EF4-FFF2-40B4-BE49-F238E27FC236}">
                <a16:creationId xmlns:a16="http://schemas.microsoft.com/office/drawing/2014/main" id="{8D7C550D-071C-454D-96DD-4E2BB2F3EE0A}"/>
              </a:ext>
            </a:extLst>
          </p:cNvPr>
          <p:cNvSpPr>
            <a:spLocks xmlns:a="http://schemas.openxmlformats.org/drawingml/2006/main" noGrp="1"/>
          </p:cNvSpPr>
          <p:nvPr/>
        </p:nvSpPr>
        <p:spPr>
          <a:xfrm xmlns:a="http://schemas.openxmlformats.org/drawingml/2006/main">
            <a:off x="6762750" y="5095875"/>
            <a:ext cx="4476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16000"/>
              </a:lnSpc>
              <a:buNone/>
              <a:defRPr sz="1725" b="0">
                <a:solidFill>
                  <a:srgbClr val="18202C"/>
                </a:solidFill>
                <a:latin typeface="Avenir Next"/>
                <a:ea typeface="Avenir Next"/>
                <a:cs typeface="Avenir Next"/>
              </a:defRPr>
            </a:pPr>
            <a:r>
              <a:rPr sz="1725" b="0">
                <a:solidFill>
                  <a:srgbClr val="18202C"/>
                </a:solidFill>
                <a:latin typeface="Avenir Next"/>
                <a:ea typeface="Avenir Next"/>
                <a:cs typeface="Avenir Next"/>
              </a:rPr>
              <a:t>Return quickly and keep unfinished work safe until a worker can process it.</a:t>
            </a:r>
          </a:p>
        </p:txBody>
      </p:sp>
    </p:spTree>
    <p:extLst>
      <p:ext uri="{BB962C8B-B14F-4D97-AF65-F5344CB8AC3E}">
        <p14:creationId xmlns:p14="http://schemas.microsoft.com/office/powerpoint/2010/main" val="477404839"/>
      </p:ext>
    </p:extLst>
  </p:cSld>
</p:sld>
</file>

<file path=ppt/slides/slide3.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11F18053-AD52-4300-AD2D-100D1352213B}"/>
              </a:ext>
            </a:extLst>
          </p:cNvPr>
          <p:cNvSpPr>
            <a:spLocks xmlns:a="http://schemas.openxmlformats.org/drawingml/2006/main" noGrp="1"/>
          </p:cNvSpPr>
          <p:nvPr/>
        </p:nvSpPr>
        <p:spPr>
          <a:xfrm xmlns:a="http://schemas.openxmlformats.org/drawingml/2006/main">
            <a:off x="552450" y="342900"/>
            <a:ext cx="10287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95071"/>
          </a:bodyPr>
          <a:lstStyle xmlns:a="http://schemas.openxmlformats.org/drawingml/2006/main"/>
          <a:p xmlns:a="http://schemas.openxmlformats.org/drawingml/2006/main">
            <a:pPr algn="l">
              <a:lnSpc>
                <a:spcPct val="106000"/>
              </a:lnSpc>
              <a:buNone/>
              <a:defRPr sz="3225" b="1">
                <a:solidFill>
                  <a:srgbClr val="18202C"/>
                </a:solidFill>
                <a:latin typeface="Avenir Next"/>
                <a:ea typeface="Avenir Next"/>
                <a:cs typeface="Avenir Next"/>
              </a:defRPr>
            </a:pPr>
            <a:r>
              <a:rPr sz="3225" b="1">
                <a:solidFill>
                  <a:srgbClr val="18202C"/>
                </a:solidFill>
                <a:latin typeface="Avenir Next"/>
                <a:ea typeface="Avenir Next"/>
                <a:cs typeface="Avenir Next"/>
              </a:rPr>
              <a:t>RabbitMQ is a waiting room for work</a:t>
            </a:r>
          </a:p>
        </p:txBody>
      </p:sp>
      <p:sp>
        <p:nvSpPr>
          <p:cNvPr id="2" name="">
            <a:extLst xmlns:a="http://schemas.openxmlformats.org/drawingml/2006/main">
              <a:ext uri="{FF2B5EF4-FFF2-40B4-BE49-F238E27FC236}">
                <a16:creationId xmlns:a16="http://schemas.microsoft.com/office/drawing/2014/main" id="{EC9EA9D5-0F24-4F6B-99FE-39613399F019}"/>
              </a:ext>
            </a:extLst>
          </p:cNvPr>
          <p:cNvSpPr>
            <a:spLocks xmlns:a="http://schemas.openxmlformats.org/drawingml/2006/main" noGrp="1"/>
          </p:cNvSpPr>
          <p:nvPr/>
        </p:nvSpPr>
        <p:spPr>
          <a:xfrm xmlns:a="http://schemas.openxmlformats.org/drawingml/2006/main">
            <a:off x="571500" y="914400"/>
            <a:ext cx="1028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06000"/>
              </a:lnSpc>
              <a:buNone/>
              <a:defRPr sz="1500" b="0">
                <a:solidFill>
                  <a:srgbClr val="627083"/>
                </a:solidFill>
                <a:latin typeface="Avenir Next"/>
                <a:ea typeface="Avenir Next"/>
                <a:cs typeface="Avenir Next"/>
              </a:defRPr>
            </a:pPr>
            <a:r>
              <a:rPr sz="1500" b="0">
                <a:solidFill>
                  <a:srgbClr val="627083"/>
                </a:solidFill>
                <a:latin typeface="Avenir Next"/>
                <a:ea typeface="Avenir Next"/>
                <a:cs typeface="Avenir Next"/>
              </a:rPr>
              <a:t>The API leaves a message, and background workers collect it</a:t>
            </a:r>
          </a:p>
        </p:txBody>
      </p:sp>
      <p:sp>
        <p:nvSpPr>
          <p:cNvPr id="3" name="">
            <a:extLst xmlns:a="http://schemas.openxmlformats.org/drawingml/2006/main">
              <a:ext uri="{FF2B5EF4-FFF2-40B4-BE49-F238E27FC236}">
                <a16:creationId xmlns:a16="http://schemas.microsoft.com/office/drawing/2014/main" id="{76612EEE-0E09-44C4-B40B-FD6EE499A1BF}"/>
              </a:ext>
            </a:extLst>
          </p:cNvPr>
          <p:cNvSpPr>
            <a:spLocks xmlns:a="http://schemas.openxmlformats.org/drawingml/2006/main" noGrp="1"/>
          </p:cNvSpPr>
          <p:nvPr/>
        </p:nvSpPr>
        <p:spPr>
          <a:xfrm xmlns:a="http://schemas.openxmlformats.org/drawingml/2006/main">
            <a:off x="533400" y="1295400"/>
            <a:ext cx="11125200" cy="47625"/>
          </a:xfrm>
          <a:prstGeom xmlns:a="http://schemas.openxmlformats.org/drawingml/2006/main" prst="rect">
            <a:avLst/>
          </a:prstGeom>
          <a:solidFill xmlns:a="http://schemas.openxmlformats.org/drawingml/2006/main">
            <a:srgbClr val="F36B21"/>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8C99B0B-6FB4-4762-94E4-8617A7E5DAAC}"/>
              </a:ext>
            </a:extLst>
          </p:cNvPr>
          <p:cNvSpPr>
            <a:spLocks xmlns:a="http://schemas.openxmlformats.org/drawingml/2006/main" noGrp="1"/>
          </p:cNvSpPr>
          <p:nvPr/>
        </p:nvSpPr>
        <p:spPr>
          <a:xfrm xmlns:a="http://schemas.openxmlformats.org/drawingml/2006/main">
            <a:off x="10382250" y="6619875"/>
            <a:ext cx="7239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91719"/>
          </a:bodyPr>
          <a:lstStyle xmlns:a="http://schemas.openxmlformats.org/drawingml/2006/main"/>
          <a:p xmlns:a="http://schemas.openxmlformats.org/drawingml/2006/main">
            <a:pPr algn="r">
              <a:lnSpc>
                <a:spcPct val="106000"/>
              </a:lnSpc>
              <a:buNone/>
              <a:defRPr sz="900" b="1">
                <a:solidFill>
                  <a:srgbClr val="627083"/>
                </a:solidFill>
                <a:latin typeface="Avenir Next"/>
                <a:ea typeface="Avenir Next"/>
                <a:cs typeface="Avenir Next"/>
              </a:defRPr>
            </a:pPr>
            <a:r>
              <a:rPr sz="900" b="1">
                <a:solidFill>
                  <a:srgbClr val="627083"/>
                </a:solidFill>
                <a:latin typeface="Avenir Next"/>
                <a:ea typeface="Avenir Next"/>
                <a:cs typeface="Avenir Next"/>
              </a:rPr>
              <a:t>P1</a:t>
            </a:r>
          </a:p>
        </p:txBody>
      </p:sp>
      <p:sp>
        <p:nvSpPr>
          <p:cNvPr id="5" name="">
            <a:extLst xmlns:a="http://schemas.openxmlformats.org/drawingml/2006/main">
              <a:ext uri="{FF2B5EF4-FFF2-40B4-BE49-F238E27FC236}">
                <a16:creationId xmlns:a16="http://schemas.microsoft.com/office/drawing/2014/main" id="{DFD20809-DB03-4D9B-9629-1BE6B8D4E5A0}"/>
              </a:ext>
            </a:extLst>
          </p:cNvPr>
          <p:cNvSpPr>
            <a:spLocks xmlns:a="http://schemas.openxmlformats.org/drawingml/2006/main" noGrp="1"/>
          </p:cNvSpPr>
          <p:nvPr/>
        </p:nvSpPr>
        <p:spPr>
          <a:xfrm xmlns:a="http://schemas.openxmlformats.org/drawingml/2006/main">
            <a:off x="11191875" y="6619875"/>
            <a:ext cx="4286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91719"/>
          </a:bodyPr>
          <a:lstStyle xmlns:a="http://schemas.openxmlformats.org/drawingml/2006/main"/>
          <a:p xmlns:a="http://schemas.openxmlformats.org/drawingml/2006/main">
            <a:pPr algn="r">
              <a:lnSpc>
                <a:spcPct val="106000"/>
              </a:lnSpc>
              <a:buNone/>
              <a:defRPr sz="900" b="0">
                <a:solidFill>
                  <a:srgbClr val="627083"/>
                </a:solidFill>
                <a:latin typeface="Avenir Next"/>
                <a:ea typeface="Avenir Next"/>
                <a:cs typeface="Avenir Next"/>
              </a:defRPr>
            </a:pPr>
            <a:r>
              <a:rPr sz="900" b="0">
                <a:solidFill>
                  <a:srgbClr val="627083"/>
                </a:solidFill>
                <a:latin typeface="Avenir Next"/>
                <a:ea typeface="Avenir Next"/>
                <a:cs typeface="Avenir Next"/>
              </a:rPr>
              <a:t>03</a:t>
            </a:r>
          </a:p>
        </p:txBody>
      </p:sp>
      <p:sp>
        <p:nvSpPr>
          <p:cNvPr id="6" name="">
            <a:extLst xmlns:a="http://schemas.openxmlformats.org/drawingml/2006/main">
              <a:ext uri="{FF2B5EF4-FFF2-40B4-BE49-F238E27FC236}">
                <a16:creationId xmlns:a16="http://schemas.microsoft.com/office/drawing/2014/main" id="{ACCE12F8-39F8-4204-BE65-273DFF526343}"/>
              </a:ext>
            </a:extLst>
          </p:cNvPr>
          <p:cNvSpPr>
            <a:spLocks xmlns:a="http://schemas.openxmlformats.org/drawingml/2006/main" noGrp="1"/>
          </p:cNvSpPr>
          <p:nvPr/>
        </p:nvSpPr>
        <p:spPr>
          <a:xfrm xmlns:a="http://schemas.openxmlformats.org/drawingml/2006/main">
            <a:off x="857250" y="2238375"/>
            <a:ext cx="2190750" cy="1047750"/>
          </a:xfrm>
          <a:prstGeom xmlns:a="http://schemas.openxmlformats.org/drawingml/2006/main" prst="roundRect">
            <a:avLst>
              <a:gd name="adj" fmla="val 10909"/>
            </a:avLst>
          </a:prstGeom>
          <a:solidFill xmlns:a="http://schemas.openxmlformats.org/drawingml/2006/main">
            <a:srgbClr val="FCE4D6"/>
          </a:solidFill>
          <a:ln xmlns:a="http://schemas.openxmlformats.org/drawingml/2006/main" w="19050">
            <a:solidFill>
              <a:srgbClr val="F36B21"/>
            </a:solidFill>
          </a:ln>
        </p:spPr>
        <p:txBody>
          <a:bodyPr xmlns:a="http://schemas.openxmlformats.org/drawingml/2006/main" wrap="square" lIns="95250" tIns="76200" rIns="95250" bIns="76200" anchor="ctr">
            <a:normAutofit fontScale="96634"/>
          </a:bodyPr>
          <a:lstStyle xmlns:a="http://schemas.openxmlformats.org/drawingml/2006/main"/>
          <a:p xmlns:a="http://schemas.openxmlformats.org/drawingml/2006/main">
            <a:pPr algn="ctr">
              <a:lnSpc>
                <a:spcPct val="100000"/>
              </a:lnSpc>
              <a:buNone/>
              <a:defRPr sz="1875" b="1">
                <a:solidFill>
                  <a:srgbClr val="142B4A"/>
                </a:solidFill>
                <a:latin typeface="Avenir Next"/>
                <a:ea typeface="Avenir Next"/>
                <a:cs typeface="Avenir Next"/>
              </a:defRPr>
            </a:pPr>
            <a:r>
              <a:rPr sz="1875" b="1">
                <a:solidFill>
                  <a:srgbClr val="142B4A"/>
                </a:solidFill>
                <a:latin typeface="Avenir Next"/>
                <a:ea typeface="Avenir Next"/>
                <a:cs typeface="Avenir Next"/>
              </a:rPr>
              <a:t>API</a:t>
            </a:r>
          </a:p>
          <a:p xmlns:a="http://schemas.openxmlformats.org/drawingml/2006/main">
            <a:pPr algn="ctr">
              <a:lnSpc>
                <a:spcPct val="100000"/>
              </a:lnSpc>
              <a:buNone/>
              <a:defRPr sz="1875" b="1">
                <a:solidFill>
                  <a:srgbClr val="142B4A"/>
                </a:solidFill>
                <a:latin typeface="Avenir Next"/>
                <a:ea typeface="Avenir Next"/>
                <a:cs typeface="Avenir Next"/>
              </a:defRPr>
            </a:pPr>
            <a:r>
              <a:rPr sz="1875" b="1">
                <a:solidFill>
                  <a:srgbClr val="142B4A"/>
                </a:solidFill>
                <a:latin typeface="Avenir Next"/>
                <a:ea typeface="Avenir Next"/>
                <a:cs typeface="Avenir Next"/>
              </a:rPr>
              <a:t>places a message</a:t>
            </a:r>
          </a:p>
        </p:txBody>
      </p:sp>
      <p:sp>
        <p:nvSpPr>
          <p:cNvPr id="7" name="">
            <a:extLst xmlns:a="http://schemas.openxmlformats.org/drawingml/2006/main">
              <a:ext uri="{FF2B5EF4-FFF2-40B4-BE49-F238E27FC236}">
                <a16:creationId xmlns:a16="http://schemas.microsoft.com/office/drawing/2014/main" id="{F428CBD7-515F-44A3-A4BE-846B441F16EC}"/>
              </a:ext>
            </a:extLst>
          </p:cNvPr>
          <p:cNvSpPr>
            <a:spLocks xmlns:a="http://schemas.openxmlformats.org/drawingml/2006/main" noGrp="1"/>
          </p:cNvSpPr>
          <p:nvPr/>
        </p:nvSpPr>
        <p:spPr>
          <a:xfrm xmlns:a="http://schemas.openxmlformats.org/drawingml/2006/main">
            <a:off x="4762500" y="1952625"/>
            <a:ext cx="2667000" cy="1619250"/>
          </a:xfrm>
          <a:prstGeom xmlns:a="http://schemas.openxmlformats.org/drawingml/2006/main" prst="roundRect">
            <a:avLst>
              <a:gd name="adj" fmla="val 7059"/>
            </a:avLst>
          </a:prstGeom>
          <a:solidFill xmlns:a="http://schemas.openxmlformats.org/drawingml/2006/main">
            <a:srgbClr val="DDEBFA"/>
          </a:solidFill>
          <a:ln xmlns:a="http://schemas.openxmlformats.org/drawingml/2006/main" w="23813">
            <a:solidFill>
              <a:srgbClr val="142B4A"/>
            </a:solidFill>
          </a:ln>
        </p:spPr>
        <p:txBody>
          <a:bodyPr xmlns:a="http://schemas.openxmlformats.org/drawingml/2006/main" wrap="square" lIns="95250" tIns="76200" rIns="95250" bIns="76200" anchor="ctr">
            <a:normAutofit fontScale="100000"/>
          </a:bodyPr>
          <a:lstStyle xmlns:a="http://schemas.openxmlformats.org/drawingml/2006/main"/>
          <a:p xmlns:a="http://schemas.openxmlformats.org/drawingml/2006/main">
            <a:pPr algn="ctr">
              <a:lnSpc>
                <a:spcPct val="100000"/>
              </a:lnSpc>
              <a:buNone/>
              <a:defRPr sz="2175" b="1">
                <a:solidFill>
                  <a:srgbClr val="142B4A"/>
                </a:solidFill>
                <a:latin typeface="Avenir Next"/>
                <a:ea typeface="Avenir Next"/>
                <a:cs typeface="Avenir Next"/>
              </a:defRPr>
            </a:pPr>
            <a:r>
              <a:rPr sz="2175" b="1">
                <a:solidFill>
                  <a:srgbClr val="142B4A"/>
                </a:solidFill>
                <a:latin typeface="Avenir Next"/>
                <a:ea typeface="Avenir Next"/>
                <a:cs typeface="Avenir Next"/>
              </a:rPr>
              <a:t>RabbitMQ</a:t>
            </a:r>
          </a:p>
          <a:p xmlns:a="http://schemas.openxmlformats.org/drawingml/2006/main">
            <a:pPr algn="ctr">
              <a:lnSpc>
                <a:spcPct val="100000"/>
              </a:lnSpc>
              <a:buNone/>
              <a:defRPr sz="2175" b="1">
                <a:solidFill>
                  <a:srgbClr val="142B4A"/>
                </a:solidFill>
                <a:latin typeface="Avenir Next"/>
                <a:ea typeface="Avenir Next"/>
                <a:cs typeface="Avenir Next"/>
              </a:defRPr>
            </a:pPr>
            <a:r>
              <a:rPr sz="2175" b="1">
                <a:solidFill>
                  <a:srgbClr val="142B4A"/>
                </a:solidFill>
                <a:latin typeface="Avenir Next"/>
                <a:ea typeface="Avenir Next"/>
                <a:cs typeface="Avenir Next"/>
              </a:rPr>
              <a:t>stores and routes work</a:t>
            </a:r>
          </a:p>
        </p:txBody>
      </p:sp>
      <p:sp>
        <p:nvSpPr>
          <p:cNvPr id="8" name="">
            <a:extLst xmlns:a="http://schemas.openxmlformats.org/drawingml/2006/main">
              <a:ext uri="{FF2B5EF4-FFF2-40B4-BE49-F238E27FC236}">
                <a16:creationId xmlns:a16="http://schemas.microsoft.com/office/drawing/2014/main" id="{855346D1-76A1-448E-BE9E-AC2329ED2073}"/>
              </a:ext>
            </a:extLst>
          </p:cNvPr>
          <p:cNvSpPr>
            <a:spLocks xmlns:a="http://schemas.openxmlformats.org/drawingml/2006/main" noGrp="1"/>
          </p:cNvSpPr>
          <p:nvPr/>
        </p:nvSpPr>
        <p:spPr>
          <a:xfrm xmlns:a="http://schemas.openxmlformats.org/drawingml/2006/main">
            <a:off x="9144000" y="2238375"/>
            <a:ext cx="2190750" cy="1047750"/>
          </a:xfrm>
          <a:prstGeom xmlns:a="http://schemas.openxmlformats.org/drawingml/2006/main" prst="roundRect">
            <a:avLst>
              <a:gd name="adj" fmla="val 10909"/>
            </a:avLst>
          </a:prstGeom>
          <a:solidFill xmlns:a="http://schemas.openxmlformats.org/drawingml/2006/main">
            <a:srgbClr val="DFF1E3"/>
          </a:solidFill>
          <a:ln xmlns:a="http://schemas.openxmlformats.org/drawingml/2006/main" w="14288">
            <a:solidFill>
              <a:srgbClr val="2E7D4F"/>
            </a:solidFill>
          </a:ln>
        </p:spPr>
        <p:txBody>
          <a:bodyPr xmlns:a="http://schemas.openxmlformats.org/drawingml/2006/main" wrap="square" lIns="95250" tIns="76200" rIns="95250" bIns="76200" anchor="ctr">
            <a:normAutofit fontScale="96834"/>
          </a:bodyPr>
          <a:lstStyle xmlns:a="http://schemas.openxmlformats.org/drawingml/2006/main"/>
          <a:p xmlns:a="http://schemas.openxmlformats.org/drawingml/2006/main">
            <a:pPr algn="ctr">
              <a:lnSpc>
                <a:spcPct val="100000"/>
              </a:lnSpc>
              <a:buNone/>
              <a:defRPr sz="1875" b="1">
                <a:solidFill>
                  <a:srgbClr val="142B4A"/>
                </a:solidFill>
                <a:latin typeface="Avenir Next"/>
                <a:ea typeface="Avenir Next"/>
                <a:cs typeface="Avenir Next"/>
              </a:defRPr>
            </a:pPr>
            <a:r>
              <a:rPr sz="1875" b="1">
                <a:solidFill>
                  <a:srgbClr val="142B4A"/>
                </a:solidFill>
                <a:latin typeface="Avenir Next"/>
                <a:ea typeface="Avenir Next"/>
                <a:cs typeface="Avenir Next"/>
              </a:rPr>
              <a:t>Workers</a:t>
            </a:r>
          </a:p>
          <a:p xmlns:a="http://schemas.openxmlformats.org/drawingml/2006/main">
            <a:pPr algn="ctr">
              <a:lnSpc>
                <a:spcPct val="100000"/>
              </a:lnSpc>
              <a:buNone/>
              <a:defRPr sz="1875" b="1">
                <a:solidFill>
                  <a:srgbClr val="142B4A"/>
                </a:solidFill>
                <a:latin typeface="Avenir Next"/>
                <a:ea typeface="Avenir Next"/>
                <a:cs typeface="Avenir Next"/>
              </a:defRPr>
            </a:pPr>
            <a:r>
              <a:rPr sz="1875" b="1">
                <a:solidFill>
                  <a:srgbClr val="142B4A"/>
                </a:solidFill>
                <a:latin typeface="Avenir Next"/>
                <a:ea typeface="Avenir Next"/>
                <a:cs typeface="Avenir Next"/>
              </a:rPr>
              <a:t>do the slow tasks</a:t>
            </a:r>
          </a:p>
        </p:txBody>
      </p:sp>
      <p:cxnSp>
        <p:nvCxnSpPr>
          <p:cNvPr id="28" name=""/>
          <p:cNvCxnSpPr>
            <a:stCxn xmlns:a="http://schemas.openxmlformats.org/drawingml/2006/main" id="6" idx="3"/>
            <a:endCxn xmlns:a="http://schemas.openxmlformats.org/drawingml/2006/main" id="7" idx="1"/>
          </p:cNvCxnSpPr>
          <p:nvPr/>
        </p:nvCxnSpPr>
        <p:spPr>
          <a:xfrm xmlns:a="http://schemas.openxmlformats.org/drawingml/2006/main">
            <a:off x="3048000" y="2762250"/>
            <a:ext cx="1714500" cy="0"/>
          </a:xfrm>
          <a:prstGeom xmlns:a="http://schemas.openxmlformats.org/drawingml/2006/main" prst="straightConnector1">
            <a:avLst/>
          </a:prstGeom>
          <a:ln xmlns:a="http://schemas.openxmlformats.org/drawingml/2006/main" w="28575">
            <a:solidFill>
              <a:srgbClr val="F36B21"/>
            </a:solidFill>
            <a:prstDash val="solid"/>
            <a:tailEnd type="triangle" w="sm" len="sm"/>
          </a:ln>
        </p:spPr>
      </p:cxnSp>
      <p:cxnSp>
        <p:nvCxnSpPr>
          <p:cNvPr id="29" name=""/>
          <p:cNvCxnSpPr>
            <a:stCxn xmlns:a="http://schemas.openxmlformats.org/drawingml/2006/main" id="7" idx="3"/>
            <a:endCxn xmlns:a="http://schemas.openxmlformats.org/drawingml/2006/main" id="8" idx="1"/>
          </p:cNvCxnSpPr>
          <p:nvPr/>
        </p:nvCxnSpPr>
        <p:spPr>
          <a:xfrm xmlns:a="http://schemas.openxmlformats.org/drawingml/2006/main">
            <a:off x="7429500" y="2762250"/>
            <a:ext cx="1714500" cy="0"/>
          </a:xfrm>
          <a:prstGeom xmlns:a="http://schemas.openxmlformats.org/drawingml/2006/main" prst="straightConnector1">
            <a:avLst/>
          </a:prstGeom>
          <a:ln xmlns:a="http://schemas.openxmlformats.org/drawingml/2006/main" w="28575">
            <a:solidFill>
              <a:srgbClr val="142B4A"/>
            </a:solidFill>
            <a:prstDash val="solid"/>
            <a:tailEnd type="triangle" w="sm" len="sm"/>
          </a:ln>
        </p:spPr>
      </p:cxnSp>
      <p:sp>
        <p:nvSpPr>
          <p:cNvPr id="11" name="">
            <a:extLst xmlns:a="http://schemas.openxmlformats.org/drawingml/2006/main">
              <a:ext uri="{FF2B5EF4-FFF2-40B4-BE49-F238E27FC236}">
                <a16:creationId xmlns:a16="http://schemas.microsoft.com/office/drawing/2014/main" id="{0D73095E-4F88-4076-90B1-83943BE0B291}"/>
              </a:ext>
            </a:extLst>
          </p:cNvPr>
          <p:cNvSpPr>
            <a:spLocks xmlns:a="http://schemas.openxmlformats.org/drawingml/2006/main" noGrp="1"/>
          </p:cNvSpPr>
          <p:nvPr/>
        </p:nvSpPr>
        <p:spPr>
          <a:xfrm xmlns:a="http://schemas.openxmlformats.org/drawingml/2006/main">
            <a:off x="666750" y="4476750"/>
            <a:ext cx="238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ctr">
              <a:lnSpc>
                <a:spcPct val="106000"/>
              </a:lnSpc>
              <a:buNone/>
              <a:defRPr sz="1725" b="1">
                <a:solidFill>
                  <a:srgbClr val="C94710"/>
                </a:solidFill>
                <a:latin typeface="Avenir Next"/>
                <a:ea typeface="Avenir Next"/>
                <a:cs typeface="Avenir Next"/>
              </a:defRPr>
            </a:pPr>
            <a:r>
              <a:rPr sz="1725" b="1">
                <a:solidFill>
                  <a:srgbClr val="C94710"/>
                </a:solidFill>
                <a:latin typeface="Avenir Next"/>
                <a:ea typeface="Avenir Next"/>
                <a:cs typeface="Avenir Next"/>
              </a:rPr>
              <a:t>Message</a:t>
            </a:r>
          </a:p>
        </p:txBody>
      </p:sp>
      <p:sp>
        <p:nvSpPr>
          <p:cNvPr id="12" name="">
            <a:extLst xmlns:a="http://schemas.openxmlformats.org/drawingml/2006/main">
              <a:ext uri="{FF2B5EF4-FFF2-40B4-BE49-F238E27FC236}">
                <a16:creationId xmlns:a16="http://schemas.microsoft.com/office/drawing/2014/main" id="{E79E4309-E526-4E60-8DD0-D9AF348F8676}"/>
              </a:ext>
            </a:extLst>
          </p:cNvPr>
          <p:cNvSpPr>
            <a:spLocks xmlns:a="http://schemas.openxmlformats.org/drawingml/2006/main" noGrp="1"/>
          </p:cNvSpPr>
          <p:nvPr/>
        </p:nvSpPr>
        <p:spPr>
          <a:xfrm xmlns:a="http://schemas.openxmlformats.org/drawingml/2006/main">
            <a:off x="666750" y="4905375"/>
            <a:ext cx="238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ctr">
              <a:lnSpc>
                <a:spcPct val="112000"/>
              </a:lnSpc>
              <a:buNone/>
              <a:defRPr sz="1425" b="0">
                <a:solidFill>
                  <a:srgbClr val="18202C"/>
                </a:solidFill>
                <a:latin typeface="Avenir Next"/>
                <a:ea typeface="Avenir Next"/>
                <a:cs typeface="Avenir Next"/>
              </a:defRPr>
            </a:pPr>
            <a:r>
              <a:rPr sz="1425" b="0">
                <a:solidFill>
                  <a:srgbClr val="18202C"/>
                </a:solidFill>
                <a:latin typeface="Avenir Next"/>
                <a:ea typeface="Avenir Next"/>
                <a:cs typeface="Avenir Next"/>
              </a:rPr>
              <a:t>Instructions for one job</a:t>
            </a:r>
          </a:p>
        </p:txBody>
      </p:sp>
      <p:sp>
        <p:nvSpPr>
          <p:cNvPr id="13" name="">
            <a:extLst xmlns:a="http://schemas.openxmlformats.org/drawingml/2006/main">
              <a:ext uri="{FF2B5EF4-FFF2-40B4-BE49-F238E27FC236}">
                <a16:creationId xmlns:a16="http://schemas.microsoft.com/office/drawing/2014/main" id="{AA01A3CB-E507-49E0-9848-996173085B1B}"/>
              </a:ext>
            </a:extLst>
          </p:cNvPr>
          <p:cNvSpPr>
            <a:spLocks xmlns:a="http://schemas.openxmlformats.org/drawingml/2006/main" noGrp="1"/>
          </p:cNvSpPr>
          <p:nvPr/>
        </p:nvSpPr>
        <p:spPr>
          <a:xfrm xmlns:a="http://schemas.openxmlformats.org/drawingml/2006/main">
            <a:off x="3476625" y="4476750"/>
            <a:ext cx="238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ctr">
              <a:lnSpc>
                <a:spcPct val="106000"/>
              </a:lnSpc>
              <a:buNone/>
              <a:defRPr sz="1725" b="1">
                <a:solidFill>
                  <a:srgbClr val="C94710"/>
                </a:solidFill>
                <a:latin typeface="Avenir Next"/>
                <a:ea typeface="Avenir Next"/>
                <a:cs typeface="Avenir Next"/>
              </a:defRPr>
            </a:pPr>
            <a:r>
              <a:rPr sz="1725" b="1">
                <a:solidFill>
                  <a:srgbClr val="C94710"/>
                </a:solidFill>
                <a:latin typeface="Avenir Next"/>
                <a:ea typeface="Avenir Next"/>
                <a:cs typeface="Avenir Next"/>
              </a:rPr>
              <a:t>Queue</a:t>
            </a:r>
          </a:p>
        </p:txBody>
      </p:sp>
      <p:sp>
        <p:nvSpPr>
          <p:cNvPr id="14" name="">
            <a:extLst xmlns:a="http://schemas.openxmlformats.org/drawingml/2006/main">
              <a:ext uri="{FF2B5EF4-FFF2-40B4-BE49-F238E27FC236}">
                <a16:creationId xmlns:a16="http://schemas.microsoft.com/office/drawing/2014/main" id="{C12D0945-0EA7-4D63-9C22-F7A12AEC8161}"/>
              </a:ext>
            </a:extLst>
          </p:cNvPr>
          <p:cNvSpPr>
            <a:spLocks xmlns:a="http://schemas.openxmlformats.org/drawingml/2006/main" noGrp="1"/>
          </p:cNvSpPr>
          <p:nvPr/>
        </p:nvSpPr>
        <p:spPr>
          <a:xfrm xmlns:a="http://schemas.openxmlformats.org/drawingml/2006/main">
            <a:off x="3476625" y="4905375"/>
            <a:ext cx="238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ctr">
              <a:lnSpc>
                <a:spcPct val="112000"/>
              </a:lnSpc>
              <a:buNone/>
              <a:defRPr sz="1425" b="0">
                <a:solidFill>
                  <a:srgbClr val="18202C"/>
                </a:solidFill>
                <a:latin typeface="Avenir Next"/>
                <a:ea typeface="Avenir Next"/>
                <a:cs typeface="Avenir Next"/>
              </a:defRPr>
            </a:pPr>
            <a:r>
              <a:rPr sz="1425" b="0">
                <a:solidFill>
                  <a:srgbClr val="18202C"/>
                </a:solidFill>
                <a:latin typeface="Avenir Next"/>
                <a:ea typeface="Avenir Next"/>
                <a:cs typeface="Avenir Next"/>
              </a:rPr>
              <a:t>A safe waiting line</a:t>
            </a:r>
          </a:p>
        </p:txBody>
      </p:sp>
      <p:sp>
        <p:nvSpPr>
          <p:cNvPr id="15" name="">
            <a:extLst xmlns:a="http://schemas.openxmlformats.org/drawingml/2006/main">
              <a:ext uri="{FF2B5EF4-FFF2-40B4-BE49-F238E27FC236}">
                <a16:creationId xmlns:a16="http://schemas.microsoft.com/office/drawing/2014/main" id="{8E176230-BF77-4E32-B95C-645653D17ABB}"/>
              </a:ext>
            </a:extLst>
          </p:cNvPr>
          <p:cNvSpPr>
            <a:spLocks xmlns:a="http://schemas.openxmlformats.org/drawingml/2006/main" noGrp="1"/>
          </p:cNvSpPr>
          <p:nvPr/>
        </p:nvSpPr>
        <p:spPr>
          <a:xfrm xmlns:a="http://schemas.openxmlformats.org/drawingml/2006/main">
            <a:off x="6286500" y="4476750"/>
            <a:ext cx="238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ctr">
              <a:lnSpc>
                <a:spcPct val="106000"/>
              </a:lnSpc>
              <a:buNone/>
              <a:defRPr sz="1725" b="1">
                <a:solidFill>
                  <a:srgbClr val="C94710"/>
                </a:solidFill>
                <a:latin typeface="Avenir Next"/>
                <a:ea typeface="Avenir Next"/>
                <a:cs typeface="Avenir Next"/>
              </a:defRPr>
            </a:pPr>
            <a:r>
              <a:rPr sz="1725" b="1">
                <a:solidFill>
                  <a:srgbClr val="C94710"/>
                </a:solidFill>
                <a:latin typeface="Avenir Next"/>
                <a:ea typeface="Avenir Next"/>
                <a:cs typeface="Avenir Next"/>
              </a:rPr>
              <a:t>Worker</a:t>
            </a:r>
          </a:p>
        </p:txBody>
      </p:sp>
      <p:sp>
        <p:nvSpPr>
          <p:cNvPr id="16" name="">
            <a:extLst xmlns:a="http://schemas.openxmlformats.org/drawingml/2006/main">
              <a:ext uri="{FF2B5EF4-FFF2-40B4-BE49-F238E27FC236}">
                <a16:creationId xmlns:a16="http://schemas.microsoft.com/office/drawing/2014/main" id="{D15907F4-D02C-435E-8E2A-259A1915EF99}"/>
              </a:ext>
            </a:extLst>
          </p:cNvPr>
          <p:cNvSpPr>
            <a:spLocks xmlns:a="http://schemas.openxmlformats.org/drawingml/2006/main" noGrp="1"/>
          </p:cNvSpPr>
          <p:nvPr/>
        </p:nvSpPr>
        <p:spPr>
          <a:xfrm xmlns:a="http://schemas.openxmlformats.org/drawingml/2006/main">
            <a:off x="6286500" y="4905375"/>
            <a:ext cx="238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ctr">
              <a:lnSpc>
                <a:spcPct val="112000"/>
              </a:lnSpc>
              <a:buNone/>
              <a:defRPr sz="1425" b="0">
                <a:solidFill>
                  <a:srgbClr val="18202C"/>
                </a:solidFill>
                <a:latin typeface="Avenir Next"/>
                <a:ea typeface="Avenir Next"/>
                <a:cs typeface="Avenir Next"/>
              </a:defRPr>
            </a:pPr>
            <a:r>
              <a:rPr sz="1425" b="0">
                <a:solidFill>
                  <a:srgbClr val="18202C"/>
                </a:solidFill>
                <a:latin typeface="Avenir Next"/>
                <a:ea typeface="Avenir Next"/>
                <a:cs typeface="Avenir Next"/>
              </a:rPr>
              <a:t>A service that does the job</a:t>
            </a:r>
          </a:p>
        </p:txBody>
      </p:sp>
      <p:sp>
        <p:nvSpPr>
          <p:cNvPr id="17" name="">
            <a:extLst xmlns:a="http://schemas.openxmlformats.org/drawingml/2006/main">
              <a:ext uri="{FF2B5EF4-FFF2-40B4-BE49-F238E27FC236}">
                <a16:creationId xmlns:a16="http://schemas.microsoft.com/office/drawing/2014/main" id="{DB839559-E184-4344-B37A-751EF9E121C7}"/>
              </a:ext>
            </a:extLst>
          </p:cNvPr>
          <p:cNvSpPr>
            <a:spLocks xmlns:a="http://schemas.openxmlformats.org/drawingml/2006/main" noGrp="1"/>
          </p:cNvSpPr>
          <p:nvPr/>
        </p:nvSpPr>
        <p:spPr>
          <a:xfrm xmlns:a="http://schemas.openxmlformats.org/drawingml/2006/main">
            <a:off x="9096375" y="4476750"/>
            <a:ext cx="238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ctr">
              <a:lnSpc>
                <a:spcPct val="106000"/>
              </a:lnSpc>
              <a:buNone/>
              <a:defRPr sz="1725" b="1">
                <a:solidFill>
                  <a:srgbClr val="C94710"/>
                </a:solidFill>
                <a:latin typeface="Avenir Next"/>
                <a:ea typeface="Avenir Next"/>
                <a:cs typeface="Avenir Next"/>
              </a:defRPr>
            </a:pPr>
            <a:r>
              <a:rPr sz="1725" b="1">
                <a:solidFill>
                  <a:srgbClr val="C94710"/>
                </a:solidFill>
                <a:latin typeface="Avenir Next"/>
                <a:ea typeface="Avenir Next"/>
                <a:cs typeface="Avenir Next"/>
              </a:rPr>
              <a:t>Acknowledgement</a:t>
            </a:r>
          </a:p>
        </p:txBody>
      </p:sp>
      <p:sp>
        <p:nvSpPr>
          <p:cNvPr id="18" name="">
            <a:extLst xmlns:a="http://schemas.openxmlformats.org/drawingml/2006/main">
              <a:ext uri="{FF2B5EF4-FFF2-40B4-BE49-F238E27FC236}">
                <a16:creationId xmlns:a16="http://schemas.microsoft.com/office/drawing/2014/main" id="{26885E12-6815-4245-B8B7-80FF035684BE}"/>
              </a:ext>
            </a:extLst>
          </p:cNvPr>
          <p:cNvSpPr>
            <a:spLocks xmlns:a="http://schemas.openxmlformats.org/drawingml/2006/main" noGrp="1"/>
          </p:cNvSpPr>
          <p:nvPr/>
        </p:nvSpPr>
        <p:spPr>
          <a:xfrm xmlns:a="http://schemas.openxmlformats.org/drawingml/2006/main">
            <a:off x="9096375" y="4905375"/>
            <a:ext cx="238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ctr">
              <a:lnSpc>
                <a:spcPct val="112000"/>
              </a:lnSpc>
              <a:buNone/>
              <a:defRPr sz="1425" b="0">
                <a:solidFill>
                  <a:srgbClr val="18202C"/>
                </a:solidFill>
                <a:latin typeface="Avenir Next"/>
                <a:ea typeface="Avenir Next"/>
                <a:cs typeface="Avenir Next"/>
              </a:defRPr>
            </a:pPr>
            <a:r>
              <a:rPr sz="1425" b="0">
                <a:solidFill>
                  <a:srgbClr val="18202C"/>
                </a:solidFill>
                <a:latin typeface="Avenir Next"/>
                <a:ea typeface="Avenir Next"/>
                <a:cs typeface="Avenir Next"/>
              </a:rPr>
              <a:t>The worker says “done”</a:t>
            </a:r>
          </a:p>
        </p:txBody>
      </p:sp>
      <p:sp>
        <p:nvSpPr>
          <p:cNvPr id="19" name="">
            <a:extLst xmlns:a="http://schemas.openxmlformats.org/drawingml/2006/main">
              <a:ext uri="{FF2B5EF4-FFF2-40B4-BE49-F238E27FC236}">
                <a16:creationId xmlns:a16="http://schemas.microsoft.com/office/drawing/2014/main" id="{7B409E0C-B8F7-4D2B-AB14-BCAAAF160FB7}"/>
              </a:ext>
            </a:extLst>
          </p:cNvPr>
          <p:cNvSpPr>
            <a:spLocks xmlns:a="http://schemas.openxmlformats.org/drawingml/2006/main" noGrp="1"/>
          </p:cNvSpPr>
          <p:nvPr/>
        </p:nvSpPr>
        <p:spPr>
          <a:xfrm xmlns:a="http://schemas.openxmlformats.org/drawingml/2006/main">
            <a:off x="2714625" y="5857875"/>
            <a:ext cx="6762750" cy="457200"/>
          </a:xfrm>
          <a:prstGeom xmlns:a="http://schemas.openxmlformats.org/drawingml/2006/main" prst="roundRect">
            <a:avLst>
              <a:gd name="adj" fmla="val 25000"/>
            </a:avLst>
          </a:prstGeom>
          <a:solidFill xmlns:a="http://schemas.openxmlformats.org/drawingml/2006/main">
            <a:srgbClr val="F6E7B0"/>
          </a:solidFill>
          <a:ln xmlns:a="http://schemas.openxmlformats.org/drawingml/2006/main" w="9525">
            <a:solidFill>
              <a:srgbClr val="D7BC58"/>
            </a:solidFill>
          </a:ln>
        </p:spPr>
        <p:txBody>
          <a:bodyPr xmlns:a="http://schemas.openxmlformats.org/drawingml/2006/main" wrap="square" lIns="95250" tIns="76200" rIns="95250" bIns="76200" anchor="ctr">
            <a:normAutofit fontScale="100000"/>
          </a:bodyPr>
          <a:lstStyle xmlns:a="http://schemas.openxmlformats.org/drawingml/2006/main"/>
          <a:p xmlns:a="http://schemas.openxmlformats.org/drawingml/2006/main">
            <a:pPr algn="ctr">
              <a:lnSpc>
                <a:spcPct val="100000"/>
              </a:lnSpc>
              <a:buNone/>
              <a:defRPr sz="1500" b="1">
                <a:solidFill>
                  <a:srgbClr val="142B4A"/>
                </a:solidFill>
                <a:latin typeface="Avenir Next"/>
                <a:ea typeface="Avenir Next"/>
                <a:cs typeface="Avenir Next"/>
              </a:defRPr>
            </a:pPr>
            <a:r>
              <a:rPr sz="1500" b="1">
                <a:solidFill>
                  <a:srgbClr val="142B4A"/>
                </a:solidFill>
                <a:latin typeface="Avenir Next"/>
                <a:ea typeface="Avenir Next"/>
                <a:cs typeface="Avenir Next"/>
              </a:rPr>
              <a:t>If a worker stops, the message stays in the queue.</a:t>
            </a:r>
          </a:p>
        </p:txBody>
      </p:sp>
    </p:spTree>
    <p:extLst>
      <p:ext uri="{BB962C8B-B14F-4D97-AF65-F5344CB8AC3E}">
        <p14:creationId xmlns:p14="http://schemas.microsoft.com/office/powerpoint/2010/main" val="1222396581"/>
      </p:ext>
    </p:extLst>
  </p:cSld>
</p:sld>
</file>

<file path=ppt/slides/slide4.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BBB3C8C2-AF68-451F-8215-FE1C9AFF57AA}"/>
              </a:ext>
            </a:extLst>
          </p:cNvPr>
          <p:cNvSpPr>
            <a:spLocks xmlns:a="http://schemas.openxmlformats.org/drawingml/2006/main" noGrp="1"/>
          </p:cNvSpPr>
          <p:nvPr/>
        </p:nvSpPr>
        <p:spPr>
          <a:xfrm xmlns:a="http://schemas.openxmlformats.org/drawingml/2006/main">
            <a:off x="552450" y="342900"/>
            <a:ext cx="10287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95071"/>
          </a:bodyPr>
          <a:lstStyle xmlns:a="http://schemas.openxmlformats.org/drawingml/2006/main"/>
          <a:p xmlns:a="http://schemas.openxmlformats.org/drawingml/2006/main">
            <a:pPr algn="l">
              <a:lnSpc>
                <a:spcPct val="106000"/>
              </a:lnSpc>
              <a:buNone/>
              <a:defRPr sz="3225" b="1">
                <a:solidFill>
                  <a:srgbClr val="18202C"/>
                </a:solidFill>
                <a:latin typeface="Avenir Next"/>
                <a:ea typeface="Avenir Next"/>
                <a:cs typeface="Avenir Next"/>
              </a:defRPr>
            </a:pPr>
            <a:r>
              <a:rPr sz="3225" b="1">
                <a:solidFill>
                  <a:srgbClr val="18202C"/>
                </a:solidFill>
                <a:latin typeface="Avenir Next"/>
                <a:ea typeface="Avenir Next"/>
                <a:cs typeface="Avenir Next"/>
              </a:rPr>
              <a:t>The proposed solution</a:t>
            </a:r>
          </a:p>
        </p:txBody>
      </p:sp>
      <p:sp>
        <p:nvSpPr>
          <p:cNvPr id="2" name="">
            <a:extLst xmlns:a="http://schemas.openxmlformats.org/drawingml/2006/main">
              <a:ext uri="{FF2B5EF4-FFF2-40B4-BE49-F238E27FC236}">
                <a16:creationId xmlns:a16="http://schemas.microsoft.com/office/drawing/2014/main" id="{8314F0C5-D732-4AE3-8D78-7282D3645DC8}"/>
              </a:ext>
            </a:extLst>
          </p:cNvPr>
          <p:cNvSpPr>
            <a:spLocks xmlns:a="http://schemas.openxmlformats.org/drawingml/2006/main" noGrp="1"/>
          </p:cNvSpPr>
          <p:nvPr/>
        </p:nvSpPr>
        <p:spPr>
          <a:xfrm xmlns:a="http://schemas.openxmlformats.org/drawingml/2006/main">
            <a:off x="571500" y="914400"/>
            <a:ext cx="1028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06000"/>
              </a:lnSpc>
              <a:buNone/>
              <a:defRPr sz="1500" b="0">
                <a:solidFill>
                  <a:srgbClr val="627083"/>
                </a:solidFill>
                <a:latin typeface="Avenir Next"/>
                <a:ea typeface="Avenir Next"/>
                <a:cs typeface="Avenir Next"/>
              </a:defRPr>
            </a:pPr>
            <a:r>
              <a:rPr sz="1500" b="0">
                <a:solidFill>
                  <a:srgbClr val="627083"/>
                </a:solidFill>
                <a:latin typeface="Avenir Next"/>
                <a:ea typeface="Avenir Next"/>
                <a:cs typeface="Avenir Next"/>
              </a:rPr>
              <a:t>The API records the order, publishes one event, and releases the customer</a:t>
            </a:r>
          </a:p>
        </p:txBody>
      </p:sp>
      <p:sp>
        <p:nvSpPr>
          <p:cNvPr id="3" name="">
            <a:extLst xmlns:a="http://schemas.openxmlformats.org/drawingml/2006/main">
              <a:ext uri="{FF2B5EF4-FFF2-40B4-BE49-F238E27FC236}">
                <a16:creationId xmlns:a16="http://schemas.microsoft.com/office/drawing/2014/main" id="{32353AB5-68C3-4B2D-8973-457A552B3D73}"/>
              </a:ext>
            </a:extLst>
          </p:cNvPr>
          <p:cNvSpPr>
            <a:spLocks xmlns:a="http://schemas.openxmlformats.org/drawingml/2006/main" noGrp="1"/>
          </p:cNvSpPr>
          <p:nvPr/>
        </p:nvSpPr>
        <p:spPr>
          <a:xfrm xmlns:a="http://schemas.openxmlformats.org/drawingml/2006/main">
            <a:off x="533400" y="1295400"/>
            <a:ext cx="11125200" cy="47625"/>
          </a:xfrm>
          <a:prstGeom xmlns:a="http://schemas.openxmlformats.org/drawingml/2006/main" prst="rect">
            <a:avLst/>
          </a:prstGeom>
          <a:solidFill xmlns:a="http://schemas.openxmlformats.org/drawingml/2006/main">
            <a:srgbClr val="F36B21"/>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242057D-F847-4086-839D-770EC7411A91}"/>
              </a:ext>
            </a:extLst>
          </p:cNvPr>
          <p:cNvSpPr>
            <a:spLocks xmlns:a="http://schemas.openxmlformats.org/drawingml/2006/main" noGrp="1"/>
          </p:cNvSpPr>
          <p:nvPr/>
        </p:nvSpPr>
        <p:spPr>
          <a:xfrm xmlns:a="http://schemas.openxmlformats.org/drawingml/2006/main">
            <a:off x="10382250" y="6619875"/>
            <a:ext cx="7239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91719"/>
          </a:bodyPr>
          <a:lstStyle xmlns:a="http://schemas.openxmlformats.org/drawingml/2006/main"/>
          <a:p xmlns:a="http://schemas.openxmlformats.org/drawingml/2006/main">
            <a:pPr algn="r">
              <a:lnSpc>
                <a:spcPct val="106000"/>
              </a:lnSpc>
              <a:buNone/>
              <a:defRPr sz="900" b="1">
                <a:solidFill>
                  <a:srgbClr val="627083"/>
                </a:solidFill>
                <a:latin typeface="Avenir Next"/>
                <a:ea typeface="Avenir Next"/>
                <a:cs typeface="Avenir Next"/>
              </a:defRPr>
            </a:pPr>
            <a:r>
              <a:rPr sz="900" b="1">
                <a:solidFill>
                  <a:srgbClr val="627083"/>
                </a:solidFill>
                <a:latin typeface="Avenir Next"/>
                <a:ea typeface="Avenir Next"/>
                <a:cs typeface="Avenir Next"/>
              </a:rPr>
              <a:t>P2</a:t>
            </a:r>
          </a:p>
        </p:txBody>
      </p:sp>
      <p:sp>
        <p:nvSpPr>
          <p:cNvPr id="5" name="">
            <a:extLst xmlns:a="http://schemas.openxmlformats.org/drawingml/2006/main">
              <a:ext uri="{FF2B5EF4-FFF2-40B4-BE49-F238E27FC236}">
                <a16:creationId xmlns:a16="http://schemas.microsoft.com/office/drawing/2014/main" id="{6C306DDA-FD13-460A-85C0-BF53A7C4B70E}"/>
              </a:ext>
            </a:extLst>
          </p:cNvPr>
          <p:cNvSpPr>
            <a:spLocks xmlns:a="http://schemas.openxmlformats.org/drawingml/2006/main" noGrp="1"/>
          </p:cNvSpPr>
          <p:nvPr/>
        </p:nvSpPr>
        <p:spPr>
          <a:xfrm xmlns:a="http://schemas.openxmlformats.org/drawingml/2006/main">
            <a:off x="11191875" y="6619875"/>
            <a:ext cx="4286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91719"/>
          </a:bodyPr>
          <a:lstStyle xmlns:a="http://schemas.openxmlformats.org/drawingml/2006/main"/>
          <a:p xmlns:a="http://schemas.openxmlformats.org/drawingml/2006/main">
            <a:pPr algn="r">
              <a:lnSpc>
                <a:spcPct val="106000"/>
              </a:lnSpc>
              <a:buNone/>
              <a:defRPr sz="900" b="0">
                <a:solidFill>
                  <a:srgbClr val="627083"/>
                </a:solidFill>
                <a:latin typeface="Avenir Next"/>
                <a:ea typeface="Avenir Next"/>
                <a:cs typeface="Avenir Next"/>
              </a:defRPr>
            </a:pPr>
            <a:r>
              <a:rPr sz="900" b="0">
                <a:solidFill>
                  <a:srgbClr val="627083"/>
                </a:solidFill>
                <a:latin typeface="Avenir Next"/>
                <a:ea typeface="Avenir Next"/>
                <a:cs typeface="Avenir Next"/>
              </a:rPr>
              <a:t>04</a:t>
            </a:r>
          </a:p>
        </p:txBody>
      </p:sp>
      <p:sp>
        <p:nvSpPr>
          <p:cNvPr id="6" name="">
            <a:extLst xmlns:a="http://schemas.openxmlformats.org/drawingml/2006/main">
              <a:ext uri="{FF2B5EF4-FFF2-40B4-BE49-F238E27FC236}">
                <a16:creationId xmlns:a16="http://schemas.microsoft.com/office/drawing/2014/main" id="{D706BF23-5084-4183-B623-68F002CF4A9B}"/>
              </a:ext>
            </a:extLst>
          </p:cNvPr>
          <p:cNvSpPr>
            <a:spLocks xmlns:a="http://schemas.openxmlformats.org/drawingml/2006/main" noGrp="1"/>
          </p:cNvSpPr>
          <p:nvPr/>
        </p:nvSpPr>
        <p:spPr>
          <a:xfrm xmlns:a="http://schemas.openxmlformats.org/drawingml/2006/main">
            <a:off x="619125" y="2190750"/>
            <a:ext cx="2190750" cy="1143000"/>
          </a:xfrm>
          <a:prstGeom xmlns:a="http://schemas.openxmlformats.org/drawingml/2006/main" prst="roundRect">
            <a:avLst>
              <a:gd name="adj" fmla="val 10000"/>
            </a:avLst>
          </a:prstGeom>
          <a:solidFill xmlns:a="http://schemas.openxmlformats.org/drawingml/2006/main">
            <a:srgbClr val="DDEBFA"/>
          </a:solidFill>
          <a:ln xmlns:a="http://schemas.openxmlformats.org/drawingml/2006/main" w="14288">
            <a:solidFill>
              <a:srgbClr val="C7D0DA"/>
            </a:solidFill>
          </a:ln>
        </p:spPr>
        <p:txBody>
          <a:bodyPr xmlns:a="http://schemas.openxmlformats.org/drawingml/2006/main" wrap="square" lIns="95250" tIns="76200" rIns="95250" bIns="76200" anchor="ctr">
            <a:normAutofit fontScale="100000"/>
          </a:bodyPr>
          <a:lstStyle xmlns:a="http://schemas.openxmlformats.org/drawingml/2006/main"/>
          <a:p xmlns:a="http://schemas.openxmlformats.org/drawingml/2006/main">
            <a:pPr algn="ctr">
              <a:lnSpc>
                <a:spcPct val="100000"/>
              </a:lnSpc>
              <a:buNone/>
              <a:defRPr sz="1725" b="1">
                <a:solidFill>
                  <a:srgbClr val="142B4A"/>
                </a:solidFill>
                <a:latin typeface="Avenir Next"/>
                <a:ea typeface="Avenir Next"/>
                <a:cs typeface="Avenir Next"/>
              </a:defRPr>
            </a:pPr>
            <a:r>
              <a:rPr sz="1725" b="1">
                <a:solidFill>
                  <a:srgbClr val="142B4A"/>
                </a:solidFill>
                <a:latin typeface="Avenir Next"/>
                <a:ea typeface="Avenir Next"/>
                <a:cs typeface="Avenir Next"/>
              </a:rPr>
              <a:t>1</a:t>
            </a:r>
          </a:p>
          <a:p xmlns:a="http://schemas.openxmlformats.org/drawingml/2006/main">
            <a:pPr algn="ctr">
              <a:lnSpc>
                <a:spcPct val="100000"/>
              </a:lnSpc>
              <a:buNone/>
              <a:defRPr sz="1725" b="1">
                <a:solidFill>
                  <a:srgbClr val="142B4A"/>
                </a:solidFill>
                <a:latin typeface="Avenir Next"/>
                <a:ea typeface="Avenir Next"/>
                <a:cs typeface="Avenir Next"/>
              </a:defRPr>
            </a:pPr>
            <a:r>
              <a:rPr sz="1725" b="1">
                <a:solidFill>
                  <a:srgbClr val="142B4A"/>
                </a:solidFill>
                <a:latin typeface="Avenir Next"/>
                <a:ea typeface="Avenir Next"/>
                <a:cs typeface="Avenir Next"/>
              </a:rPr>
              <a:t>Check the order</a:t>
            </a:r>
          </a:p>
        </p:txBody>
      </p:sp>
      <p:sp>
        <p:nvSpPr>
          <p:cNvPr id="7" name="">
            <a:extLst xmlns:a="http://schemas.openxmlformats.org/drawingml/2006/main">
              <a:ext uri="{FF2B5EF4-FFF2-40B4-BE49-F238E27FC236}">
                <a16:creationId xmlns:a16="http://schemas.microsoft.com/office/drawing/2014/main" id="{8ED1642F-2CDF-4A0D-9F4B-79FE8BCBD5A6}"/>
              </a:ext>
            </a:extLst>
          </p:cNvPr>
          <p:cNvSpPr>
            <a:spLocks xmlns:a="http://schemas.openxmlformats.org/drawingml/2006/main" noGrp="1"/>
          </p:cNvSpPr>
          <p:nvPr/>
        </p:nvSpPr>
        <p:spPr>
          <a:xfrm xmlns:a="http://schemas.openxmlformats.org/drawingml/2006/main">
            <a:off x="3381375" y="2190750"/>
            <a:ext cx="2190750" cy="1143000"/>
          </a:xfrm>
          <a:prstGeom xmlns:a="http://schemas.openxmlformats.org/drawingml/2006/main" prst="roundRect">
            <a:avLst>
              <a:gd name="adj" fmla="val 10000"/>
            </a:avLst>
          </a:prstGeom>
          <a:solidFill xmlns:a="http://schemas.openxmlformats.org/drawingml/2006/main">
            <a:srgbClr val="EDE4F7"/>
          </a:solidFill>
          <a:ln xmlns:a="http://schemas.openxmlformats.org/drawingml/2006/main" w="14288">
            <a:solidFill>
              <a:srgbClr val="C7D0DA"/>
            </a:solidFill>
          </a:ln>
        </p:spPr>
        <p:txBody>
          <a:bodyPr xmlns:a="http://schemas.openxmlformats.org/drawingml/2006/main" wrap="square" lIns="95250" tIns="76200" rIns="95250" bIns="76200" anchor="ctr">
            <a:normAutofit fontScale="100000"/>
          </a:bodyPr>
          <a:lstStyle xmlns:a="http://schemas.openxmlformats.org/drawingml/2006/main"/>
          <a:p xmlns:a="http://schemas.openxmlformats.org/drawingml/2006/main">
            <a:pPr algn="ctr">
              <a:lnSpc>
                <a:spcPct val="100000"/>
              </a:lnSpc>
              <a:buNone/>
              <a:defRPr sz="1725" b="1">
                <a:solidFill>
                  <a:srgbClr val="142B4A"/>
                </a:solidFill>
                <a:latin typeface="Avenir Next"/>
                <a:ea typeface="Avenir Next"/>
                <a:cs typeface="Avenir Next"/>
              </a:defRPr>
            </a:pPr>
            <a:r>
              <a:rPr sz="1725" b="1">
                <a:solidFill>
                  <a:srgbClr val="142B4A"/>
                </a:solidFill>
                <a:latin typeface="Avenir Next"/>
                <a:ea typeface="Avenir Next"/>
                <a:cs typeface="Avenir Next"/>
              </a:rPr>
              <a:t>2</a:t>
            </a:r>
          </a:p>
          <a:p xmlns:a="http://schemas.openxmlformats.org/drawingml/2006/main">
            <a:pPr algn="ctr">
              <a:lnSpc>
                <a:spcPct val="100000"/>
              </a:lnSpc>
              <a:buNone/>
              <a:defRPr sz="1725" b="1">
                <a:solidFill>
                  <a:srgbClr val="142B4A"/>
                </a:solidFill>
                <a:latin typeface="Avenir Next"/>
                <a:ea typeface="Avenir Next"/>
                <a:cs typeface="Avenir Next"/>
              </a:defRPr>
            </a:pPr>
            <a:r>
              <a:rPr sz="1725" b="1">
                <a:solidFill>
                  <a:srgbClr val="142B4A"/>
                </a:solidFill>
                <a:latin typeface="Avenir Next"/>
                <a:ea typeface="Avenir Next"/>
                <a:cs typeface="Avenir Next"/>
              </a:rPr>
              <a:t>Save PENDING</a:t>
            </a:r>
          </a:p>
        </p:txBody>
      </p:sp>
      <p:sp>
        <p:nvSpPr>
          <p:cNvPr id="8" name="">
            <a:extLst xmlns:a="http://schemas.openxmlformats.org/drawingml/2006/main">
              <a:ext uri="{FF2B5EF4-FFF2-40B4-BE49-F238E27FC236}">
                <a16:creationId xmlns:a16="http://schemas.microsoft.com/office/drawing/2014/main" id="{7D01BBDB-C233-44CB-9648-F6BB79387CCB}"/>
              </a:ext>
            </a:extLst>
          </p:cNvPr>
          <p:cNvSpPr>
            <a:spLocks xmlns:a="http://schemas.openxmlformats.org/drawingml/2006/main" noGrp="1"/>
          </p:cNvSpPr>
          <p:nvPr/>
        </p:nvSpPr>
        <p:spPr>
          <a:xfrm xmlns:a="http://schemas.openxmlformats.org/drawingml/2006/main">
            <a:off x="6143625" y="2190750"/>
            <a:ext cx="2190750" cy="1143000"/>
          </a:xfrm>
          <a:prstGeom xmlns:a="http://schemas.openxmlformats.org/drawingml/2006/main" prst="roundRect">
            <a:avLst>
              <a:gd name="adj" fmla="val 10000"/>
            </a:avLst>
          </a:prstGeom>
          <a:solidFill xmlns:a="http://schemas.openxmlformats.org/drawingml/2006/main">
            <a:srgbClr val="FCE4D6"/>
          </a:solidFill>
          <a:ln xmlns:a="http://schemas.openxmlformats.org/drawingml/2006/main" w="19050">
            <a:solidFill>
              <a:srgbClr val="F36B21"/>
            </a:solidFill>
          </a:ln>
        </p:spPr>
        <p:txBody>
          <a:bodyPr xmlns:a="http://schemas.openxmlformats.org/drawingml/2006/main" wrap="square" lIns="95250" tIns="76200" rIns="95250" bIns="76200" anchor="ctr">
            <a:normAutofit fontScale="100000"/>
          </a:bodyPr>
          <a:lstStyle xmlns:a="http://schemas.openxmlformats.org/drawingml/2006/main"/>
          <a:p xmlns:a="http://schemas.openxmlformats.org/drawingml/2006/main">
            <a:pPr algn="ctr">
              <a:lnSpc>
                <a:spcPct val="100000"/>
              </a:lnSpc>
              <a:buNone/>
              <a:defRPr sz="1725" b="1">
                <a:solidFill>
                  <a:srgbClr val="142B4A"/>
                </a:solidFill>
                <a:latin typeface="Avenir Next"/>
                <a:ea typeface="Avenir Next"/>
                <a:cs typeface="Avenir Next"/>
              </a:defRPr>
            </a:pPr>
            <a:r>
              <a:rPr sz="1725" b="1">
                <a:solidFill>
                  <a:srgbClr val="142B4A"/>
                </a:solidFill>
                <a:latin typeface="Avenir Next"/>
                <a:ea typeface="Avenir Next"/>
                <a:cs typeface="Avenir Next"/>
              </a:rPr>
              <a:t>3</a:t>
            </a:r>
          </a:p>
          <a:p xmlns:a="http://schemas.openxmlformats.org/drawingml/2006/main">
            <a:pPr algn="ctr">
              <a:lnSpc>
                <a:spcPct val="100000"/>
              </a:lnSpc>
              <a:buNone/>
              <a:defRPr sz="1725" b="1">
                <a:solidFill>
                  <a:srgbClr val="142B4A"/>
                </a:solidFill>
                <a:latin typeface="Avenir Next"/>
                <a:ea typeface="Avenir Next"/>
                <a:cs typeface="Avenir Next"/>
              </a:defRPr>
            </a:pPr>
            <a:r>
              <a:rPr sz="1725" b="1">
                <a:solidFill>
                  <a:srgbClr val="142B4A"/>
                </a:solidFill>
                <a:latin typeface="Avenir Next"/>
                <a:ea typeface="Avenir Next"/>
                <a:cs typeface="Avenir Next"/>
              </a:rPr>
              <a:t>Publish event</a:t>
            </a:r>
          </a:p>
        </p:txBody>
      </p:sp>
      <p:sp>
        <p:nvSpPr>
          <p:cNvPr id="9" name="">
            <a:extLst xmlns:a="http://schemas.openxmlformats.org/drawingml/2006/main">
              <a:ext uri="{FF2B5EF4-FFF2-40B4-BE49-F238E27FC236}">
                <a16:creationId xmlns:a16="http://schemas.microsoft.com/office/drawing/2014/main" id="{2677AE43-98E4-43CE-B7ED-4E02BA611BED}"/>
              </a:ext>
            </a:extLst>
          </p:cNvPr>
          <p:cNvSpPr>
            <a:spLocks xmlns:a="http://schemas.openxmlformats.org/drawingml/2006/main" noGrp="1"/>
          </p:cNvSpPr>
          <p:nvPr/>
        </p:nvSpPr>
        <p:spPr>
          <a:xfrm xmlns:a="http://schemas.openxmlformats.org/drawingml/2006/main">
            <a:off x="8905875" y="2190750"/>
            <a:ext cx="2190750" cy="1143000"/>
          </a:xfrm>
          <a:prstGeom xmlns:a="http://schemas.openxmlformats.org/drawingml/2006/main" prst="roundRect">
            <a:avLst>
              <a:gd name="adj" fmla="val 10000"/>
            </a:avLst>
          </a:prstGeom>
          <a:solidFill xmlns:a="http://schemas.openxmlformats.org/drawingml/2006/main">
            <a:srgbClr val="DFF1E3"/>
          </a:solidFill>
          <a:ln xmlns:a="http://schemas.openxmlformats.org/drawingml/2006/main" w="14288">
            <a:solidFill>
              <a:srgbClr val="C7D0DA"/>
            </a:solidFill>
          </a:ln>
        </p:spPr>
        <p:txBody>
          <a:bodyPr xmlns:a="http://schemas.openxmlformats.org/drawingml/2006/main" wrap="square" lIns="95250" tIns="76200" rIns="95250" bIns="76200" anchor="ctr">
            <a:normAutofit fontScale="100000"/>
          </a:bodyPr>
          <a:lstStyle xmlns:a="http://schemas.openxmlformats.org/drawingml/2006/main"/>
          <a:p xmlns:a="http://schemas.openxmlformats.org/drawingml/2006/main">
            <a:pPr algn="ctr">
              <a:lnSpc>
                <a:spcPct val="100000"/>
              </a:lnSpc>
              <a:buNone/>
              <a:defRPr sz="1725" b="1">
                <a:solidFill>
                  <a:srgbClr val="142B4A"/>
                </a:solidFill>
                <a:latin typeface="Avenir Next"/>
                <a:ea typeface="Avenir Next"/>
                <a:cs typeface="Avenir Next"/>
              </a:defRPr>
            </a:pPr>
            <a:r>
              <a:rPr sz="1725" b="1">
                <a:solidFill>
                  <a:srgbClr val="142B4A"/>
                </a:solidFill>
                <a:latin typeface="Avenir Next"/>
                <a:ea typeface="Avenir Next"/>
                <a:cs typeface="Avenir Next"/>
              </a:rPr>
              <a:t>4</a:t>
            </a:r>
          </a:p>
          <a:p xmlns:a="http://schemas.openxmlformats.org/drawingml/2006/main">
            <a:pPr algn="ctr">
              <a:lnSpc>
                <a:spcPct val="100000"/>
              </a:lnSpc>
              <a:buNone/>
              <a:defRPr sz="1725" b="1">
                <a:solidFill>
                  <a:srgbClr val="142B4A"/>
                </a:solidFill>
                <a:latin typeface="Avenir Next"/>
                <a:ea typeface="Avenir Next"/>
                <a:cs typeface="Avenir Next"/>
              </a:defRPr>
            </a:pPr>
            <a:r>
              <a:rPr sz="1725" b="1">
                <a:solidFill>
                  <a:srgbClr val="142B4A"/>
                </a:solidFill>
                <a:latin typeface="Avenir Next"/>
                <a:ea typeface="Avenir Next"/>
                <a:cs typeface="Avenir Next"/>
              </a:rPr>
              <a:t>Return HTTP 202</a:t>
            </a:r>
          </a:p>
        </p:txBody>
      </p:sp>
      <p:cxnSp>
        <p:nvCxnSpPr>
          <p:cNvPr id="27" name=""/>
          <p:cNvCxnSpPr>
            <a:stCxn xmlns:a="http://schemas.openxmlformats.org/drawingml/2006/main" id="6" idx="3"/>
            <a:endCxn xmlns:a="http://schemas.openxmlformats.org/drawingml/2006/main" id="7" idx="1"/>
          </p:cNvCxnSpPr>
          <p:nvPr/>
        </p:nvCxnSpPr>
        <p:spPr>
          <a:xfrm xmlns:a="http://schemas.openxmlformats.org/drawingml/2006/main">
            <a:off x="2809875" y="2762250"/>
            <a:ext cx="571500" cy="0"/>
          </a:xfrm>
          <a:prstGeom xmlns:a="http://schemas.openxmlformats.org/drawingml/2006/main" prst="straightConnector1">
            <a:avLst/>
          </a:prstGeom>
          <a:ln xmlns:a="http://schemas.openxmlformats.org/drawingml/2006/main" w="23813">
            <a:solidFill>
              <a:srgbClr val="142B4A"/>
            </a:solidFill>
            <a:prstDash val="solid"/>
            <a:tailEnd type="triangle" w="sm" len="sm"/>
          </a:ln>
        </p:spPr>
      </p:cxnSp>
      <p:cxnSp>
        <p:nvCxnSpPr>
          <p:cNvPr id="28" name=""/>
          <p:cNvCxnSpPr>
            <a:stCxn xmlns:a="http://schemas.openxmlformats.org/drawingml/2006/main" id="7" idx="3"/>
            <a:endCxn xmlns:a="http://schemas.openxmlformats.org/drawingml/2006/main" id="8" idx="1"/>
          </p:cNvCxnSpPr>
          <p:nvPr/>
        </p:nvCxnSpPr>
        <p:spPr>
          <a:xfrm xmlns:a="http://schemas.openxmlformats.org/drawingml/2006/main">
            <a:off x="5572125" y="2762250"/>
            <a:ext cx="571500" cy="0"/>
          </a:xfrm>
          <a:prstGeom xmlns:a="http://schemas.openxmlformats.org/drawingml/2006/main" prst="straightConnector1">
            <a:avLst/>
          </a:prstGeom>
          <a:ln xmlns:a="http://schemas.openxmlformats.org/drawingml/2006/main" w="23813">
            <a:solidFill>
              <a:srgbClr val="F36B21"/>
            </a:solidFill>
            <a:prstDash val="solid"/>
            <a:tailEnd type="triangle" w="sm" len="sm"/>
          </a:ln>
        </p:spPr>
      </p:cxnSp>
      <p:cxnSp>
        <p:nvCxnSpPr>
          <p:cNvPr id="29" name=""/>
          <p:cNvCxnSpPr>
            <a:stCxn xmlns:a="http://schemas.openxmlformats.org/drawingml/2006/main" id="8" idx="3"/>
            <a:endCxn xmlns:a="http://schemas.openxmlformats.org/drawingml/2006/main" id="9" idx="1"/>
          </p:cNvCxnSpPr>
          <p:nvPr/>
        </p:nvCxnSpPr>
        <p:spPr>
          <a:xfrm xmlns:a="http://schemas.openxmlformats.org/drawingml/2006/main">
            <a:off x="8334375" y="2762250"/>
            <a:ext cx="571500" cy="0"/>
          </a:xfrm>
          <a:prstGeom xmlns:a="http://schemas.openxmlformats.org/drawingml/2006/main" prst="straightConnector1">
            <a:avLst/>
          </a:prstGeom>
          <a:ln xmlns:a="http://schemas.openxmlformats.org/drawingml/2006/main" w="23813">
            <a:solidFill>
              <a:srgbClr val="142B4A"/>
            </a:solidFill>
            <a:prstDash val="solid"/>
            <a:tailEnd type="triangle" w="sm" len="sm"/>
          </a:ln>
        </p:spPr>
      </p:cxnSp>
      <p:sp>
        <p:nvSpPr>
          <p:cNvPr id="13" name="">
            <a:extLst xmlns:a="http://schemas.openxmlformats.org/drawingml/2006/main">
              <a:ext uri="{FF2B5EF4-FFF2-40B4-BE49-F238E27FC236}">
                <a16:creationId xmlns:a16="http://schemas.microsoft.com/office/drawing/2014/main" id="{5E709592-CAD3-4B2E-BD8F-034D829AFE01}"/>
              </a:ext>
            </a:extLst>
          </p:cNvPr>
          <p:cNvSpPr>
            <a:spLocks xmlns:a="http://schemas.openxmlformats.org/drawingml/2006/main" noGrp="1"/>
          </p:cNvSpPr>
          <p:nvPr/>
        </p:nvSpPr>
        <p:spPr>
          <a:xfrm xmlns:a="http://schemas.openxmlformats.org/drawingml/2006/main">
            <a:off x="2476500" y="3905250"/>
            <a:ext cx="7239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ctr">
              <a:lnSpc>
                <a:spcPct val="106000"/>
              </a:lnSpc>
              <a:buNone/>
              <a:defRPr sz="2100" b="1">
                <a:solidFill>
                  <a:srgbClr val="C94710"/>
                </a:solidFill>
                <a:latin typeface="Avenir Next"/>
                <a:ea typeface="Avenir Next"/>
                <a:cs typeface="Avenir Next"/>
              </a:defRPr>
            </a:pPr>
            <a:r>
              <a:rPr sz="2100" b="1">
                <a:solidFill>
                  <a:srgbClr val="C94710"/>
                </a:solidFill>
                <a:latin typeface="Avenir Next"/>
                <a:ea typeface="Avenir Next"/>
                <a:cs typeface="Avenir Next"/>
              </a:rPr>
              <a:t>The response returns before slow work finishes</a:t>
            </a:r>
          </a:p>
        </p:txBody>
      </p:sp>
      <p:sp>
        <p:nvSpPr>
          <p:cNvPr id="14" name="">
            <a:extLst xmlns:a="http://schemas.openxmlformats.org/drawingml/2006/main">
              <a:ext uri="{FF2B5EF4-FFF2-40B4-BE49-F238E27FC236}">
                <a16:creationId xmlns:a16="http://schemas.microsoft.com/office/drawing/2014/main" id="{013D39E4-9321-4C6C-AE26-6EC7409FE0DC}"/>
              </a:ext>
            </a:extLst>
          </p:cNvPr>
          <p:cNvSpPr>
            <a:spLocks xmlns:a="http://schemas.openxmlformats.org/drawingml/2006/main" noGrp="1"/>
          </p:cNvSpPr>
          <p:nvPr/>
        </p:nvSpPr>
        <p:spPr>
          <a:xfrm xmlns:a="http://schemas.openxmlformats.org/drawingml/2006/main">
            <a:off x="1476375" y="5048250"/>
            <a:ext cx="2190750" cy="685800"/>
          </a:xfrm>
          <a:prstGeom xmlns:a="http://schemas.openxmlformats.org/drawingml/2006/main" prst="roundRect">
            <a:avLst>
              <a:gd name="adj" fmla="val 16667"/>
            </a:avLst>
          </a:prstGeom>
          <a:solidFill xmlns:a="http://schemas.openxmlformats.org/drawingml/2006/main">
            <a:srgbClr val="DFF1E3"/>
          </a:solidFill>
          <a:ln xmlns:a="http://schemas.openxmlformats.org/drawingml/2006/main" w="14288">
            <a:solidFill>
              <a:srgbClr val="AAD5B4"/>
            </a:solidFill>
          </a:ln>
        </p:spPr>
        <p:txBody>
          <a:bodyPr xmlns:a="http://schemas.openxmlformats.org/drawingml/2006/main" wrap="square" lIns="95250" tIns="76200" rIns="95250" bIns="76200" anchor="ctr">
            <a:normAutofit fontScale="100000"/>
          </a:bodyPr>
          <a:lstStyle xmlns:a="http://schemas.openxmlformats.org/drawingml/2006/main"/>
          <a:p xmlns:a="http://schemas.openxmlformats.org/drawingml/2006/main">
            <a:pPr algn="ctr">
              <a:lnSpc>
                <a:spcPct val="100000"/>
              </a:lnSpc>
              <a:buNone/>
              <a:defRPr sz="1725" b="1">
                <a:solidFill>
                  <a:srgbClr val="142B4A"/>
                </a:solidFill>
                <a:latin typeface="Avenir Next"/>
                <a:ea typeface="Avenir Next"/>
                <a:cs typeface="Avenir Next"/>
              </a:defRPr>
            </a:pPr>
            <a:r>
              <a:rPr sz="1725" b="1">
                <a:solidFill>
                  <a:srgbClr val="142B4A"/>
                </a:solidFill>
                <a:latin typeface="Avenir Next"/>
                <a:ea typeface="Avenir Next"/>
                <a:cs typeface="Avenir Next"/>
              </a:rPr>
              <a:t>Payment</a:t>
            </a:r>
          </a:p>
        </p:txBody>
      </p:sp>
      <p:sp>
        <p:nvSpPr>
          <p:cNvPr id="15" name="">
            <a:extLst xmlns:a="http://schemas.openxmlformats.org/drawingml/2006/main">
              <a:ext uri="{FF2B5EF4-FFF2-40B4-BE49-F238E27FC236}">
                <a16:creationId xmlns:a16="http://schemas.microsoft.com/office/drawing/2014/main" id="{DB61ED3F-EE4E-472A-A8B9-C86DFFE88D06}"/>
              </a:ext>
            </a:extLst>
          </p:cNvPr>
          <p:cNvSpPr>
            <a:spLocks xmlns:a="http://schemas.openxmlformats.org/drawingml/2006/main" noGrp="1"/>
          </p:cNvSpPr>
          <p:nvPr/>
        </p:nvSpPr>
        <p:spPr>
          <a:xfrm xmlns:a="http://schemas.openxmlformats.org/drawingml/2006/main">
            <a:off x="4857750" y="5048250"/>
            <a:ext cx="2476500" cy="685800"/>
          </a:xfrm>
          <a:prstGeom xmlns:a="http://schemas.openxmlformats.org/drawingml/2006/main" prst="roundRect">
            <a:avLst>
              <a:gd name="adj" fmla="val 16667"/>
            </a:avLst>
          </a:prstGeom>
          <a:solidFill xmlns:a="http://schemas.openxmlformats.org/drawingml/2006/main">
            <a:srgbClr val="DFF1E3"/>
          </a:solidFill>
          <a:ln xmlns:a="http://schemas.openxmlformats.org/drawingml/2006/main" w="14288">
            <a:solidFill>
              <a:srgbClr val="AAD5B4"/>
            </a:solidFill>
          </a:ln>
        </p:spPr>
        <p:txBody>
          <a:bodyPr xmlns:a="http://schemas.openxmlformats.org/drawingml/2006/main" wrap="square" lIns="95250" tIns="76200" rIns="95250" bIns="76200" anchor="ctr">
            <a:normAutofit fontScale="100000"/>
          </a:bodyPr>
          <a:lstStyle xmlns:a="http://schemas.openxmlformats.org/drawingml/2006/main"/>
          <a:p xmlns:a="http://schemas.openxmlformats.org/drawingml/2006/main">
            <a:pPr algn="ctr">
              <a:lnSpc>
                <a:spcPct val="100000"/>
              </a:lnSpc>
              <a:buNone/>
              <a:defRPr sz="1575" b="1">
                <a:solidFill>
                  <a:srgbClr val="142B4A"/>
                </a:solidFill>
                <a:latin typeface="Avenir Next"/>
                <a:ea typeface="Avenir Next"/>
                <a:cs typeface="Avenir Next"/>
              </a:defRPr>
            </a:pPr>
            <a:r>
              <a:rPr sz="1575" b="1">
                <a:solidFill>
                  <a:srgbClr val="142B4A"/>
                </a:solidFill>
                <a:latin typeface="Avenir Next"/>
                <a:ea typeface="Avenir Next"/>
                <a:cs typeface="Avenir Next"/>
              </a:rPr>
              <a:t>Restaurant + inventory</a:t>
            </a:r>
          </a:p>
        </p:txBody>
      </p:sp>
      <p:sp>
        <p:nvSpPr>
          <p:cNvPr id="16" name="">
            <a:extLst xmlns:a="http://schemas.openxmlformats.org/drawingml/2006/main">
              <a:ext uri="{FF2B5EF4-FFF2-40B4-BE49-F238E27FC236}">
                <a16:creationId xmlns:a16="http://schemas.microsoft.com/office/drawing/2014/main" id="{3122EE3B-B730-41CC-B2BD-A8DA06A14C5F}"/>
              </a:ext>
            </a:extLst>
          </p:cNvPr>
          <p:cNvSpPr>
            <a:spLocks xmlns:a="http://schemas.openxmlformats.org/drawingml/2006/main" noGrp="1"/>
          </p:cNvSpPr>
          <p:nvPr/>
        </p:nvSpPr>
        <p:spPr>
          <a:xfrm xmlns:a="http://schemas.openxmlformats.org/drawingml/2006/main">
            <a:off x="8572500" y="5048250"/>
            <a:ext cx="2190750" cy="685800"/>
          </a:xfrm>
          <a:prstGeom xmlns:a="http://schemas.openxmlformats.org/drawingml/2006/main" prst="roundRect">
            <a:avLst>
              <a:gd name="adj" fmla="val 16667"/>
            </a:avLst>
          </a:prstGeom>
          <a:solidFill xmlns:a="http://schemas.openxmlformats.org/drawingml/2006/main">
            <a:srgbClr val="DFF1E3"/>
          </a:solidFill>
          <a:ln xmlns:a="http://schemas.openxmlformats.org/drawingml/2006/main" w="14288">
            <a:solidFill>
              <a:srgbClr val="AAD5B4"/>
            </a:solidFill>
          </a:ln>
        </p:spPr>
        <p:txBody>
          <a:bodyPr xmlns:a="http://schemas.openxmlformats.org/drawingml/2006/main" wrap="square" lIns="95250" tIns="76200" rIns="95250" bIns="76200" anchor="ctr">
            <a:normAutofit fontScale="100000"/>
          </a:bodyPr>
          <a:lstStyle xmlns:a="http://schemas.openxmlformats.org/drawingml/2006/main"/>
          <a:p xmlns:a="http://schemas.openxmlformats.org/drawingml/2006/main">
            <a:pPr algn="ctr">
              <a:lnSpc>
                <a:spcPct val="100000"/>
              </a:lnSpc>
              <a:buNone/>
              <a:defRPr sz="1725" b="1">
                <a:solidFill>
                  <a:srgbClr val="142B4A"/>
                </a:solidFill>
                <a:latin typeface="Avenir Next"/>
                <a:ea typeface="Avenir Next"/>
                <a:cs typeface="Avenir Next"/>
              </a:defRPr>
            </a:pPr>
            <a:r>
              <a:rPr sz="1725" b="1">
                <a:solidFill>
                  <a:srgbClr val="142B4A"/>
                </a:solidFill>
                <a:latin typeface="Avenir Next"/>
                <a:ea typeface="Avenir Next"/>
                <a:cs typeface="Avenir Next"/>
              </a:rPr>
              <a:t>Notifications</a:t>
            </a:r>
          </a:p>
        </p:txBody>
      </p:sp>
      <p:sp>
        <p:nvSpPr>
          <p:cNvPr id="17" name="">
            <a:extLst xmlns:a="http://schemas.openxmlformats.org/drawingml/2006/main">
              <a:ext uri="{FF2B5EF4-FFF2-40B4-BE49-F238E27FC236}">
                <a16:creationId xmlns:a16="http://schemas.microsoft.com/office/drawing/2014/main" id="{545FC002-D3B0-4BCC-9419-A121F42C613E}"/>
              </a:ext>
            </a:extLst>
          </p:cNvPr>
          <p:cNvSpPr>
            <a:spLocks xmlns:a="http://schemas.openxmlformats.org/drawingml/2006/main" noGrp="1"/>
          </p:cNvSpPr>
          <p:nvPr/>
        </p:nvSpPr>
        <p:spPr>
          <a:xfrm xmlns:a="http://schemas.openxmlformats.org/drawingml/2006/main">
            <a:off x="3000375" y="5953125"/>
            <a:ext cx="619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ctr">
              <a:lnSpc>
                <a:spcPct val="106000"/>
              </a:lnSpc>
              <a:buNone/>
              <a:defRPr sz="1575" b="0">
                <a:solidFill>
                  <a:srgbClr val="18202C"/>
                </a:solidFill>
                <a:latin typeface="Avenir Next"/>
                <a:ea typeface="Avenir Next"/>
                <a:cs typeface="Avenir Next"/>
              </a:defRPr>
            </a:pPr>
            <a:r>
              <a:rPr sz="1575" b="0">
                <a:solidFill>
                  <a:srgbClr val="18202C"/>
                </a:solidFill>
                <a:latin typeface="Avenir Next"/>
                <a:ea typeface="Avenir Next"/>
                <a:cs typeface="Avenir Next"/>
              </a:rPr>
              <a:t>RabbitMQ sends the work to independent workers.</a:t>
            </a:r>
          </a:p>
        </p:txBody>
      </p:sp>
    </p:spTree>
    <p:extLst>
      <p:ext uri="{BB962C8B-B14F-4D97-AF65-F5344CB8AC3E}">
        <p14:creationId xmlns:p14="http://schemas.microsoft.com/office/powerpoint/2010/main" val="1238604602"/>
      </p:ext>
    </p:extLst>
  </p:cSld>
</p:sld>
</file>

<file path=ppt/slides/slide5.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E65CBF37-4993-4293-876C-B175E61B5218}"/>
              </a:ext>
            </a:extLst>
          </p:cNvPr>
          <p:cNvSpPr>
            <a:spLocks xmlns:a="http://schemas.openxmlformats.org/drawingml/2006/main" noGrp="1"/>
          </p:cNvSpPr>
          <p:nvPr/>
        </p:nvSpPr>
        <p:spPr>
          <a:xfrm xmlns:a="http://schemas.openxmlformats.org/drawingml/2006/main">
            <a:off x="552450" y="342900"/>
            <a:ext cx="10287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95071"/>
          </a:bodyPr>
          <a:lstStyle xmlns:a="http://schemas.openxmlformats.org/drawingml/2006/main"/>
          <a:p xmlns:a="http://schemas.openxmlformats.org/drawingml/2006/main">
            <a:pPr algn="l">
              <a:lnSpc>
                <a:spcPct val="106000"/>
              </a:lnSpc>
              <a:buNone/>
              <a:defRPr sz="3225" b="1">
                <a:solidFill>
                  <a:srgbClr val="18202C"/>
                </a:solidFill>
                <a:latin typeface="Avenir Next"/>
                <a:ea typeface="Avenir Next"/>
                <a:cs typeface="Avenir Next"/>
              </a:defRPr>
            </a:pPr>
            <a:r>
              <a:rPr sz="3225" b="1">
                <a:solidFill>
                  <a:srgbClr val="18202C"/>
                </a:solidFill>
                <a:latin typeface="Avenir Next"/>
                <a:ea typeface="Avenir Next"/>
                <a:cs typeface="Avenir Next"/>
              </a:rPr>
              <a:t>System architecture</a:t>
            </a:r>
          </a:p>
        </p:txBody>
      </p:sp>
      <p:sp>
        <p:nvSpPr>
          <p:cNvPr id="2" name="">
            <a:extLst xmlns:a="http://schemas.openxmlformats.org/drawingml/2006/main">
              <a:ext uri="{FF2B5EF4-FFF2-40B4-BE49-F238E27FC236}">
                <a16:creationId xmlns:a16="http://schemas.microsoft.com/office/drawing/2014/main" id="{97B68608-7ED7-4B43-8281-F8CEB458733B}"/>
              </a:ext>
            </a:extLst>
          </p:cNvPr>
          <p:cNvSpPr>
            <a:spLocks xmlns:a="http://schemas.openxmlformats.org/drawingml/2006/main" noGrp="1"/>
          </p:cNvSpPr>
          <p:nvPr/>
        </p:nvSpPr>
        <p:spPr>
          <a:xfrm xmlns:a="http://schemas.openxmlformats.org/drawingml/2006/main">
            <a:off x="571500" y="914400"/>
            <a:ext cx="1028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06000"/>
              </a:lnSpc>
              <a:buNone/>
              <a:defRPr sz="1500" b="0">
                <a:solidFill>
                  <a:srgbClr val="627083"/>
                </a:solidFill>
                <a:latin typeface="Avenir Next"/>
                <a:ea typeface="Avenir Next"/>
                <a:cs typeface="Avenir Next"/>
              </a:defRPr>
            </a:pPr>
            <a:r>
              <a:rPr sz="1500" b="0">
                <a:solidFill>
                  <a:srgbClr val="627083"/>
                </a:solidFill>
                <a:latin typeface="Avenir Next"/>
                <a:ea typeface="Avenir Next"/>
                <a:cs typeface="Avenir Next"/>
              </a:rPr>
              <a:t>Architecture at a glance: one broker, three queues, and one database</a:t>
            </a:r>
          </a:p>
        </p:txBody>
      </p:sp>
      <p:sp>
        <p:nvSpPr>
          <p:cNvPr id="3" name="">
            <a:extLst xmlns:a="http://schemas.openxmlformats.org/drawingml/2006/main">
              <a:ext uri="{FF2B5EF4-FFF2-40B4-BE49-F238E27FC236}">
                <a16:creationId xmlns:a16="http://schemas.microsoft.com/office/drawing/2014/main" id="{7D8F62EA-C959-4C66-B889-A845790414E3}"/>
              </a:ext>
            </a:extLst>
          </p:cNvPr>
          <p:cNvSpPr>
            <a:spLocks xmlns:a="http://schemas.openxmlformats.org/drawingml/2006/main" noGrp="1"/>
          </p:cNvSpPr>
          <p:nvPr/>
        </p:nvSpPr>
        <p:spPr>
          <a:xfrm xmlns:a="http://schemas.openxmlformats.org/drawingml/2006/main">
            <a:off x="533400" y="1295400"/>
            <a:ext cx="11125200" cy="47625"/>
          </a:xfrm>
          <a:prstGeom xmlns:a="http://schemas.openxmlformats.org/drawingml/2006/main" prst="rect">
            <a:avLst/>
          </a:prstGeom>
          <a:solidFill xmlns:a="http://schemas.openxmlformats.org/drawingml/2006/main">
            <a:srgbClr val="F36B21"/>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AAE0A52-5C86-4C04-BCD6-426236B2B9CC}"/>
              </a:ext>
            </a:extLst>
          </p:cNvPr>
          <p:cNvSpPr>
            <a:spLocks xmlns:a="http://schemas.openxmlformats.org/drawingml/2006/main" noGrp="1"/>
          </p:cNvSpPr>
          <p:nvPr/>
        </p:nvSpPr>
        <p:spPr>
          <a:xfrm xmlns:a="http://schemas.openxmlformats.org/drawingml/2006/main">
            <a:off x="10382250" y="6619875"/>
            <a:ext cx="7239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91719"/>
          </a:bodyPr>
          <a:lstStyle xmlns:a="http://schemas.openxmlformats.org/drawingml/2006/main"/>
          <a:p xmlns:a="http://schemas.openxmlformats.org/drawingml/2006/main">
            <a:pPr algn="r">
              <a:lnSpc>
                <a:spcPct val="106000"/>
              </a:lnSpc>
              <a:buNone/>
              <a:defRPr sz="900" b="1">
                <a:solidFill>
                  <a:srgbClr val="627083"/>
                </a:solidFill>
                <a:latin typeface="Avenir Next"/>
                <a:ea typeface="Avenir Next"/>
                <a:cs typeface="Avenir Next"/>
              </a:defRPr>
            </a:pPr>
            <a:r>
              <a:rPr sz="900" b="1">
                <a:solidFill>
                  <a:srgbClr val="627083"/>
                </a:solidFill>
                <a:latin typeface="Avenir Next"/>
                <a:ea typeface="Avenir Next"/>
                <a:cs typeface="Avenir Next"/>
              </a:rPr>
              <a:t>P2</a:t>
            </a:r>
          </a:p>
        </p:txBody>
      </p:sp>
      <p:sp>
        <p:nvSpPr>
          <p:cNvPr id="5" name="">
            <a:extLst xmlns:a="http://schemas.openxmlformats.org/drawingml/2006/main">
              <a:ext uri="{FF2B5EF4-FFF2-40B4-BE49-F238E27FC236}">
                <a16:creationId xmlns:a16="http://schemas.microsoft.com/office/drawing/2014/main" id="{E1E139AF-BD6A-4DD7-8CFD-C3EF928C2F8F}"/>
              </a:ext>
            </a:extLst>
          </p:cNvPr>
          <p:cNvSpPr>
            <a:spLocks xmlns:a="http://schemas.openxmlformats.org/drawingml/2006/main" noGrp="1"/>
          </p:cNvSpPr>
          <p:nvPr/>
        </p:nvSpPr>
        <p:spPr>
          <a:xfrm xmlns:a="http://schemas.openxmlformats.org/drawingml/2006/main">
            <a:off x="11191875" y="6619875"/>
            <a:ext cx="4286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91719"/>
          </a:bodyPr>
          <a:lstStyle xmlns:a="http://schemas.openxmlformats.org/drawingml/2006/main"/>
          <a:p xmlns:a="http://schemas.openxmlformats.org/drawingml/2006/main">
            <a:pPr algn="r">
              <a:lnSpc>
                <a:spcPct val="106000"/>
              </a:lnSpc>
              <a:buNone/>
              <a:defRPr sz="900" b="0">
                <a:solidFill>
                  <a:srgbClr val="627083"/>
                </a:solidFill>
                <a:latin typeface="Avenir Next"/>
                <a:ea typeface="Avenir Next"/>
                <a:cs typeface="Avenir Next"/>
              </a:defRPr>
            </a:pPr>
            <a:r>
              <a:rPr sz="900" b="0">
                <a:solidFill>
                  <a:srgbClr val="627083"/>
                </a:solidFill>
                <a:latin typeface="Avenir Next"/>
                <a:ea typeface="Avenir Next"/>
                <a:cs typeface="Avenir Next"/>
              </a:rPr>
              <a:t>05</a:t>
            </a:r>
          </a:p>
        </p:txBody>
      </p:sp>
      <p:sp>
        <p:nvSpPr>
          <p:cNvPr id="6" name="">
            <a:extLst xmlns:a="http://schemas.openxmlformats.org/drawingml/2006/main">
              <a:ext uri="{FF2B5EF4-FFF2-40B4-BE49-F238E27FC236}">
                <a16:creationId xmlns:a16="http://schemas.microsoft.com/office/drawing/2014/main" id="{E8FCD1D5-AF6E-4499-A12C-EE631288D8B9}"/>
              </a:ext>
            </a:extLst>
          </p:cNvPr>
          <p:cNvSpPr>
            <a:spLocks xmlns:a="http://schemas.openxmlformats.org/drawingml/2006/main" noGrp="1"/>
          </p:cNvSpPr>
          <p:nvPr/>
        </p:nvSpPr>
        <p:spPr>
          <a:xfrm xmlns:a="http://schemas.openxmlformats.org/drawingml/2006/main">
            <a:off x="381000" y="2619375"/>
            <a:ext cx="1190625" cy="685800"/>
          </a:xfrm>
          <a:prstGeom xmlns:a="http://schemas.openxmlformats.org/drawingml/2006/main" prst="roundRect">
            <a:avLst>
              <a:gd name="adj" fmla="val 16667"/>
            </a:avLst>
          </a:prstGeom>
          <a:solidFill xmlns:a="http://schemas.openxmlformats.org/drawingml/2006/main">
            <a:srgbClr val="DDEBFA"/>
          </a:solidFill>
          <a:ln xmlns:a="http://schemas.openxmlformats.org/drawingml/2006/main" w="14288">
            <a:solidFill>
              <a:srgbClr val="91BCE6"/>
            </a:solidFill>
          </a:ln>
        </p:spPr>
        <p:txBody>
          <a:bodyPr xmlns:a="http://schemas.openxmlformats.org/drawingml/2006/main" wrap="square" lIns="95250" tIns="76200" rIns="95250" bIns="76200" anchor="ctr">
            <a:normAutofit fontScale="100000"/>
          </a:bodyPr>
          <a:lstStyle xmlns:a="http://schemas.openxmlformats.org/drawingml/2006/main"/>
          <a:p xmlns:a="http://schemas.openxmlformats.org/drawingml/2006/main">
            <a:pPr algn="ctr">
              <a:lnSpc>
                <a:spcPct val="100000"/>
              </a:lnSpc>
              <a:buNone/>
              <a:defRPr sz="1425" b="1">
                <a:solidFill>
                  <a:srgbClr val="142B4A"/>
                </a:solidFill>
                <a:latin typeface="Avenir Next"/>
                <a:ea typeface="Avenir Next"/>
                <a:cs typeface="Avenir Next"/>
              </a:defRPr>
            </a:pPr>
            <a:r>
              <a:rPr sz="1425" b="1">
                <a:solidFill>
                  <a:srgbClr val="142B4A"/>
                </a:solidFill>
                <a:latin typeface="Avenir Next"/>
                <a:ea typeface="Avenir Next"/>
                <a:cs typeface="Avenir Next"/>
              </a:rPr>
              <a:t>Customer</a:t>
            </a:r>
          </a:p>
        </p:txBody>
      </p:sp>
      <p:sp>
        <p:nvSpPr>
          <p:cNvPr id="7" name="">
            <a:extLst xmlns:a="http://schemas.openxmlformats.org/drawingml/2006/main">
              <a:ext uri="{FF2B5EF4-FFF2-40B4-BE49-F238E27FC236}">
                <a16:creationId xmlns:a16="http://schemas.microsoft.com/office/drawing/2014/main" id="{FD710508-C11E-4714-9F55-EEDFD273398D}"/>
              </a:ext>
            </a:extLst>
          </p:cNvPr>
          <p:cNvSpPr>
            <a:spLocks xmlns:a="http://schemas.openxmlformats.org/drawingml/2006/main" noGrp="1"/>
          </p:cNvSpPr>
          <p:nvPr/>
        </p:nvSpPr>
        <p:spPr>
          <a:xfrm xmlns:a="http://schemas.openxmlformats.org/drawingml/2006/main">
            <a:off x="2047875" y="2524125"/>
            <a:ext cx="1333500" cy="876300"/>
          </a:xfrm>
          <a:prstGeom xmlns:a="http://schemas.openxmlformats.org/drawingml/2006/main" prst="roundRect">
            <a:avLst>
              <a:gd name="adj" fmla="val 13043"/>
            </a:avLst>
          </a:prstGeom>
          <a:solidFill xmlns:a="http://schemas.openxmlformats.org/drawingml/2006/main">
            <a:srgbClr val="FCE4D6"/>
          </a:solidFill>
          <a:ln xmlns:a="http://schemas.openxmlformats.org/drawingml/2006/main" w="19050">
            <a:solidFill>
              <a:srgbClr val="F36B21"/>
            </a:solidFill>
          </a:ln>
        </p:spPr>
        <p:txBody>
          <a:bodyPr xmlns:a="http://schemas.openxmlformats.org/drawingml/2006/main" wrap="square" lIns="95250" tIns="76200" rIns="95250" bIns="76200" anchor="ctr">
            <a:normAutofit fontScale="100000"/>
          </a:bodyPr>
          <a:lstStyle xmlns:a="http://schemas.openxmlformats.org/drawingml/2006/main"/>
          <a:p xmlns:a="http://schemas.openxmlformats.org/drawingml/2006/main">
            <a:pPr algn="ctr">
              <a:lnSpc>
                <a:spcPct val="100000"/>
              </a:lnSpc>
              <a:buNone/>
              <a:defRPr sz="1725" b="1">
                <a:solidFill>
                  <a:srgbClr val="142B4A"/>
                </a:solidFill>
                <a:latin typeface="Avenir Next"/>
                <a:ea typeface="Avenir Next"/>
                <a:cs typeface="Avenir Next"/>
              </a:defRPr>
            </a:pPr>
            <a:r>
              <a:rPr sz="1725" b="1">
                <a:solidFill>
                  <a:srgbClr val="142B4A"/>
                </a:solidFill>
                <a:latin typeface="Avenir Next"/>
                <a:ea typeface="Avenir Next"/>
                <a:cs typeface="Avenir Next"/>
              </a:rPr>
              <a:t>FastAPI</a:t>
            </a:r>
          </a:p>
        </p:txBody>
      </p:sp>
      <p:sp>
        <p:nvSpPr>
          <p:cNvPr id="8" name="">
            <a:extLst xmlns:a="http://schemas.openxmlformats.org/drawingml/2006/main">
              <a:ext uri="{FF2B5EF4-FFF2-40B4-BE49-F238E27FC236}">
                <a16:creationId xmlns:a16="http://schemas.microsoft.com/office/drawing/2014/main" id="{E64E96A6-B9D3-487F-ABEE-036E0B358FF4}"/>
              </a:ext>
            </a:extLst>
          </p:cNvPr>
          <p:cNvSpPr>
            <a:spLocks xmlns:a="http://schemas.openxmlformats.org/drawingml/2006/main" noGrp="1"/>
          </p:cNvSpPr>
          <p:nvPr/>
        </p:nvSpPr>
        <p:spPr>
          <a:xfrm xmlns:a="http://schemas.openxmlformats.org/drawingml/2006/main">
            <a:off x="4000500" y="2333625"/>
            <a:ext cx="1762125" cy="1257300"/>
          </a:xfrm>
          <a:prstGeom xmlns:a="http://schemas.openxmlformats.org/drawingml/2006/main" prst="roundRect">
            <a:avLst>
              <a:gd name="adj" fmla="val 9091"/>
            </a:avLst>
          </a:prstGeom>
          <a:solidFill xmlns:a="http://schemas.openxmlformats.org/drawingml/2006/main">
            <a:srgbClr val="DDEBFA"/>
          </a:solidFill>
          <a:ln xmlns:a="http://schemas.openxmlformats.org/drawingml/2006/main" w="19050">
            <a:solidFill>
              <a:srgbClr val="142B4A"/>
            </a:solidFill>
          </a:ln>
        </p:spPr>
        <p:txBody>
          <a:bodyPr xmlns:a="http://schemas.openxmlformats.org/drawingml/2006/main" wrap="square" lIns="95250" tIns="76200" rIns="95250" bIns="76200" anchor="ctr">
            <a:normAutofit fontScale="100000"/>
          </a:bodyPr>
          <a:lstStyle xmlns:a="http://schemas.openxmlformats.org/drawingml/2006/main"/>
          <a:p xmlns:a="http://schemas.openxmlformats.org/drawingml/2006/main">
            <a:pPr algn="ctr">
              <a:lnSpc>
                <a:spcPct val="100000"/>
              </a:lnSpc>
              <a:buNone/>
              <a:defRPr sz="1650" b="1">
                <a:solidFill>
                  <a:srgbClr val="142B4A"/>
                </a:solidFill>
                <a:latin typeface="Avenir Next"/>
                <a:ea typeface="Avenir Next"/>
                <a:cs typeface="Avenir Next"/>
              </a:defRPr>
            </a:pPr>
            <a:r>
              <a:rPr sz="1650" b="1">
                <a:solidFill>
                  <a:srgbClr val="142B4A"/>
                </a:solidFill>
                <a:latin typeface="Avenir Next"/>
                <a:ea typeface="Avenir Next"/>
                <a:cs typeface="Avenir Next"/>
              </a:rPr>
              <a:t>RabbitMQ</a:t>
            </a:r>
          </a:p>
          <a:p xmlns:a="http://schemas.openxmlformats.org/drawingml/2006/main">
            <a:pPr algn="ctr">
              <a:lnSpc>
                <a:spcPct val="100000"/>
              </a:lnSpc>
              <a:buNone/>
              <a:defRPr sz="1650" b="1">
                <a:solidFill>
                  <a:srgbClr val="142B4A"/>
                </a:solidFill>
                <a:latin typeface="Avenir Next"/>
                <a:ea typeface="Avenir Next"/>
                <a:cs typeface="Avenir Next"/>
              </a:defRPr>
            </a:pPr>
            <a:r>
              <a:rPr sz="1650" b="1">
                <a:solidFill>
                  <a:srgbClr val="142B4A"/>
                </a:solidFill>
                <a:latin typeface="Avenir Next"/>
                <a:ea typeface="Avenir Next"/>
                <a:cs typeface="Avenir Next"/>
              </a:rPr>
              <a:t>orders exchange</a:t>
            </a:r>
          </a:p>
        </p:txBody>
      </p:sp>
      <p:sp>
        <p:nvSpPr>
          <p:cNvPr id="9" name="">
            <a:extLst xmlns:a="http://schemas.openxmlformats.org/drawingml/2006/main">
              <a:ext uri="{FF2B5EF4-FFF2-40B4-BE49-F238E27FC236}">
                <a16:creationId xmlns:a16="http://schemas.microsoft.com/office/drawing/2014/main" id="{2FBF874C-93D5-4E97-95FD-761920C66BA0}"/>
              </a:ext>
            </a:extLst>
          </p:cNvPr>
          <p:cNvSpPr>
            <a:spLocks xmlns:a="http://schemas.openxmlformats.org/drawingml/2006/main" noGrp="1"/>
          </p:cNvSpPr>
          <p:nvPr/>
        </p:nvSpPr>
        <p:spPr>
          <a:xfrm xmlns:a="http://schemas.openxmlformats.org/drawingml/2006/main">
            <a:off x="6381750" y="1714500"/>
            <a:ext cx="1714500" cy="590550"/>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7D0DA"/>
            </a:solidFill>
            <a:prstDash val="solid"/>
          </a:ln>
        </p:spPr>
        <p:txBody>
          <a:bodyPr xmlns:a="http://schemas.openxmlformats.org/drawingml/2006/main" wrap="square" lIns="95250" tIns="76200" rIns="95250" bIns="76200" anchor="ctr">
            <a:normAutofit fontScale="100000"/>
          </a:bodyPr>
          <a:lstStyle xmlns:a="http://schemas.openxmlformats.org/drawingml/2006/main"/>
          <a:p xmlns:a="http://schemas.openxmlformats.org/drawingml/2006/main">
            <a:pPr algn="ctr">
              <a:lnSpc>
                <a:spcPct val="100000"/>
              </a:lnSpc>
              <a:buNone/>
              <a:defRPr sz="1350" b="1">
                <a:solidFill>
                  <a:srgbClr val="142B4A"/>
                </a:solidFill>
                <a:latin typeface="Avenir Next"/>
                <a:ea typeface="Avenir Next"/>
                <a:cs typeface="Avenir Next"/>
              </a:defRPr>
            </a:pPr>
            <a:r>
              <a:rPr sz="1350" b="1">
                <a:solidFill>
                  <a:srgbClr val="142B4A"/>
                </a:solidFill>
                <a:latin typeface="Avenir Next"/>
                <a:ea typeface="Avenir Next"/>
                <a:cs typeface="Avenir Next"/>
              </a:rPr>
              <a:t>Payment queue</a:t>
            </a:r>
          </a:p>
        </p:txBody>
      </p:sp>
      <p:sp>
        <p:nvSpPr>
          <p:cNvPr id="10" name="">
            <a:extLst xmlns:a="http://schemas.openxmlformats.org/drawingml/2006/main">
              <a:ext uri="{FF2B5EF4-FFF2-40B4-BE49-F238E27FC236}">
                <a16:creationId xmlns:a16="http://schemas.microsoft.com/office/drawing/2014/main" id="{52B856E0-4D61-4574-9A6A-3A092E07A556}"/>
              </a:ext>
            </a:extLst>
          </p:cNvPr>
          <p:cNvSpPr>
            <a:spLocks xmlns:a="http://schemas.openxmlformats.org/drawingml/2006/main" noGrp="1"/>
          </p:cNvSpPr>
          <p:nvPr/>
        </p:nvSpPr>
        <p:spPr>
          <a:xfrm xmlns:a="http://schemas.openxmlformats.org/drawingml/2006/main">
            <a:off x="6381750" y="2714625"/>
            <a:ext cx="1714500" cy="590550"/>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7D0DA"/>
            </a:solidFill>
            <a:prstDash val="solid"/>
          </a:ln>
        </p:spPr>
        <p:txBody>
          <a:bodyPr xmlns:a="http://schemas.openxmlformats.org/drawingml/2006/main" wrap="square" lIns="95250" tIns="76200" rIns="95250" bIns="76200" anchor="ctr">
            <a:normAutofit fontScale="99331"/>
          </a:bodyPr>
          <a:lstStyle xmlns:a="http://schemas.openxmlformats.org/drawingml/2006/main"/>
          <a:p xmlns:a="http://schemas.openxmlformats.org/drawingml/2006/main">
            <a:pPr algn="ctr">
              <a:lnSpc>
                <a:spcPct val="100000"/>
              </a:lnSpc>
              <a:buNone/>
              <a:defRPr sz="1350" b="1">
                <a:solidFill>
                  <a:srgbClr val="142B4A"/>
                </a:solidFill>
                <a:latin typeface="Avenir Next"/>
                <a:ea typeface="Avenir Next"/>
                <a:cs typeface="Avenir Next"/>
              </a:defRPr>
            </a:pPr>
            <a:r>
              <a:rPr sz="1350" b="1">
                <a:solidFill>
                  <a:srgbClr val="142B4A"/>
                </a:solidFill>
                <a:latin typeface="Avenir Next"/>
                <a:ea typeface="Avenir Next"/>
                <a:cs typeface="Avenir Next"/>
              </a:rPr>
              <a:t>Restaurant queue</a:t>
            </a:r>
          </a:p>
        </p:txBody>
      </p:sp>
      <p:sp>
        <p:nvSpPr>
          <p:cNvPr id="11" name="">
            <a:extLst xmlns:a="http://schemas.openxmlformats.org/drawingml/2006/main">
              <a:ext uri="{FF2B5EF4-FFF2-40B4-BE49-F238E27FC236}">
                <a16:creationId xmlns:a16="http://schemas.microsoft.com/office/drawing/2014/main" id="{4BCE5CFA-5335-4548-9898-36C84F5CE7ED}"/>
              </a:ext>
            </a:extLst>
          </p:cNvPr>
          <p:cNvSpPr>
            <a:spLocks xmlns:a="http://schemas.openxmlformats.org/drawingml/2006/main" noGrp="1"/>
          </p:cNvSpPr>
          <p:nvPr/>
        </p:nvSpPr>
        <p:spPr>
          <a:xfrm xmlns:a="http://schemas.openxmlformats.org/drawingml/2006/main">
            <a:off x="6381750" y="3714750"/>
            <a:ext cx="1714500" cy="590550"/>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7D0DA"/>
            </a:solidFill>
            <a:prstDash val="solid"/>
          </a:ln>
        </p:spPr>
        <p:txBody>
          <a:bodyPr xmlns:a="http://schemas.openxmlformats.org/drawingml/2006/main" wrap="square" lIns="95250" tIns="76200" rIns="95250" bIns="76200" anchor="ctr">
            <a:normAutofit fontScale="94003"/>
          </a:bodyPr>
          <a:lstStyle xmlns:a="http://schemas.openxmlformats.org/drawingml/2006/main"/>
          <a:p xmlns:a="http://schemas.openxmlformats.org/drawingml/2006/main">
            <a:pPr algn="ctr">
              <a:lnSpc>
                <a:spcPct val="100000"/>
              </a:lnSpc>
              <a:buNone/>
              <a:defRPr sz="1350" b="1">
                <a:solidFill>
                  <a:srgbClr val="142B4A"/>
                </a:solidFill>
                <a:latin typeface="Avenir Next"/>
                <a:ea typeface="Avenir Next"/>
                <a:cs typeface="Avenir Next"/>
              </a:defRPr>
            </a:pPr>
            <a:r>
              <a:rPr sz="1350" b="1">
                <a:solidFill>
                  <a:srgbClr val="142B4A"/>
                </a:solidFill>
                <a:latin typeface="Avenir Next"/>
                <a:ea typeface="Avenir Next"/>
                <a:cs typeface="Avenir Next"/>
              </a:rPr>
              <a:t>Notification queue</a:t>
            </a:r>
          </a:p>
        </p:txBody>
      </p:sp>
      <p:sp>
        <p:nvSpPr>
          <p:cNvPr id="12" name="">
            <a:extLst xmlns:a="http://schemas.openxmlformats.org/drawingml/2006/main">
              <a:ext uri="{FF2B5EF4-FFF2-40B4-BE49-F238E27FC236}">
                <a16:creationId xmlns:a16="http://schemas.microsoft.com/office/drawing/2014/main" id="{53D5D168-6E38-4478-B12A-4CA0BABFCDB2}"/>
              </a:ext>
            </a:extLst>
          </p:cNvPr>
          <p:cNvSpPr>
            <a:spLocks xmlns:a="http://schemas.openxmlformats.org/drawingml/2006/main" noGrp="1"/>
          </p:cNvSpPr>
          <p:nvPr/>
        </p:nvSpPr>
        <p:spPr>
          <a:xfrm xmlns:a="http://schemas.openxmlformats.org/drawingml/2006/main">
            <a:off x="8763000" y="1714500"/>
            <a:ext cx="1714500" cy="590550"/>
          </a:xfrm>
          <a:prstGeom xmlns:a="http://schemas.openxmlformats.org/drawingml/2006/main" prst="roundRect">
            <a:avLst>
              <a:gd name="adj" fmla="val 19355"/>
            </a:avLst>
          </a:prstGeom>
          <a:solidFill xmlns:a="http://schemas.openxmlformats.org/drawingml/2006/main">
            <a:srgbClr val="DFF1E3"/>
          </a:solidFill>
          <a:ln xmlns:a="http://schemas.openxmlformats.org/drawingml/2006/main" w="14288">
            <a:solidFill>
              <a:srgbClr val="AAD5B4"/>
            </a:solidFill>
          </a:ln>
        </p:spPr>
        <p:txBody>
          <a:bodyPr xmlns:a="http://schemas.openxmlformats.org/drawingml/2006/main" wrap="square" lIns="95250" tIns="76200" rIns="95250" bIns="76200" anchor="ctr">
            <a:normAutofit fontScale="100000"/>
          </a:bodyPr>
          <a:lstStyle xmlns:a="http://schemas.openxmlformats.org/drawingml/2006/main"/>
          <a:p xmlns:a="http://schemas.openxmlformats.org/drawingml/2006/main">
            <a:pPr algn="ctr">
              <a:lnSpc>
                <a:spcPct val="100000"/>
              </a:lnSpc>
              <a:buNone/>
              <a:defRPr sz="1350" b="1">
                <a:solidFill>
                  <a:srgbClr val="142B4A"/>
                </a:solidFill>
                <a:latin typeface="Avenir Next"/>
                <a:ea typeface="Avenir Next"/>
                <a:cs typeface="Avenir Next"/>
              </a:defRPr>
            </a:pPr>
            <a:r>
              <a:rPr sz="1350" b="1">
                <a:solidFill>
                  <a:srgbClr val="142B4A"/>
                </a:solidFill>
                <a:latin typeface="Avenir Next"/>
                <a:ea typeface="Avenir Next"/>
                <a:cs typeface="Avenir Next"/>
              </a:rPr>
              <a:t>Payment worker</a:t>
            </a:r>
          </a:p>
        </p:txBody>
      </p:sp>
      <p:sp>
        <p:nvSpPr>
          <p:cNvPr id="13" name="">
            <a:extLst xmlns:a="http://schemas.openxmlformats.org/drawingml/2006/main">
              <a:ext uri="{FF2B5EF4-FFF2-40B4-BE49-F238E27FC236}">
                <a16:creationId xmlns:a16="http://schemas.microsoft.com/office/drawing/2014/main" id="{F46F1210-1BC9-4F8A-AA41-CCC95ECABD14}"/>
              </a:ext>
            </a:extLst>
          </p:cNvPr>
          <p:cNvSpPr>
            <a:spLocks xmlns:a="http://schemas.openxmlformats.org/drawingml/2006/main" noGrp="1"/>
          </p:cNvSpPr>
          <p:nvPr/>
        </p:nvSpPr>
        <p:spPr>
          <a:xfrm xmlns:a="http://schemas.openxmlformats.org/drawingml/2006/main">
            <a:off x="8763000" y="2714625"/>
            <a:ext cx="1714500" cy="590550"/>
          </a:xfrm>
          <a:prstGeom xmlns:a="http://schemas.openxmlformats.org/drawingml/2006/main" prst="roundRect">
            <a:avLst>
              <a:gd name="adj" fmla="val 19355"/>
            </a:avLst>
          </a:prstGeom>
          <a:solidFill xmlns:a="http://schemas.openxmlformats.org/drawingml/2006/main">
            <a:srgbClr val="DFF1E3"/>
          </a:solidFill>
          <a:ln xmlns:a="http://schemas.openxmlformats.org/drawingml/2006/main" w="14288">
            <a:solidFill>
              <a:srgbClr val="AAD5B4"/>
            </a:solidFill>
          </a:ln>
        </p:spPr>
        <p:txBody>
          <a:bodyPr xmlns:a="http://schemas.openxmlformats.org/drawingml/2006/main" wrap="square" lIns="95250" tIns="76200" rIns="95250" bIns="76200" anchor="ctr">
            <a:normAutofit fontScale="95458"/>
          </a:bodyPr>
          <a:lstStyle xmlns:a="http://schemas.openxmlformats.org/drawingml/2006/main"/>
          <a:p xmlns:a="http://schemas.openxmlformats.org/drawingml/2006/main">
            <a:pPr algn="ctr">
              <a:lnSpc>
                <a:spcPct val="100000"/>
              </a:lnSpc>
              <a:buNone/>
              <a:defRPr sz="1350" b="1">
                <a:solidFill>
                  <a:srgbClr val="142B4A"/>
                </a:solidFill>
                <a:latin typeface="Avenir Next"/>
                <a:ea typeface="Avenir Next"/>
                <a:cs typeface="Avenir Next"/>
              </a:defRPr>
            </a:pPr>
            <a:r>
              <a:rPr sz="1350" b="1">
                <a:solidFill>
                  <a:srgbClr val="142B4A"/>
                </a:solidFill>
                <a:latin typeface="Avenir Next"/>
                <a:ea typeface="Avenir Next"/>
                <a:cs typeface="Avenir Next"/>
              </a:rPr>
              <a:t>Restaurant worker</a:t>
            </a:r>
          </a:p>
        </p:txBody>
      </p:sp>
      <p:sp>
        <p:nvSpPr>
          <p:cNvPr id="14" name="">
            <a:extLst xmlns:a="http://schemas.openxmlformats.org/drawingml/2006/main">
              <a:ext uri="{FF2B5EF4-FFF2-40B4-BE49-F238E27FC236}">
                <a16:creationId xmlns:a16="http://schemas.microsoft.com/office/drawing/2014/main" id="{5A4CB531-EE80-4690-A293-BA121A1F32C8}"/>
              </a:ext>
            </a:extLst>
          </p:cNvPr>
          <p:cNvSpPr>
            <a:spLocks xmlns:a="http://schemas.openxmlformats.org/drawingml/2006/main" noGrp="1"/>
          </p:cNvSpPr>
          <p:nvPr/>
        </p:nvSpPr>
        <p:spPr>
          <a:xfrm xmlns:a="http://schemas.openxmlformats.org/drawingml/2006/main">
            <a:off x="8763000" y="3714750"/>
            <a:ext cx="1714500" cy="590550"/>
          </a:xfrm>
          <a:prstGeom xmlns:a="http://schemas.openxmlformats.org/drawingml/2006/main" prst="roundRect">
            <a:avLst>
              <a:gd name="adj" fmla="val 19355"/>
            </a:avLst>
          </a:prstGeom>
          <a:solidFill xmlns:a="http://schemas.openxmlformats.org/drawingml/2006/main">
            <a:srgbClr val="DFF1E3"/>
          </a:solidFill>
          <a:ln xmlns:a="http://schemas.openxmlformats.org/drawingml/2006/main" w="14288">
            <a:solidFill>
              <a:srgbClr val="AAD5B4"/>
            </a:solidFill>
          </a:ln>
        </p:spPr>
        <p:txBody>
          <a:bodyPr xmlns:a="http://schemas.openxmlformats.org/drawingml/2006/main" wrap="square" lIns="95250" tIns="76200" rIns="95250" bIns="76200" anchor="ctr">
            <a:normAutofit fontScale="90210"/>
          </a:bodyPr>
          <a:lstStyle xmlns:a="http://schemas.openxmlformats.org/drawingml/2006/main"/>
          <a:p xmlns:a="http://schemas.openxmlformats.org/drawingml/2006/main">
            <a:pPr algn="ctr">
              <a:lnSpc>
                <a:spcPct val="100000"/>
              </a:lnSpc>
              <a:buNone/>
              <a:defRPr sz="1350" b="1">
                <a:solidFill>
                  <a:srgbClr val="142B4A"/>
                </a:solidFill>
                <a:latin typeface="Avenir Next"/>
                <a:ea typeface="Avenir Next"/>
                <a:cs typeface="Avenir Next"/>
              </a:defRPr>
            </a:pPr>
            <a:r>
              <a:rPr sz="1350" b="1">
                <a:solidFill>
                  <a:srgbClr val="142B4A"/>
                </a:solidFill>
                <a:latin typeface="Avenir Next"/>
                <a:ea typeface="Avenir Next"/>
                <a:cs typeface="Avenir Next"/>
              </a:rPr>
              <a:t>Notification worker</a:t>
            </a:r>
          </a:p>
        </p:txBody>
      </p:sp>
      <p:sp>
        <p:nvSpPr>
          <p:cNvPr id="15" name="">
            <a:extLst xmlns:a="http://schemas.openxmlformats.org/drawingml/2006/main">
              <a:ext uri="{FF2B5EF4-FFF2-40B4-BE49-F238E27FC236}">
                <a16:creationId xmlns:a16="http://schemas.microsoft.com/office/drawing/2014/main" id="{EAFD1336-0C9A-452C-9915-E98014AF75E3}"/>
              </a:ext>
            </a:extLst>
          </p:cNvPr>
          <p:cNvSpPr>
            <a:spLocks xmlns:a="http://schemas.openxmlformats.org/drawingml/2006/main" noGrp="1"/>
          </p:cNvSpPr>
          <p:nvPr/>
        </p:nvSpPr>
        <p:spPr>
          <a:xfrm xmlns:a="http://schemas.openxmlformats.org/drawingml/2006/main">
            <a:off x="3857625" y="5000625"/>
            <a:ext cx="2047875" cy="762000"/>
          </a:xfrm>
          <a:prstGeom xmlns:a="http://schemas.openxmlformats.org/drawingml/2006/main" prst="roundRect">
            <a:avLst>
              <a:gd name="adj" fmla="val 15000"/>
            </a:avLst>
          </a:prstGeom>
          <a:solidFill xmlns:a="http://schemas.openxmlformats.org/drawingml/2006/main">
            <a:srgbClr val="EDE4F7"/>
          </a:solidFill>
          <a:ln xmlns:a="http://schemas.openxmlformats.org/drawingml/2006/main" w="14288">
            <a:solidFill>
              <a:srgbClr val="CDBAE0"/>
            </a:solidFill>
          </a:ln>
        </p:spPr>
        <p:txBody>
          <a:bodyPr xmlns:a="http://schemas.openxmlformats.org/drawingml/2006/main" wrap="square" lIns="95250" tIns="76200" rIns="95250" bIns="76200" anchor="ctr">
            <a:normAutofit fontScale="100000"/>
          </a:bodyPr>
          <a:lstStyle xmlns:a="http://schemas.openxmlformats.org/drawingml/2006/main"/>
          <a:p xmlns:a="http://schemas.openxmlformats.org/drawingml/2006/main">
            <a:pPr algn="ctr">
              <a:lnSpc>
                <a:spcPct val="100000"/>
              </a:lnSpc>
              <a:buNone/>
              <a:defRPr sz="1425" b="1">
                <a:solidFill>
                  <a:srgbClr val="142B4A"/>
                </a:solidFill>
                <a:latin typeface="Avenir Next"/>
                <a:ea typeface="Avenir Next"/>
                <a:cs typeface="Avenir Next"/>
              </a:defRPr>
            </a:pPr>
            <a:r>
              <a:rPr sz="1425" b="1">
                <a:solidFill>
                  <a:srgbClr val="142B4A"/>
                </a:solidFill>
                <a:latin typeface="Avenir Next"/>
                <a:ea typeface="Avenir Next"/>
                <a:cs typeface="Avenir Next"/>
              </a:rPr>
              <a:t>PostgreSQL</a:t>
            </a:r>
          </a:p>
          <a:p xmlns:a="http://schemas.openxmlformats.org/drawingml/2006/main">
            <a:pPr algn="ctr">
              <a:lnSpc>
                <a:spcPct val="100000"/>
              </a:lnSpc>
              <a:buNone/>
              <a:defRPr sz="1425" b="1">
                <a:solidFill>
                  <a:srgbClr val="142B4A"/>
                </a:solidFill>
                <a:latin typeface="Avenir Next"/>
                <a:ea typeface="Avenir Next"/>
                <a:cs typeface="Avenir Next"/>
              </a:defRPr>
            </a:pPr>
            <a:r>
              <a:rPr sz="1425" b="1">
                <a:solidFill>
                  <a:srgbClr val="142B4A"/>
                </a:solidFill>
                <a:latin typeface="Avenir Next"/>
                <a:ea typeface="Avenir Next"/>
                <a:cs typeface="Avenir Next"/>
              </a:rPr>
              <a:t>status + timeline</a:t>
            </a:r>
          </a:p>
        </p:txBody>
      </p:sp>
      <p:sp>
        <p:nvSpPr>
          <p:cNvPr id="16" name="">
            <a:extLst xmlns:a="http://schemas.openxmlformats.org/drawingml/2006/main">
              <a:ext uri="{FF2B5EF4-FFF2-40B4-BE49-F238E27FC236}">
                <a16:creationId xmlns:a16="http://schemas.microsoft.com/office/drawing/2014/main" id="{E3F9A347-4B8D-4DCD-A232-B0EFE9DF82E4}"/>
              </a:ext>
            </a:extLst>
          </p:cNvPr>
          <p:cNvSpPr>
            <a:spLocks xmlns:a="http://schemas.openxmlformats.org/drawingml/2006/main" noGrp="1"/>
          </p:cNvSpPr>
          <p:nvPr/>
        </p:nvSpPr>
        <p:spPr>
          <a:xfrm xmlns:a="http://schemas.openxmlformats.org/drawingml/2006/main">
            <a:off x="7667625" y="5095875"/>
            <a:ext cx="2095500" cy="666750"/>
          </a:xfrm>
          <a:prstGeom xmlns:a="http://schemas.openxmlformats.org/drawingml/2006/main" prst="roundRect">
            <a:avLst>
              <a:gd name="adj" fmla="val 17143"/>
            </a:avLst>
          </a:prstGeom>
          <a:solidFill xmlns:a="http://schemas.openxmlformats.org/drawingml/2006/main">
            <a:srgbClr val="FBE7E5"/>
          </a:solidFill>
          <a:ln xmlns:a="http://schemas.openxmlformats.org/drawingml/2006/main" w="14288">
            <a:solidFill>
              <a:srgbClr val="C9322B"/>
            </a:solidFill>
          </a:ln>
        </p:spPr>
        <p:txBody>
          <a:bodyPr xmlns:a="http://schemas.openxmlformats.org/drawingml/2006/main" wrap="square" lIns="95250" tIns="76200" rIns="95250" bIns="76200" anchor="ctr">
            <a:normAutofit fontScale="100000"/>
          </a:bodyPr>
          <a:lstStyle xmlns:a="http://schemas.openxmlformats.org/drawingml/2006/main"/>
          <a:p xmlns:a="http://schemas.openxmlformats.org/drawingml/2006/main">
            <a:pPr algn="ctr">
              <a:lnSpc>
                <a:spcPct val="100000"/>
              </a:lnSpc>
              <a:buNone/>
              <a:defRPr sz="1425" b="1">
                <a:solidFill>
                  <a:srgbClr val="C9322B"/>
                </a:solidFill>
                <a:latin typeface="Avenir Next"/>
                <a:ea typeface="Avenir Next"/>
                <a:cs typeface="Avenir Next"/>
              </a:defRPr>
            </a:pPr>
            <a:r>
              <a:rPr sz="1425" b="1">
                <a:solidFill>
                  <a:srgbClr val="C9322B"/>
                </a:solidFill>
                <a:latin typeface="Avenir Next"/>
                <a:ea typeface="Avenir Next"/>
                <a:cs typeface="Avenir Next"/>
              </a:rPr>
              <a:t>Failed jobs</a:t>
            </a:r>
          </a:p>
          <a:p xmlns:a="http://schemas.openxmlformats.org/drawingml/2006/main">
            <a:pPr algn="ctr">
              <a:lnSpc>
                <a:spcPct val="100000"/>
              </a:lnSpc>
              <a:buNone/>
              <a:defRPr sz="1425" b="1">
                <a:solidFill>
                  <a:srgbClr val="C9322B"/>
                </a:solidFill>
                <a:latin typeface="Avenir Next"/>
                <a:ea typeface="Avenir Next"/>
                <a:cs typeface="Avenir Next"/>
              </a:defRPr>
            </a:pPr>
            <a:r>
              <a:rPr sz="1425" b="1">
                <a:solidFill>
                  <a:srgbClr val="C9322B"/>
                </a:solidFill>
                <a:latin typeface="Avenir Next"/>
                <a:ea typeface="Avenir Next"/>
                <a:cs typeface="Avenir Next"/>
              </a:rPr>
              <a:t>orders.dlq</a:t>
            </a:r>
          </a:p>
        </p:txBody>
      </p:sp>
      <p:cxnSp>
        <p:nvCxnSpPr>
          <p:cNvPr id="45" name=""/>
          <p:cNvCxnSpPr>
            <a:stCxn xmlns:a="http://schemas.openxmlformats.org/drawingml/2006/main" id="6" idx="3"/>
            <a:endCxn xmlns:a="http://schemas.openxmlformats.org/drawingml/2006/main" id="7" idx="1"/>
          </p:cNvCxnSpPr>
          <p:nvPr/>
        </p:nvCxnSpPr>
        <p:spPr>
          <a:xfrm xmlns:a="http://schemas.openxmlformats.org/drawingml/2006/main">
            <a:off x="1571625" y="2962275"/>
            <a:ext cx="476250" cy="0"/>
          </a:xfrm>
          <a:prstGeom xmlns:a="http://schemas.openxmlformats.org/drawingml/2006/main" prst="straightConnector1">
            <a:avLst/>
          </a:prstGeom>
          <a:ln xmlns:a="http://schemas.openxmlformats.org/drawingml/2006/main" w="19050">
            <a:solidFill>
              <a:srgbClr val="142B4A"/>
            </a:solidFill>
            <a:prstDash val="solid"/>
            <a:tailEnd type="triangle" w="sm" len="sm"/>
          </a:ln>
        </p:spPr>
      </p:cxnSp>
      <p:cxnSp>
        <p:nvCxnSpPr>
          <p:cNvPr id="46" name=""/>
          <p:cNvCxnSpPr>
            <a:stCxn xmlns:a="http://schemas.openxmlformats.org/drawingml/2006/main" id="7" idx="3"/>
            <a:endCxn xmlns:a="http://schemas.openxmlformats.org/drawingml/2006/main" id="8" idx="1"/>
          </p:cNvCxnSpPr>
          <p:nvPr/>
        </p:nvCxnSpPr>
        <p:spPr>
          <a:xfrm xmlns:a="http://schemas.openxmlformats.org/drawingml/2006/main">
            <a:off x="3381375" y="2962275"/>
            <a:ext cx="619125" cy="0"/>
          </a:xfrm>
          <a:prstGeom xmlns:a="http://schemas.openxmlformats.org/drawingml/2006/main" prst="straightConnector1">
            <a:avLst/>
          </a:prstGeom>
          <a:ln xmlns:a="http://schemas.openxmlformats.org/drawingml/2006/main" w="23813">
            <a:solidFill>
              <a:srgbClr val="F36B21"/>
            </a:solidFill>
            <a:prstDash val="solid"/>
            <a:tailEnd type="triangle" w="sm" len="sm"/>
          </a:ln>
        </p:spPr>
      </p:cxnSp>
      <p:cxnSp>
        <p:nvCxnSpPr>
          <p:cNvPr id="47" name=""/>
          <p:cNvCxnSpPr>
            <a:stCxn xmlns:a="http://schemas.openxmlformats.org/drawingml/2006/main" id="8" idx="3"/>
            <a:endCxn xmlns:a="http://schemas.openxmlformats.org/drawingml/2006/main" id="9" idx="1"/>
          </p:cNvCxnSpPr>
          <p:nvPr/>
        </p:nvCxnSpPr>
        <p:spPr>
          <a:xfrm xmlns:a="http://schemas.openxmlformats.org/drawingml/2006/main" flipV="1">
            <a:off x="5762625" y="2009775"/>
            <a:ext cx="619125" cy="952500"/>
          </a:xfrm>
          <a:prstGeom xmlns:a="http://schemas.openxmlformats.org/drawingml/2006/main" prst="straightConnector1">
            <a:avLst/>
          </a:prstGeom>
          <a:ln xmlns:a="http://schemas.openxmlformats.org/drawingml/2006/main" w="19050">
            <a:solidFill>
              <a:srgbClr val="142B4A"/>
            </a:solidFill>
            <a:prstDash val="solid"/>
            <a:tailEnd type="triangle" w="sm" len="sm"/>
          </a:ln>
        </p:spPr>
      </p:cxnSp>
      <p:cxnSp>
        <p:nvCxnSpPr>
          <p:cNvPr id="48" name=""/>
          <p:cNvCxnSpPr>
            <a:stCxn xmlns:a="http://schemas.openxmlformats.org/drawingml/2006/main" id="8" idx="3"/>
            <a:endCxn xmlns:a="http://schemas.openxmlformats.org/drawingml/2006/main" id="10" idx="1"/>
          </p:cNvCxnSpPr>
          <p:nvPr/>
        </p:nvCxnSpPr>
        <p:spPr>
          <a:xfrm xmlns:a="http://schemas.openxmlformats.org/drawingml/2006/main">
            <a:off x="5762625" y="2962275"/>
            <a:ext cx="619125" cy="47625"/>
          </a:xfrm>
          <a:prstGeom xmlns:a="http://schemas.openxmlformats.org/drawingml/2006/main" prst="straightConnector1">
            <a:avLst/>
          </a:prstGeom>
          <a:ln xmlns:a="http://schemas.openxmlformats.org/drawingml/2006/main" w="19050">
            <a:solidFill>
              <a:srgbClr val="142B4A"/>
            </a:solidFill>
            <a:prstDash val="solid"/>
            <a:tailEnd type="triangle" w="sm" len="sm"/>
          </a:ln>
        </p:spPr>
      </p:cxnSp>
      <p:cxnSp>
        <p:nvCxnSpPr>
          <p:cNvPr id="49" name=""/>
          <p:cNvCxnSpPr>
            <a:stCxn xmlns:a="http://schemas.openxmlformats.org/drawingml/2006/main" id="8" idx="3"/>
            <a:endCxn xmlns:a="http://schemas.openxmlformats.org/drawingml/2006/main" id="11" idx="1"/>
          </p:cNvCxnSpPr>
          <p:nvPr/>
        </p:nvCxnSpPr>
        <p:spPr>
          <a:xfrm xmlns:a="http://schemas.openxmlformats.org/drawingml/2006/main">
            <a:off x="5762625" y="2962275"/>
            <a:ext cx="619125" cy="1047750"/>
          </a:xfrm>
          <a:prstGeom xmlns:a="http://schemas.openxmlformats.org/drawingml/2006/main" prst="straightConnector1">
            <a:avLst/>
          </a:prstGeom>
          <a:ln xmlns:a="http://schemas.openxmlformats.org/drawingml/2006/main" w="19050">
            <a:solidFill>
              <a:srgbClr val="142B4A"/>
            </a:solidFill>
            <a:prstDash val="solid"/>
            <a:tailEnd type="triangle" w="sm" len="sm"/>
          </a:ln>
        </p:spPr>
      </p:cxnSp>
      <p:cxnSp>
        <p:nvCxnSpPr>
          <p:cNvPr id="50" name=""/>
          <p:cNvCxnSpPr>
            <a:stCxn xmlns:a="http://schemas.openxmlformats.org/drawingml/2006/main" id="9" idx="3"/>
            <a:endCxn xmlns:a="http://schemas.openxmlformats.org/drawingml/2006/main" id="12" idx="1"/>
          </p:cNvCxnSpPr>
          <p:nvPr/>
        </p:nvCxnSpPr>
        <p:spPr>
          <a:xfrm xmlns:a="http://schemas.openxmlformats.org/drawingml/2006/main">
            <a:off x="8096250" y="2009775"/>
            <a:ext cx="666750" cy="0"/>
          </a:xfrm>
          <a:prstGeom xmlns:a="http://schemas.openxmlformats.org/drawingml/2006/main" prst="straightConnector1">
            <a:avLst/>
          </a:prstGeom>
          <a:ln xmlns:a="http://schemas.openxmlformats.org/drawingml/2006/main" w="19050">
            <a:solidFill>
              <a:srgbClr val="142B4A"/>
            </a:solidFill>
            <a:prstDash val="solid"/>
            <a:tailEnd type="triangle" w="sm" len="sm"/>
          </a:ln>
        </p:spPr>
      </p:cxnSp>
      <p:cxnSp>
        <p:nvCxnSpPr>
          <p:cNvPr id="51" name=""/>
          <p:cNvCxnSpPr>
            <a:stCxn xmlns:a="http://schemas.openxmlformats.org/drawingml/2006/main" id="10" idx="3"/>
            <a:endCxn xmlns:a="http://schemas.openxmlformats.org/drawingml/2006/main" id="13" idx="1"/>
          </p:cNvCxnSpPr>
          <p:nvPr/>
        </p:nvCxnSpPr>
        <p:spPr>
          <a:xfrm xmlns:a="http://schemas.openxmlformats.org/drawingml/2006/main">
            <a:off x="8096250" y="3009900"/>
            <a:ext cx="666750" cy="0"/>
          </a:xfrm>
          <a:prstGeom xmlns:a="http://schemas.openxmlformats.org/drawingml/2006/main" prst="straightConnector1">
            <a:avLst/>
          </a:prstGeom>
          <a:ln xmlns:a="http://schemas.openxmlformats.org/drawingml/2006/main" w="19050">
            <a:solidFill>
              <a:srgbClr val="142B4A"/>
            </a:solidFill>
            <a:prstDash val="solid"/>
            <a:tailEnd type="triangle" w="sm" len="sm"/>
          </a:ln>
        </p:spPr>
      </p:cxnSp>
      <p:cxnSp>
        <p:nvCxnSpPr>
          <p:cNvPr id="52" name=""/>
          <p:cNvCxnSpPr>
            <a:stCxn xmlns:a="http://schemas.openxmlformats.org/drawingml/2006/main" id="11" idx="3"/>
            <a:endCxn xmlns:a="http://schemas.openxmlformats.org/drawingml/2006/main" id="14" idx="1"/>
          </p:cNvCxnSpPr>
          <p:nvPr/>
        </p:nvCxnSpPr>
        <p:spPr>
          <a:xfrm xmlns:a="http://schemas.openxmlformats.org/drawingml/2006/main">
            <a:off x="8096250" y="4010025"/>
            <a:ext cx="666750" cy="0"/>
          </a:xfrm>
          <a:prstGeom xmlns:a="http://schemas.openxmlformats.org/drawingml/2006/main" prst="straightConnector1">
            <a:avLst/>
          </a:prstGeom>
          <a:ln xmlns:a="http://schemas.openxmlformats.org/drawingml/2006/main" w="19050">
            <a:solidFill>
              <a:srgbClr val="142B4A"/>
            </a:solidFill>
            <a:prstDash val="solid"/>
            <a:tailEnd type="triangle" w="sm" len="sm"/>
          </a:ln>
        </p:spPr>
      </p:cxnSp>
      <p:cxnSp>
        <p:nvCxnSpPr>
          <p:cNvPr id="53" name=""/>
          <p:cNvCxnSpPr>
            <a:stCxn xmlns:a="http://schemas.openxmlformats.org/drawingml/2006/main" id="7" idx="2"/>
            <a:endCxn xmlns:a="http://schemas.openxmlformats.org/drawingml/2006/main" id="15" idx="1"/>
          </p:cNvCxnSpPr>
          <p:nvPr/>
        </p:nvCxnSpPr>
        <p:spPr>
          <a:xfrm xmlns:a="http://schemas.openxmlformats.org/drawingml/2006/main">
            <a:off x="2714625" y="3400425"/>
            <a:ext cx="1143000" cy="1981200"/>
          </a:xfrm>
          <a:prstGeom xmlns:a="http://schemas.openxmlformats.org/drawingml/2006/main" prst="bentConnector5">
            <a:avLst>
              <a:gd name="adj1" fmla="val 0"/>
              <a:gd name="adj2" fmla="val 11538"/>
              <a:gd name="adj3" fmla="val 80000"/>
            </a:avLst>
          </a:prstGeom>
          <a:ln xmlns:a="http://schemas.openxmlformats.org/drawingml/2006/main" w="19050">
            <a:solidFill>
              <a:srgbClr val="25496F"/>
            </a:solidFill>
            <a:prstDash val="solid"/>
            <a:tailEnd type="triangle" w="sm" len="sm"/>
          </a:ln>
        </p:spPr>
      </p:cxnSp>
      <p:cxnSp>
        <p:nvCxnSpPr>
          <p:cNvPr id="54" name=""/>
          <p:cNvCxnSpPr>
            <a:stCxn xmlns:a="http://schemas.openxmlformats.org/drawingml/2006/main" id="11" idx="2"/>
            <a:endCxn xmlns:a="http://schemas.openxmlformats.org/drawingml/2006/main" id="16" idx="0"/>
          </p:cNvCxnSpPr>
          <p:nvPr/>
        </p:nvCxnSpPr>
        <p:spPr>
          <a:xfrm xmlns:a="http://schemas.openxmlformats.org/drawingml/2006/main">
            <a:off x="7239000" y="4305300"/>
            <a:ext cx="1476375" cy="790575"/>
          </a:xfrm>
          <a:prstGeom xmlns:a="http://schemas.openxmlformats.org/drawingml/2006/main" prst="bentConnector4">
            <a:avLst>
              <a:gd name="adj1" fmla="val 0"/>
              <a:gd name="adj2" fmla="val 50000"/>
            </a:avLst>
          </a:prstGeom>
          <a:ln xmlns:a="http://schemas.openxmlformats.org/drawingml/2006/main" w="19050">
            <a:solidFill>
              <a:srgbClr val="C9322B"/>
            </a:solidFill>
            <a:prstDash val="dash"/>
            <a:tailEnd type="triangle" w="sm" len="sm"/>
          </a:ln>
        </p:spPr>
      </p:cxnSp>
      <p:sp>
        <p:nvSpPr>
          <p:cNvPr id="27" name="">
            <a:extLst xmlns:a="http://schemas.openxmlformats.org/drawingml/2006/main">
              <a:ext uri="{FF2B5EF4-FFF2-40B4-BE49-F238E27FC236}">
                <a16:creationId xmlns:a16="http://schemas.microsoft.com/office/drawing/2014/main" id="{9F8ADA7E-59AD-4BD4-B029-88FFCE60E40D}"/>
              </a:ext>
            </a:extLst>
          </p:cNvPr>
          <p:cNvSpPr>
            <a:spLocks xmlns:a="http://schemas.openxmlformats.org/drawingml/2006/main" noGrp="1"/>
          </p:cNvSpPr>
          <p:nvPr/>
        </p:nvSpPr>
        <p:spPr>
          <a:xfrm xmlns:a="http://schemas.openxmlformats.org/drawingml/2006/main">
            <a:off x="2876550" y="2095500"/>
            <a:ext cx="1333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06000"/>
              </a:lnSpc>
              <a:buNone/>
              <a:defRPr sz="1125" b="1">
                <a:solidFill>
                  <a:srgbClr val="C94710"/>
                </a:solidFill>
                <a:latin typeface="Avenir Next"/>
                <a:ea typeface="Avenir Next"/>
                <a:cs typeface="Avenir Next"/>
              </a:defRPr>
            </a:pPr>
            <a:r>
              <a:rPr sz="1125" b="1">
                <a:solidFill>
                  <a:srgbClr val="C94710"/>
                </a:solidFill>
                <a:latin typeface="Avenir Next"/>
                <a:ea typeface="Avenir Next"/>
                <a:cs typeface="Avenir Next"/>
              </a:rPr>
              <a:t>order.created</a:t>
            </a:r>
          </a:p>
        </p:txBody>
      </p:sp>
      <p:sp>
        <p:nvSpPr>
          <p:cNvPr id="28" name="">
            <a:extLst xmlns:a="http://schemas.openxmlformats.org/drawingml/2006/main">
              <a:ext uri="{FF2B5EF4-FFF2-40B4-BE49-F238E27FC236}">
                <a16:creationId xmlns:a16="http://schemas.microsoft.com/office/drawing/2014/main" id="{DAD176A3-AF31-43B9-880F-8CF380F320F0}"/>
              </a:ext>
            </a:extLst>
          </p:cNvPr>
          <p:cNvSpPr>
            <a:spLocks xmlns:a="http://schemas.openxmlformats.org/drawingml/2006/main" noGrp="1"/>
          </p:cNvSpPr>
          <p:nvPr/>
        </p:nvSpPr>
        <p:spPr>
          <a:xfrm xmlns:a="http://schemas.openxmlformats.org/drawingml/2006/main">
            <a:off x="8382000" y="4524375"/>
            <a:ext cx="2524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ctr">
              <a:lnSpc>
                <a:spcPct val="106000"/>
              </a:lnSpc>
              <a:buNone/>
              <a:defRPr sz="1125" b="0">
                <a:solidFill>
                  <a:srgbClr val="627083"/>
                </a:solidFill>
                <a:latin typeface="Avenir Next"/>
                <a:ea typeface="Avenir Next"/>
                <a:cs typeface="Avenir Next"/>
              </a:defRPr>
            </a:pPr>
            <a:r>
              <a:rPr sz="1125" b="0">
                <a:solidFill>
                  <a:srgbClr val="627083"/>
                </a:solidFill>
                <a:latin typeface="Avenir Next"/>
                <a:ea typeface="Avenir Next"/>
                <a:cs typeface="Avenir Next"/>
              </a:rPr>
              <a:t>All workers update the order timeline</a:t>
            </a:r>
          </a:p>
        </p:txBody>
      </p:sp>
    </p:spTree>
    <p:extLst>
      <p:ext uri="{BB962C8B-B14F-4D97-AF65-F5344CB8AC3E}">
        <p14:creationId xmlns:p14="http://schemas.microsoft.com/office/powerpoint/2010/main" val="1723026382"/>
      </p:ext>
    </p:extLst>
  </p:cSld>
</p:sld>
</file>

<file path=ppt/slides/slide6.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67285502-1992-48BE-B2F2-EC1C56EACB7E}"/>
              </a:ext>
            </a:extLst>
          </p:cNvPr>
          <p:cNvSpPr>
            <a:spLocks xmlns:a="http://schemas.openxmlformats.org/drawingml/2006/main" noGrp="1"/>
          </p:cNvSpPr>
          <p:nvPr/>
        </p:nvSpPr>
        <p:spPr>
          <a:xfrm xmlns:a="http://schemas.openxmlformats.org/drawingml/2006/main">
            <a:off x="552450" y="342900"/>
            <a:ext cx="10287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95071"/>
          </a:bodyPr>
          <a:lstStyle xmlns:a="http://schemas.openxmlformats.org/drawingml/2006/main"/>
          <a:p xmlns:a="http://schemas.openxmlformats.org/drawingml/2006/main">
            <a:pPr algn="l">
              <a:lnSpc>
                <a:spcPct val="106000"/>
              </a:lnSpc>
              <a:buNone/>
              <a:defRPr sz="3225" b="1">
                <a:solidFill>
                  <a:srgbClr val="18202C"/>
                </a:solidFill>
                <a:latin typeface="Avenir Next"/>
                <a:ea typeface="Avenir Next"/>
                <a:cs typeface="Avenir Next"/>
              </a:defRPr>
            </a:pPr>
            <a:r>
              <a:rPr sz="3225" b="1">
                <a:solidFill>
                  <a:srgbClr val="18202C"/>
                </a:solidFill>
                <a:latin typeface="Avenir Next"/>
                <a:ea typeface="Avenir Next"/>
                <a:cs typeface="Avenir Next"/>
              </a:rPr>
              <a:t>What happens after a customer orders</a:t>
            </a:r>
          </a:p>
        </p:txBody>
      </p:sp>
      <p:sp>
        <p:nvSpPr>
          <p:cNvPr id="2" name="">
            <a:extLst xmlns:a="http://schemas.openxmlformats.org/drawingml/2006/main">
              <a:ext uri="{FF2B5EF4-FFF2-40B4-BE49-F238E27FC236}">
                <a16:creationId xmlns:a16="http://schemas.microsoft.com/office/drawing/2014/main" id="{7BB9E054-DE97-4F87-811C-38070ECA03F9}"/>
              </a:ext>
            </a:extLst>
          </p:cNvPr>
          <p:cNvSpPr>
            <a:spLocks xmlns:a="http://schemas.openxmlformats.org/drawingml/2006/main" noGrp="1"/>
          </p:cNvSpPr>
          <p:nvPr/>
        </p:nvSpPr>
        <p:spPr>
          <a:xfrm xmlns:a="http://schemas.openxmlformats.org/drawingml/2006/main">
            <a:off x="571500" y="914400"/>
            <a:ext cx="1028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06000"/>
              </a:lnSpc>
              <a:buNone/>
              <a:defRPr sz="1500" b="0">
                <a:solidFill>
                  <a:srgbClr val="627083"/>
                </a:solidFill>
                <a:latin typeface="Avenir Next"/>
                <a:ea typeface="Avenir Next"/>
                <a:cs typeface="Avenir Next"/>
              </a:defRPr>
            </a:pPr>
            <a:r>
              <a:rPr sz="1500" b="0">
                <a:solidFill>
                  <a:srgbClr val="627083"/>
                </a:solidFill>
                <a:latin typeface="Avenir Next"/>
                <a:ea typeface="Avenir Next"/>
                <a:cs typeface="Avenir Next"/>
              </a:rPr>
              <a:t>The customer receives confirmation first, then follows the order timeline</a:t>
            </a:r>
          </a:p>
        </p:txBody>
      </p:sp>
      <p:sp>
        <p:nvSpPr>
          <p:cNvPr id="3" name="">
            <a:extLst xmlns:a="http://schemas.openxmlformats.org/drawingml/2006/main">
              <a:ext uri="{FF2B5EF4-FFF2-40B4-BE49-F238E27FC236}">
                <a16:creationId xmlns:a16="http://schemas.microsoft.com/office/drawing/2014/main" id="{F8ECFB4F-6091-4DA7-8AD7-C14AC7D8E1F2}"/>
              </a:ext>
            </a:extLst>
          </p:cNvPr>
          <p:cNvSpPr>
            <a:spLocks xmlns:a="http://schemas.openxmlformats.org/drawingml/2006/main" noGrp="1"/>
          </p:cNvSpPr>
          <p:nvPr/>
        </p:nvSpPr>
        <p:spPr>
          <a:xfrm xmlns:a="http://schemas.openxmlformats.org/drawingml/2006/main">
            <a:off x="533400" y="1295400"/>
            <a:ext cx="11125200" cy="47625"/>
          </a:xfrm>
          <a:prstGeom xmlns:a="http://schemas.openxmlformats.org/drawingml/2006/main" prst="rect">
            <a:avLst/>
          </a:prstGeom>
          <a:solidFill xmlns:a="http://schemas.openxmlformats.org/drawingml/2006/main">
            <a:srgbClr val="F36B21"/>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4855586-55B5-426F-9A1B-D3A0E1E3CF47}"/>
              </a:ext>
            </a:extLst>
          </p:cNvPr>
          <p:cNvSpPr>
            <a:spLocks xmlns:a="http://schemas.openxmlformats.org/drawingml/2006/main" noGrp="1"/>
          </p:cNvSpPr>
          <p:nvPr/>
        </p:nvSpPr>
        <p:spPr>
          <a:xfrm xmlns:a="http://schemas.openxmlformats.org/drawingml/2006/main">
            <a:off x="10382250" y="6619875"/>
            <a:ext cx="7239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91719"/>
          </a:bodyPr>
          <a:lstStyle xmlns:a="http://schemas.openxmlformats.org/drawingml/2006/main"/>
          <a:p xmlns:a="http://schemas.openxmlformats.org/drawingml/2006/main">
            <a:pPr algn="r">
              <a:lnSpc>
                <a:spcPct val="106000"/>
              </a:lnSpc>
              <a:buNone/>
              <a:defRPr sz="900" b="1">
                <a:solidFill>
                  <a:srgbClr val="627083"/>
                </a:solidFill>
                <a:latin typeface="Avenir Next"/>
                <a:ea typeface="Avenir Next"/>
                <a:cs typeface="Avenir Next"/>
              </a:defRPr>
            </a:pPr>
            <a:r>
              <a:rPr sz="900" b="1">
                <a:solidFill>
                  <a:srgbClr val="627083"/>
                </a:solidFill>
                <a:latin typeface="Avenir Next"/>
                <a:ea typeface="Avenir Next"/>
                <a:cs typeface="Avenir Next"/>
              </a:rPr>
              <a:t>P2</a:t>
            </a:r>
          </a:p>
        </p:txBody>
      </p:sp>
      <p:sp>
        <p:nvSpPr>
          <p:cNvPr id="5" name="">
            <a:extLst xmlns:a="http://schemas.openxmlformats.org/drawingml/2006/main">
              <a:ext uri="{FF2B5EF4-FFF2-40B4-BE49-F238E27FC236}">
                <a16:creationId xmlns:a16="http://schemas.microsoft.com/office/drawing/2014/main" id="{3B83B09C-B894-4CA9-A142-D299857F77C8}"/>
              </a:ext>
            </a:extLst>
          </p:cNvPr>
          <p:cNvSpPr>
            <a:spLocks xmlns:a="http://schemas.openxmlformats.org/drawingml/2006/main" noGrp="1"/>
          </p:cNvSpPr>
          <p:nvPr/>
        </p:nvSpPr>
        <p:spPr>
          <a:xfrm xmlns:a="http://schemas.openxmlformats.org/drawingml/2006/main">
            <a:off x="11191875" y="6619875"/>
            <a:ext cx="4286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91719"/>
          </a:bodyPr>
          <a:lstStyle xmlns:a="http://schemas.openxmlformats.org/drawingml/2006/main"/>
          <a:p xmlns:a="http://schemas.openxmlformats.org/drawingml/2006/main">
            <a:pPr algn="r">
              <a:lnSpc>
                <a:spcPct val="106000"/>
              </a:lnSpc>
              <a:buNone/>
              <a:defRPr sz="900" b="0">
                <a:solidFill>
                  <a:srgbClr val="627083"/>
                </a:solidFill>
                <a:latin typeface="Avenir Next"/>
                <a:ea typeface="Avenir Next"/>
                <a:cs typeface="Avenir Next"/>
              </a:defRPr>
            </a:pPr>
            <a:r>
              <a:rPr sz="900" b="0">
                <a:solidFill>
                  <a:srgbClr val="627083"/>
                </a:solidFill>
                <a:latin typeface="Avenir Next"/>
                <a:ea typeface="Avenir Next"/>
                <a:cs typeface="Avenir Next"/>
              </a:rPr>
              <a:t>06</a:t>
            </a:r>
          </a:p>
        </p:txBody>
      </p:sp>
      <p:sp>
        <p:nvSpPr>
          <p:cNvPr id="6" name="">
            <a:extLst xmlns:a="http://schemas.openxmlformats.org/drawingml/2006/main">
              <a:ext uri="{FF2B5EF4-FFF2-40B4-BE49-F238E27FC236}">
                <a16:creationId xmlns:a16="http://schemas.microsoft.com/office/drawing/2014/main" id="{0A5B4DF9-0C6B-4DC2-BA03-677937B92424}"/>
              </a:ext>
            </a:extLst>
          </p:cNvPr>
          <p:cNvSpPr>
            <a:spLocks xmlns:a="http://schemas.openxmlformats.org/drawingml/2006/main" noGrp="1"/>
          </p:cNvSpPr>
          <p:nvPr/>
        </p:nvSpPr>
        <p:spPr>
          <a:xfrm xmlns:a="http://schemas.openxmlformats.org/drawingml/2006/main">
            <a:off x="685800" y="1571625"/>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ctr">
              <a:lnSpc>
                <a:spcPct val="106000"/>
              </a:lnSpc>
              <a:buNone/>
              <a:defRPr sz="2400" b="1">
                <a:solidFill>
                  <a:srgbClr val="F36B21"/>
                </a:solidFill>
                <a:latin typeface="Avenir Next"/>
                <a:ea typeface="Avenir Next"/>
                <a:cs typeface="Avenir Next"/>
              </a:defRPr>
            </a:pPr>
            <a:r>
              <a:rPr sz="2400" b="1">
                <a:solidFill>
                  <a:srgbClr val="F36B21"/>
                </a:solidFill>
                <a:latin typeface="Avenir Next"/>
                <a:ea typeface="Avenir Next"/>
                <a:cs typeface="Avenir Next"/>
              </a:rPr>
              <a:t>1</a:t>
            </a:r>
          </a:p>
        </p:txBody>
      </p:sp>
      <p:sp>
        <p:nvSpPr>
          <p:cNvPr id="7" name="">
            <a:extLst xmlns:a="http://schemas.openxmlformats.org/drawingml/2006/main">
              <a:ext uri="{FF2B5EF4-FFF2-40B4-BE49-F238E27FC236}">
                <a16:creationId xmlns:a16="http://schemas.microsoft.com/office/drawing/2014/main" id="{ED393F5F-E897-4377-B5A2-900B4211FFCA}"/>
              </a:ext>
            </a:extLst>
          </p:cNvPr>
          <p:cNvSpPr>
            <a:spLocks xmlns:a="http://schemas.openxmlformats.org/drawingml/2006/main" noGrp="1"/>
          </p:cNvSpPr>
          <p:nvPr/>
        </p:nvSpPr>
        <p:spPr>
          <a:xfrm xmlns:a="http://schemas.openxmlformats.org/drawingml/2006/main">
            <a:off x="1524000" y="1590675"/>
            <a:ext cx="2762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06000"/>
              </a:lnSpc>
              <a:buNone/>
              <a:defRPr sz="1875" b="1">
                <a:solidFill>
                  <a:srgbClr val="142B4A"/>
                </a:solidFill>
                <a:latin typeface="Avenir Next"/>
                <a:ea typeface="Avenir Next"/>
                <a:cs typeface="Avenir Next"/>
              </a:defRPr>
            </a:pPr>
            <a:r>
              <a:rPr sz="1875" b="1">
                <a:solidFill>
                  <a:srgbClr val="142B4A"/>
                </a:solidFill>
                <a:latin typeface="Avenir Next"/>
                <a:ea typeface="Avenir Next"/>
                <a:cs typeface="Avenir Next"/>
              </a:rPr>
              <a:t>POST /orders</a:t>
            </a:r>
          </a:p>
        </p:txBody>
      </p:sp>
      <p:sp>
        <p:nvSpPr>
          <p:cNvPr id="8" name="">
            <a:extLst xmlns:a="http://schemas.openxmlformats.org/drawingml/2006/main">
              <a:ext uri="{FF2B5EF4-FFF2-40B4-BE49-F238E27FC236}">
                <a16:creationId xmlns:a16="http://schemas.microsoft.com/office/drawing/2014/main" id="{585C45B3-6F34-4111-A02D-F9C775EC0370}"/>
              </a:ext>
            </a:extLst>
          </p:cNvPr>
          <p:cNvSpPr>
            <a:spLocks xmlns:a="http://schemas.openxmlformats.org/drawingml/2006/main" noGrp="1"/>
          </p:cNvSpPr>
          <p:nvPr/>
        </p:nvSpPr>
        <p:spPr>
          <a:xfrm xmlns:a="http://schemas.openxmlformats.org/drawingml/2006/main">
            <a:off x="4572000" y="1590675"/>
            <a:ext cx="6477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12000"/>
              </a:lnSpc>
              <a:buNone/>
              <a:defRPr sz="1575" b="0">
                <a:solidFill>
                  <a:srgbClr val="18202C"/>
                </a:solidFill>
                <a:latin typeface="Avenir Next"/>
                <a:ea typeface="Avenir Next"/>
                <a:cs typeface="Avenir Next"/>
              </a:defRPr>
            </a:pPr>
            <a:r>
              <a:rPr sz="1575" b="0">
                <a:solidFill>
                  <a:srgbClr val="18202C"/>
                </a:solidFill>
                <a:latin typeface="Avenir Next"/>
                <a:ea typeface="Avenir Next"/>
                <a:cs typeface="Avenir Next"/>
              </a:rPr>
              <a:t>Customer sends the order</a:t>
            </a:r>
          </a:p>
        </p:txBody>
      </p:sp>
      <p:sp>
        <p:nvSpPr>
          <p:cNvPr id="9" name="">
            <a:extLst xmlns:a="http://schemas.openxmlformats.org/drawingml/2006/main">
              <a:ext uri="{FF2B5EF4-FFF2-40B4-BE49-F238E27FC236}">
                <a16:creationId xmlns:a16="http://schemas.microsoft.com/office/drawing/2014/main" id="{427D9AD5-F79A-4837-9448-D22EC041201F}"/>
              </a:ext>
            </a:extLst>
          </p:cNvPr>
          <p:cNvSpPr>
            <a:spLocks xmlns:a="http://schemas.openxmlformats.org/drawingml/2006/main" noGrp="1"/>
          </p:cNvSpPr>
          <p:nvPr/>
        </p:nvSpPr>
        <p:spPr>
          <a:xfrm xmlns:a="http://schemas.openxmlformats.org/drawingml/2006/main">
            <a:off x="1524000" y="2219325"/>
            <a:ext cx="95250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10" name="">
            <a:extLst xmlns:a="http://schemas.openxmlformats.org/drawingml/2006/main">
              <a:ext uri="{FF2B5EF4-FFF2-40B4-BE49-F238E27FC236}">
                <a16:creationId xmlns:a16="http://schemas.microsoft.com/office/drawing/2014/main" id="{92BE5651-B57D-40A5-B07A-027A4279D4F2}"/>
              </a:ext>
            </a:extLst>
          </p:cNvPr>
          <p:cNvSpPr>
            <a:spLocks xmlns:a="http://schemas.openxmlformats.org/drawingml/2006/main" noGrp="1"/>
          </p:cNvSpPr>
          <p:nvPr/>
        </p:nvSpPr>
        <p:spPr>
          <a:xfrm xmlns:a="http://schemas.openxmlformats.org/drawingml/2006/main">
            <a:off x="685800" y="2466975"/>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ctr">
              <a:lnSpc>
                <a:spcPct val="106000"/>
              </a:lnSpc>
              <a:buNone/>
              <a:defRPr sz="2400" b="1">
                <a:solidFill>
                  <a:srgbClr val="F36B21"/>
                </a:solidFill>
                <a:latin typeface="Avenir Next"/>
                <a:ea typeface="Avenir Next"/>
                <a:cs typeface="Avenir Next"/>
              </a:defRPr>
            </a:pPr>
            <a:r>
              <a:rPr sz="2400" b="1">
                <a:solidFill>
                  <a:srgbClr val="F36B21"/>
                </a:solidFill>
                <a:latin typeface="Avenir Next"/>
                <a:ea typeface="Avenir Next"/>
                <a:cs typeface="Avenir Next"/>
              </a:rPr>
              <a:t>2</a:t>
            </a:r>
          </a:p>
        </p:txBody>
      </p:sp>
      <p:sp>
        <p:nvSpPr>
          <p:cNvPr id="11" name="">
            <a:extLst xmlns:a="http://schemas.openxmlformats.org/drawingml/2006/main">
              <a:ext uri="{FF2B5EF4-FFF2-40B4-BE49-F238E27FC236}">
                <a16:creationId xmlns:a16="http://schemas.microsoft.com/office/drawing/2014/main" id="{A27BCCF8-8A6E-4F72-B033-FC58FB428C98}"/>
              </a:ext>
            </a:extLst>
          </p:cNvPr>
          <p:cNvSpPr>
            <a:spLocks xmlns:a="http://schemas.openxmlformats.org/drawingml/2006/main" noGrp="1"/>
          </p:cNvSpPr>
          <p:nvPr/>
        </p:nvSpPr>
        <p:spPr>
          <a:xfrm xmlns:a="http://schemas.openxmlformats.org/drawingml/2006/main">
            <a:off x="1524000" y="2486025"/>
            <a:ext cx="2762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06000"/>
              </a:lnSpc>
              <a:buNone/>
              <a:defRPr sz="1875" b="1">
                <a:solidFill>
                  <a:srgbClr val="142B4A"/>
                </a:solidFill>
                <a:latin typeface="Avenir Next"/>
                <a:ea typeface="Avenir Next"/>
                <a:cs typeface="Avenir Next"/>
              </a:defRPr>
            </a:pPr>
            <a:r>
              <a:rPr sz="1875" b="1">
                <a:solidFill>
                  <a:srgbClr val="142B4A"/>
                </a:solidFill>
                <a:latin typeface="Avenir Next"/>
                <a:ea typeface="Avenir Next"/>
                <a:cs typeface="Avenir Next"/>
              </a:rPr>
              <a:t>Save + publish</a:t>
            </a:r>
          </a:p>
        </p:txBody>
      </p:sp>
      <p:sp>
        <p:nvSpPr>
          <p:cNvPr id="12" name="">
            <a:extLst xmlns:a="http://schemas.openxmlformats.org/drawingml/2006/main">
              <a:ext uri="{FF2B5EF4-FFF2-40B4-BE49-F238E27FC236}">
                <a16:creationId xmlns:a16="http://schemas.microsoft.com/office/drawing/2014/main" id="{2D24182A-9F5F-43C8-A626-C77935DC0D8D}"/>
              </a:ext>
            </a:extLst>
          </p:cNvPr>
          <p:cNvSpPr>
            <a:spLocks xmlns:a="http://schemas.openxmlformats.org/drawingml/2006/main" noGrp="1"/>
          </p:cNvSpPr>
          <p:nvPr/>
        </p:nvSpPr>
        <p:spPr>
          <a:xfrm xmlns:a="http://schemas.openxmlformats.org/drawingml/2006/main">
            <a:off x="4572000" y="2486025"/>
            <a:ext cx="6477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12000"/>
              </a:lnSpc>
              <a:buNone/>
              <a:defRPr sz="1575" b="0">
                <a:solidFill>
                  <a:srgbClr val="18202C"/>
                </a:solidFill>
                <a:latin typeface="Avenir Next"/>
                <a:ea typeface="Avenir Next"/>
                <a:cs typeface="Avenir Next"/>
              </a:defRPr>
            </a:pPr>
            <a:r>
              <a:rPr sz="1575" b="0">
                <a:solidFill>
                  <a:srgbClr val="18202C"/>
                </a:solidFill>
                <a:latin typeface="Avenir Next"/>
                <a:ea typeface="Avenir Next"/>
                <a:cs typeface="Avenir Next"/>
              </a:rPr>
              <a:t>API records PENDING and sends order.created</a:t>
            </a:r>
          </a:p>
        </p:txBody>
      </p:sp>
      <p:sp>
        <p:nvSpPr>
          <p:cNvPr id="13" name="">
            <a:extLst xmlns:a="http://schemas.openxmlformats.org/drawingml/2006/main">
              <a:ext uri="{FF2B5EF4-FFF2-40B4-BE49-F238E27FC236}">
                <a16:creationId xmlns:a16="http://schemas.microsoft.com/office/drawing/2014/main" id="{46AF7C5E-5750-4B5B-BEC0-8AC0E81E50B4}"/>
              </a:ext>
            </a:extLst>
          </p:cNvPr>
          <p:cNvSpPr>
            <a:spLocks xmlns:a="http://schemas.openxmlformats.org/drawingml/2006/main" noGrp="1"/>
          </p:cNvSpPr>
          <p:nvPr/>
        </p:nvSpPr>
        <p:spPr>
          <a:xfrm xmlns:a="http://schemas.openxmlformats.org/drawingml/2006/main">
            <a:off x="1524000" y="3114675"/>
            <a:ext cx="95250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14" name="">
            <a:extLst xmlns:a="http://schemas.openxmlformats.org/drawingml/2006/main">
              <a:ext uri="{FF2B5EF4-FFF2-40B4-BE49-F238E27FC236}">
                <a16:creationId xmlns:a16="http://schemas.microsoft.com/office/drawing/2014/main" id="{3AF12DAB-3D80-491D-96E3-7DAB89201AC9}"/>
              </a:ext>
            </a:extLst>
          </p:cNvPr>
          <p:cNvSpPr>
            <a:spLocks xmlns:a="http://schemas.openxmlformats.org/drawingml/2006/main" noGrp="1"/>
          </p:cNvSpPr>
          <p:nvPr/>
        </p:nvSpPr>
        <p:spPr>
          <a:xfrm xmlns:a="http://schemas.openxmlformats.org/drawingml/2006/main">
            <a:off x="685800" y="3362325"/>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ctr">
              <a:lnSpc>
                <a:spcPct val="106000"/>
              </a:lnSpc>
              <a:buNone/>
              <a:defRPr sz="2400" b="1">
                <a:solidFill>
                  <a:srgbClr val="2E7D4F"/>
                </a:solidFill>
                <a:latin typeface="Avenir Next"/>
                <a:ea typeface="Avenir Next"/>
                <a:cs typeface="Avenir Next"/>
              </a:defRPr>
            </a:pPr>
            <a:r>
              <a:rPr sz="2400" b="1">
                <a:solidFill>
                  <a:srgbClr val="2E7D4F"/>
                </a:solidFill>
                <a:latin typeface="Avenir Next"/>
                <a:ea typeface="Avenir Next"/>
                <a:cs typeface="Avenir Next"/>
              </a:rPr>
              <a:t>3</a:t>
            </a:r>
          </a:p>
        </p:txBody>
      </p:sp>
      <p:sp>
        <p:nvSpPr>
          <p:cNvPr id="15" name="">
            <a:extLst xmlns:a="http://schemas.openxmlformats.org/drawingml/2006/main">
              <a:ext uri="{FF2B5EF4-FFF2-40B4-BE49-F238E27FC236}">
                <a16:creationId xmlns:a16="http://schemas.microsoft.com/office/drawing/2014/main" id="{455CA95D-C8CC-4D67-B8FC-8DAB7A4271B8}"/>
              </a:ext>
            </a:extLst>
          </p:cNvPr>
          <p:cNvSpPr>
            <a:spLocks xmlns:a="http://schemas.openxmlformats.org/drawingml/2006/main" noGrp="1"/>
          </p:cNvSpPr>
          <p:nvPr/>
        </p:nvSpPr>
        <p:spPr>
          <a:xfrm xmlns:a="http://schemas.openxmlformats.org/drawingml/2006/main">
            <a:off x="1524000" y="3381375"/>
            <a:ext cx="2762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06000"/>
              </a:lnSpc>
              <a:buNone/>
              <a:defRPr sz="1875" b="1">
                <a:solidFill>
                  <a:srgbClr val="142B4A"/>
                </a:solidFill>
                <a:latin typeface="Avenir Next"/>
                <a:ea typeface="Avenir Next"/>
                <a:cs typeface="Avenir Next"/>
              </a:defRPr>
            </a:pPr>
            <a:r>
              <a:rPr sz="1875" b="1">
                <a:solidFill>
                  <a:srgbClr val="142B4A"/>
                </a:solidFill>
                <a:latin typeface="Avenir Next"/>
                <a:ea typeface="Avenir Next"/>
                <a:cs typeface="Avenir Next"/>
              </a:rPr>
              <a:t>HTTP 202</a:t>
            </a:r>
          </a:p>
        </p:txBody>
      </p:sp>
      <p:sp>
        <p:nvSpPr>
          <p:cNvPr id="16" name="">
            <a:extLst xmlns:a="http://schemas.openxmlformats.org/drawingml/2006/main">
              <a:ext uri="{FF2B5EF4-FFF2-40B4-BE49-F238E27FC236}">
                <a16:creationId xmlns:a16="http://schemas.microsoft.com/office/drawing/2014/main" id="{EE810595-03A8-4BF3-B4FF-9B55A524FDF3}"/>
              </a:ext>
            </a:extLst>
          </p:cNvPr>
          <p:cNvSpPr>
            <a:spLocks xmlns:a="http://schemas.openxmlformats.org/drawingml/2006/main" noGrp="1"/>
          </p:cNvSpPr>
          <p:nvPr/>
        </p:nvSpPr>
        <p:spPr>
          <a:xfrm xmlns:a="http://schemas.openxmlformats.org/drawingml/2006/main">
            <a:off x="4572000" y="3381375"/>
            <a:ext cx="6477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12000"/>
              </a:lnSpc>
              <a:buNone/>
              <a:defRPr sz="1575" b="0">
                <a:solidFill>
                  <a:srgbClr val="18202C"/>
                </a:solidFill>
                <a:latin typeface="Avenir Next"/>
                <a:ea typeface="Avenir Next"/>
                <a:cs typeface="Avenir Next"/>
              </a:defRPr>
            </a:pPr>
            <a:r>
              <a:rPr sz="1575" b="0">
                <a:solidFill>
                  <a:srgbClr val="18202C"/>
                </a:solidFill>
                <a:latin typeface="Avenir Next"/>
                <a:ea typeface="Avenir Next"/>
                <a:cs typeface="Avenir Next"/>
              </a:rPr>
              <a:t>Customer receives an order ID immediately</a:t>
            </a:r>
          </a:p>
        </p:txBody>
      </p:sp>
      <p:sp>
        <p:nvSpPr>
          <p:cNvPr id="17" name="">
            <a:extLst xmlns:a="http://schemas.openxmlformats.org/drawingml/2006/main">
              <a:ext uri="{FF2B5EF4-FFF2-40B4-BE49-F238E27FC236}">
                <a16:creationId xmlns:a16="http://schemas.microsoft.com/office/drawing/2014/main" id="{175AB5DC-BB2A-4106-B7D4-641339A5DA17}"/>
              </a:ext>
            </a:extLst>
          </p:cNvPr>
          <p:cNvSpPr>
            <a:spLocks xmlns:a="http://schemas.openxmlformats.org/drawingml/2006/main" noGrp="1"/>
          </p:cNvSpPr>
          <p:nvPr/>
        </p:nvSpPr>
        <p:spPr>
          <a:xfrm xmlns:a="http://schemas.openxmlformats.org/drawingml/2006/main">
            <a:off x="1524000" y="4010025"/>
            <a:ext cx="95250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18" name="">
            <a:extLst xmlns:a="http://schemas.openxmlformats.org/drawingml/2006/main">
              <a:ext uri="{FF2B5EF4-FFF2-40B4-BE49-F238E27FC236}">
                <a16:creationId xmlns:a16="http://schemas.microsoft.com/office/drawing/2014/main" id="{9749BEF5-608D-4E7C-AB48-12D81E0C7823}"/>
              </a:ext>
            </a:extLst>
          </p:cNvPr>
          <p:cNvSpPr>
            <a:spLocks xmlns:a="http://schemas.openxmlformats.org/drawingml/2006/main" noGrp="1"/>
          </p:cNvSpPr>
          <p:nvPr/>
        </p:nvSpPr>
        <p:spPr>
          <a:xfrm xmlns:a="http://schemas.openxmlformats.org/drawingml/2006/main">
            <a:off x="685800" y="4257675"/>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ctr">
              <a:lnSpc>
                <a:spcPct val="106000"/>
              </a:lnSpc>
              <a:buNone/>
              <a:defRPr sz="2400" b="1">
                <a:solidFill>
                  <a:srgbClr val="F36B21"/>
                </a:solidFill>
                <a:latin typeface="Avenir Next"/>
                <a:ea typeface="Avenir Next"/>
                <a:cs typeface="Avenir Next"/>
              </a:defRPr>
            </a:pPr>
            <a:r>
              <a:rPr sz="2400" b="1">
                <a:solidFill>
                  <a:srgbClr val="F36B21"/>
                </a:solidFill>
                <a:latin typeface="Avenir Next"/>
                <a:ea typeface="Avenir Next"/>
                <a:cs typeface="Avenir Next"/>
              </a:rPr>
              <a:t>4</a:t>
            </a:r>
          </a:p>
        </p:txBody>
      </p:sp>
      <p:sp>
        <p:nvSpPr>
          <p:cNvPr id="19" name="">
            <a:extLst xmlns:a="http://schemas.openxmlformats.org/drawingml/2006/main">
              <a:ext uri="{FF2B5EF4-FFF2-40B4-BE49-F238E27FC236}">
                <a16:creationId xmlns:a16="http://schemas.microsoft.com/office/drawing/2014/main" id="{72957DDD-F646-4C0B-9884-DB0A65B0F379}"/>
              </a:ext>
            </a:extLst>
          </p:cNvPr>
          <p:cNvSpPr>
            <a:spLocks xmlns:a="http://schemas.openxmlformats.org/drawingml/2006/main" noGrp="1"/>
          </p:cNvSpPr>
          <p:nvPr/>
        </p:nvSpPr>
        <p:spPr>
          <a:xfrm xmlns:a="http://schemas.openxmlformats.org/drawingml/2006/main">
            <a:off x="1524000" y="4276725"/>
            <a:ext cx="2762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06000"/>
              </a:lnSpc>
              <a:buNone/>
              <a:defRPr sz="1875" b="1">
                <a:solidFill>
                  <a:srgbClr val="142B4A"/>
                </a:solidFill>
                <a:latin typeface="Avenir Next"/>
                <a:ea typeface="Avenir Next"/>
                <a:cs typeface="Avenir Next"/>
              </a:defRPr>
            </a:pPr>
            <a:r>
              <a:rPr sz="1875" b="1">
                <a:solidFill>
                  <a:srgbClr val="142B4A"/>
                </a:solidFill>
                <a:latin typeface="Avenir Next"/>
                <a:ea typeface="Avenir Next"/>
                <a:cs typeface="Avenir Next"/>
              </a:rPr>
              <a:t>Workers run</a:t>
            </a:r>
          </a:p>
        </p:txBody>
      </p:sp>
      <p:sp>
        <p:nvSpPr>
          <p:cNvPr id="20" name="">
            <a:extLst xmlns:a="http://schemas.openxmlformats.org/drawingml/2006/main">
              <a:ext uri="{FF2B5EF4-FFF2-40B4-BE49-F238E27FC236}">
                <a16:creationId xmlns:a16="http://schemas.microsoft.com/office/drawing/2014/main" id="{972E265E-8410-4347-BFE0-D8E220B260C5}"/>
              </a:ext>
            </a:extLst>
          </p:cNvPr>
          <p:cNvSpPr>
            <a:spLocks xmlns:a="http://schemas.openxmlformats.org/drawingml/2006/main" noGrp="1"/>
          </p:cNvSpPr>
          <p:nvPr/>
        </p:nvSpPr>
        <p:spPr>
          <a:xfrm xmlns:a="http://schemas.openxmlformats.org/drawingml/2006/main">
            <a:off x="4572000" y="4276725"/>
            <a:ext cx="6477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12000"/>
              </a:lnSpc>
              <a:buNone/>
              <a:defRPr sz="1575" b="0">
                <a:solidFill>
                  <a:srgbClr val="18202C"/>
                </a:solidFill>
                <a:latin typeface="Avenir Next"/>
                <a:ea typeface="Avenir Next"/>
                <a:cs typeface="Avenir Next"/>
              </a:defRPr>
            </a:pPr>
            <a:r>
              <a:rPr sz="1575" b="0">
                <a:solidFill>
                  <a:srgbClr val="18202C"/>
                </a:solidFill>
                <a:latin typeface="Avenir Next"/>
                <a:ea typeface="Avenir Next"/>
                <a:cs typeface="Avenir Next"/>
              </a:rPr>
              <a:t>Payment, restaurant, and notification continue</a:t>
            </a:r>
          </a:p>
        </p:txBody>
      </p:sp>
      <p:sp>
        <p:nvSpPr>
          <p:cNvPr id="21" name="">
            <a:extLst xmlns:a="http://schemas.openxmlformats.org/drawingml/2006/main">
              <a:ext uri="{FF2B5EF4-FFF2-40B4-BE49-F238E27FC236}">
                <a16:creationId xmlns:a16="http://schemas.microsoft.com/office/drawing/2014/main" id="{9A10C516-3F0F-4D62-AECB-D0C4CE839D82}"/>
              </a:ext>
            </a:extLst>
          </p:cNvPr>
          <p:cNvSpPr>
            <a:spLocks xmlns:a="http://schemas.openxmlformats.org/drawingml/2006/main" noGrp="1"/>
          </p:cNvSpPr>
          <p:nvPr/>
        </p:nvSpPr>
        <p:spPr>
          <a:xfrm xmlns:a="http://schemas.openxmlformats.org/drawingml/2006/main">
            <a:off x="1524000" y="4905375"/>
            <a:ext cx="95250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22" name="">
            <a:extLst xmlns:a="http://schemas.openxmlformats.org/drawingml/2006/main">
              <a:ext uri="{FF2B5EF4-FFF2-40B4-BE49-F238E27FC236}">
                <a16:creationId xmlns:a16="http://schemas.microsoft.com/office/drawing/2014/main" id="{DB7D5FB4-F397-4F33-BB48-05793B988597}"/>
              </a:ext>
            </a:extLst>
          </p:cNvPr>
          <p:cNvSpPr>
            <a:spLocks xmlns:a="http://schemas.openxmlformats.org/drawingml/2006/main" noGrp="1"/>
          </p:cNvSpPr>
          <p:nvPr/>
        </p:nvSpPr>
        <p:spPr>
          <a:xfrm xmlns:a="http://schemas.openxmlformats.org/drawingml/2006/main">
            <a:off x="685800" y="5153025"/>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ctr">
              <a:lnSpc>
                <a:spcPct val="106000"/>
              </a:lnSpc>
              <a:buNone/>
              <a:defRPr sz="2400" b="1">
                <a:solidFill>
                  <a:srgbClr val="F36B21"/>
                </a:solidFill>
                <a:latin typeface="Avenir Next"/>
                <a:ea typeface="Avenir Next"/>
                <a:cs typeface="Avenir Next"/>
              </a:defRPr>
            </a:pPr>
            <a:r>
              <a:rPr sz="2400" b="1">
                <a:solidFill>
                  <a:srgbClr val="F36B21"/>
                </a:solidFill>
                <a:latin typeface="Avenir Next"/>
                <a:ea typeface="Avenir Next"/>
                <a:cs typeface="Avenir Next"/>
              </a:rPr>
              <a:t>5</a:t>
            </a:r>
          </a:p>
        </p:txBody>
      </p:sp>
      <p:sp>
        <p:nvSpPr>
          <p:cNvPr id="23" name="">
            <a:extLst xmlns:a="http://schemas.openxmlformats.org/drawingml/2006/main">
              <a:ext uri="{FF2B5EF4-FFF2-40B4-BE49-F238E27FC236}">
                <a16:creationId xmlns:a16="http://schemas.microsoft.com/office/drawing/2014/main" id="{85C623F9-78AB-4F98-859F-004061435AE9}"/>
              </a:ext>
            </a:extLst>
          </p:cNvPr>
          <p:cNvSpPr>
            <a:spLocks xmlns:a="http://schemas.openxmlformats.org/drawingml/2006/main" noGrp="1"/>
          </p:cNvSpPr>
          <p:nvPr/>
        </p:nvSpPr>
        <p:spPr>
          <a:xfrm xmlns:a="http://schemas.openxmlformats.org/drawingml/2006/main">
            <a:off x="1524000" y="5172075"/>
            <a:ext cx="2762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06000"/>
              </a:lnSpc>
              <a:buNone/>
              <a:defRPr sz="1875" b="1">
                <a:solidFill>
                  <a:srgbClr val="142B4A"/>
                </a:solidFill>
                <a:latin typeface="Avenir Next"/>
                <a:ea typeface="Avenir Next"/>
                <a:cs typeface="Avenir Next"/>
              </a:defRPr>
            </a:pPr>
            <a:r>
              <a:rPr sz="1875" b="1">
                <a:solidFill>
                  <a:srgbClr val="142B4A"/>
                </a:solidFill>
                <a:latin typeface="Avenir Next"/>
                <a:ea typeface="Avenir Next"/>
                <a:cs typeface="Avenir Next"/>
              </a:rPr>
              <a:t>Track status</a:t>
            </a:r>
          </a:p>
        </p:txBody>
      </p:sp>
      <p:sp>
        <p:nvSpPr>
          <p:cNvPr id="24" name="">
            <a:extLst xmlns:a="http://schemas.openxmlformats.org/drawingml/2006/main">
              <a:ext uri="{FF2B5EF4-FFF2-40B4-BE49-F238E27FC236}">
                <a16:creationId xmlns:a16="http://schemas.microsoft.com/office/drawing/2014/main" id="{201C7274-83B5-4F8B-BCF7-5BA9EFBCC666}"/>
              </a:ext>
            </a:extLst>
          </p:cNvPr>
          <p:cNvSpPr>
            <a:spLocks xmlns:a="http://schemas.openxmlformats.org/drawingml/2006/main" noGrp="1"/>
          </p:cNvSpPr>
          <p:nvPr/>
        </p:nvSpPr>
        <p:spPr>
          <a:xfrm xmlns:a="http://schemas.openxmlformats.org/drawingml/2006/main">
            <a:off x="4572000" y="5172075"/>
            <a:ext cx="6477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12000"/>
              </a:lnSpc>
              <a:buNone/>
              <a:defRPr sz="1575" b="0">
                <a:solidFill>
                  <a:srgbClr val="18202C"/>
                </a:solidFill>
                <a:latin typeface="Avenir Next"/>
                <a:ea typeface="Avenir Next"/>
                <a:cs typeface="Avenir Next"/>
              </a:defRPr>
            </a:pPr>
            <a:r>
              <a:rPr sz="1575" b="0">
                <a:solidFill>
                  <a:srgbClr val="18202C"/>
                </a:solidFill>
                <a:latin typeface="Avenir Next"/>
                <a:ea typeface="Avenir Next"/>
                <a:cs typeface="Avenir Next"/>
              </a:rPr>
              <a:t>GET /orders/{id} returns the timeline</a:t>
            </a:r>
          </a:p>
        </p:txBody>
      </p:sp>
      <p:sp>
        <p:nvSpPr>
          <p:cNvPr id="25" name="">
            <a:extLst xmlns:a="http://schemas.openxmlformats.org/drawingml/2006/main">
              <a:ext uri="{FF2B5EF4-FFF2-40B4-BE49-F238E27FC236}">
                <a16:creationId xmlns:a16="http://schemas.microsoft.com/office/drawing/2014/main" id="{100EFC06-BA4D-47F9-97E1-0B7FF9C8194C}"/>
              </a:ext>
            </a:extLst>
          </p:cNvPr>
          <p:cNvSpPr>
            <a:spLocks xmlns:a="http://schemas.openxmlformats.org/drawingml/2006/main" noGrp="1"/>
          </p:cNvSpPr>
          <p:nvPr/>
        </p:nvSpPr>
        <p:spPr>
          <a:xfrm xmlns:a="http://schemas.openxmlformats.org/drawingml/2006/main">
            <a:off x="1952625" y="6048375"/>
            <a:ext cx="8286750" cy="400050"/>
          </a:xfrm>
          <a:prstGeom xmlns:a="http://schemas.openxmlformats.org/drawingml/2006/main" prst="roundRect">
            <a:avLst>
              <a:gd name="adj" fmla="val 28571"/>
            </a:avLst>
          </a:prstGeom>
          <a:solidFill xmlns:a="http://schemas.openxmlformats.org/drawingml/2006/main">
            <a:srgbClr val="F6E7B0"/>
          </a:solidFill>
          <a:ln xmlns:a="http://schemas.openxmlformats.org/drawingml/2006/main" w="9525">
            <a:solidFill>
              <a:srgbClr val="D7BC58"/>
            </a:solidFill>
          </a:ln>
        </p:spPr>
        <p:txBody>
          <a:bodyPr xmlns:a="http://schemas.openxmlformats.org/drawingml/2006/main" wrap="square" lIns="95250" tIns="76200" rIns="95250" bIns="76200" anchor="ctr">
            <a:normAutofit fontScale="87827"/>
          </a:bodyPr>
          <a:lstStyle xmlns:a="http://schemas.openxmlformats.org/drawingml/2006/main"/>
          <a:p xmlns:a="http://schemas.openxmlformats.org/drawingml/2006/main">
            <a:pPr algn="ctr">
              <a:lnSpc>
                <a:spcPct val="100000"/>
              </a:lnSpc>
              <a:buNone/>
              <a:defRPr sz="1350" b="1">
                <a:solidFill>
                  <a:srgbClr val="142B4A"/>
                </a:solidFill>
                <a:latin typeface="Avenir Next"/>
                <a:ea typeface="Avenir Next"/>
                <a:cs typeface="Avenir Next"/>
              </a:defRPr>
            </a:pPr>
            <a:r>
              <a:rPr sz="1350" b="1">
                <a:solidFill>
                  <a:srgbClr val="142B4A"/>
                </a:solidFill>
                <a:latin typeface="Avenir Next"/>
                <a:ea typeface="Avenir Next"/>
                <a:cs typeface="Avenir Next"/>
              </a:rPr>
              <a:t>The middle events may appear in different orders because workers run independently.</a:t>
            </a:r>
          </a:p>
        </p:txBody>
      </p:sp>
    </p:spTree>
    <p:extLst>
      <p:ext uri="{BB962C8B-B14F-4D97-AF65-F5344CB8AC3E}">
        <p14:creationId xmlns:p14="http://schemas.microsoft.com/office/powerpoint/2010/main" val="1749165709"/>
      </p:ext>
    </p:extLst>
  </p:cSld>
</p:sld>
</file>

<file path=ppt/slides/slide7.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93F1CA6C-6AAF-4EE6-90CB-CAAC602DA360}"/>
              </a:ext>
            </a:extLst>
          </p:cNvPr>
          <p:cNvSpPr>
            <a:spLocks xmlns:a="http://schemas.openxmlformats.org/drawingml/2006/main" noGrp="1"/>
          </p:cNvSpPr>
          <p:nvPr/>
        </p:nvSpPr>
        <p:spPr>
          <a:xfrm xmlns:a="http://schemas.openxmlformats.org/drawingml/2006/main">
            <a:off x="552450" y="342900"/>
            <a:ext cx="10287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95071"/>
          </a:bodyPr>
          <a:lstStyle xmlns:a="http://schemas.openxmlformats.org/drawingml/2006/main"/>
          <a:p xmlns:a="http://schemas.openxmlformats.org/drawingml/2006/main">
            <a:pPr algn="l">
              <a:lnSpc>
                <a:spcPct val="106000"/>
              </a:lnSpc>
              <a:buNone/>
              <a:defRPr sz="3225" b="1">
                <a:solidFill>
                  <a:srgbClr val="18202C"/>
                </a:solidFill>
                <a:latin typeface="Avenir Next"/>
                <a:ea typeface="Avenir Next"/>
                <a:cs typeface="Avenir Next"/>
              </a:defRPr>
            </a:pPr>
            <a:r>
              <a:rPr sz="3225" b="1">
                <a:solidFill>
                  <a:srgbClr val="18202C"/>
                </a:solidFill>
                <a:latin typeface="Avenir Next"/>
                <a:ea typeface="Avenir Next"/>
                <a:cs typeface="Avenir Next"/>
              </a:rPr>
              <a:t>Implementation plan</a:t>
            </a:r>
          </a:p>
        </p:txBody>
      </p:sp>
      <p:sp>
        <p:nvSpPr>
          <p:cNvPr id="2" name="">
            <a:extLst xmlns:a="http://schemas.openxmlformats.org/drawingml/2006/main">
              <a:ext uri="{FF2B5EF4-FFF2-40B4-BE49-F238E27FC236}">
                <a16:creationId xmlns:a16="http://schemas.microsoft.com/office/drawing/2014/main" id="{4BAA9707-F61F-4E43-BDC7-7FAE80512294}"/>
              </a:ext>
            </a:extLst>
          </p:cNvPr>
          <p:cNvSpPr>
            <a:spLocks xmlns:a="http://schemas.openxmlformats.org/drawingml/2006/main" noGrp="1"/>
          </p:cNvSpPr>
          <p:nvPr/>
        </p:nvSpPr>
        <p:spPr>
          <a:xfrm xmlns:a="http://schemas.openxmlformats.org/drawingml/2006/main">
            <a:off x="571500" y="914400"/>
            <a:ext cx="1028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06000"/>
              </a:lnSpc>
              <a:buNone/>
              <a:defRPr sz="1500" b="0">
                <a:solidFill>
                  <a:srgbClr val="627083"/>
                </a:solidFill>
                <a:latin typeface="Avenir Next"/>
                <a:ea typeface="Avenir Next"/>
                <a:cs typeface="Avenir Next"/>
              </a:defRPr>
            </a:pPr>
            <a:r>
              <a:rPr sz="1500" b="0">
                <a:solidFill>
                  <a:srgbClr val="627083"/>
                </a:solidFill>
                <a:latin typeface="Avenir Next"/>
                <a:ea typeface="Avenir Next"/>
                <a:cs typeface="Avenir Next"/>
              </a:rPr>
              <a:t>Four steps turn the synchronous workflow into an event-driven system</a:t>
            </a:r>
          </a:p>
        </p:txBody>
      </p:sp>
      <p:sp>
        <p:nvSpPr>
          <p:cNvPr id="3" name="">
            <a:extLst xmlns:a="http://schemas.openxmlformats.org/drawingml/2006/main">
              <a:ext uri="{FF2B5EF4-FFF2-40B4-BE49-F238E27FC236}">
                <a16:creationId xmlns:a16="http://schemas.microsoft.com/office/drawing/2014/main" id="{81B69763-8B6F-4726-A4A5-81CAE2ECBF38}"/>
              </a:ext>
            </a:extLst>
          </p:cNvPr>
          <p:cNvSpPr>
            <a:spLocks xmlns:a="http://schemas.openxmlformats.org/drawingml/2006/main" noGrp="1"/>
          </p:cNvSpPr>
          <p:nvPr/>
        </p:nvSpPr>
        <p:spPr>
          <a:xfrm xmlns:a="http://schemas.openxmlformats.org/drawingml/2006/main">
            <a:off x="533400" y="1295400"/>
            <a:ext cx="11125200" cy="47625"/>
          </a:xfrm>
          <a:prstGeom xmlns:a="http://schemas.openxmlformats.org/drawingml/2006/main" prst="rect">
            <a:avLst/>
          </a:prstGeom>
          <a:solidFill xmlns:a="http://schemas.openxmlformats.org/drawingml/2006/main">
            <a:srgbClr val="F36B21"/>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B1414D3-E574-46DE-B83C-41A942254CEB}"/>
              </a:ext>
            </a:extLst>
          </p:cNvPr>
          <p:cNvSpPr>
            <a:spLocks xmlns:a="http://schemas.openxmlformats.org/drawingml/2006/main" noGrp="1"/>
          </p:cNvSpPr>
          <p:nvPr/>
        </p:nvSpPr>
        <p:spPr>
          <a:xfrm xmlns:a="http://schemas.openxmlformats.org/drawingml/2006/main">
            <a:off x="10382250" y="6619875"/>
            <a:ext cx="7239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91719"/>
          </a:bodyPr>
          <a:lstStyle xmlns:a="http://schemas.openxmlformats.org/drawingml/2006/main"/>
          <a:p xmlns:a="http://schemas.openxmlformats.org/drawingml/2006/main">
            <a:pPr algn="r">
              <a:lnSpc>
                <a:spcPct val="106000"/>
              </a:lnSpc>
              <a:buNone/>
              <a:defRPr sz="900" b="1">
                <a:solidFill>
                  <a:srgbClr val="627083"/>
                </a:solidFill>
                <a:latin typeface="Avenir Next"/>
                <a:ea typeface="Avenir Next"/>
                <a:cs typeface="Avenir Next"/>
              </a:defRPr>
            </a:pPr>
            <a:r>
              <a:rPr sz="900" b="1">
                <a:solidFill>
                  <a:srgbClr val="627083"/>
                </a:solidFill>
                <a:latin typeface="Avenir Next"/>
                <a:ea typeface="Avenir Next"/>
                <a:cs typeface="Avenir Next"/>
              </a:rPr>
              <a:t>P2</a:t>
            </a:r>
          </a:p>
        </p:txBody>
      </p:sp>
      <p:sp>
        <p:nvSpPr>
          <p:cNvPr id="5" name="">
            <a:extLst xmlns:a="http://schemas.openxmlformats.org/drawingml/2006/main">
              <a:ext uri="{FF2B5EF4-FFF2-40B4-BE49-F238E27FC236}">
                <a16:creationId xmlns:a16="http://schemas.microsoft.com/office/drawing/2014/main" id="{A25A1952-BE6D-4BBC-8426-5EAE25448762}"/>
              </a:ext>
            </a:extLst>
          </p:cNvPr>
          <p:cNvSpPr>
            <a:spLocks xmlns:a="http://schemas.openxmlformats.org/drawingml/2006/main" noGrp="1"/>
          </p:cNvSpPr>
          <p:nvPr/>
        </p:nvSpPr>
        <p:spPr>
          <a:xfrm xmlns:a="http://schemas.openxmlformats.org/drawingml/2006/main">
            <a:off x="11191875" y="6619875"/>
            <a:ext cx="4286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91719"/>
          </a:bodyPr>
          <a:lstStyle xmlns:a="http://schemas.openxmlformats.org/drawingml/2006/main"/>
          <a:p xmlns:a="http://schemas.openxmlformats.org/drawingml/2006/main">
            <a:pPr algn="r">
              <a:lnSpc>
                <a:spcPct val="106000"/>
              </a:lnSpc>
              <a:buNone/>
              <a:defRPr sz="900" b="0">
                <a:solidFill>
                  <a:srgbClr val="627083"/>
                </a:solidFill>
                <a:latin typeface="Avenir Next"/>
                <a:ea typeface="Avenir Next"/>
                <a:cs typeface="Avenir Next"/>
              </a:defRPr>
            </a:pPr>
            <a:r>
              <a:rPr sz="900" b="0">
                <a:solidFill>
                  <a:srgbClr val="627083"/>
                </a:solidFill>
                <a:latin typeface="Avenir Next"/>
                <a:ea typeface="Avenir Next"/>
                <a:cs typeface="Avenir Next"/>
              </a:rPr>
              <a:t>07</a:t>
            </a:r>
          </a:p>
        </p:txBody>
      </p:sp>
      <p:sp>
        <p:nvSpPr>
          <p:cNvPr id="6" name="">
            <a:extLst xmlns:a="http://schemas.openxmlformats.org/drawingml/2006/main">
              <a:ext uri="{FF2B5EF4-FFF2-40B4-BE49-F238E27FC236}">
                <a16:creationId xmlns:a16="http://schemas.microsoft.com/office/drawing/2014/main" id="{E5CDF080-C537-473E-91D3-1BD648180BC1}"/>
              </a:ext>
            </a:extLst>
          </p:cNvPr>
          <p:cNvSpPr>
            <a:spLocks xmlns:a="http://schemas.openxmlformats.org/drawingml/2006/main" noGrp="1"/>
          </p:cNvSpPr>
          <p:nvPr/>
        </p:nvSpPr>
        <p:spPr>
          <a:xfrm xmlns:a="http://schemas.openxmlformats.org/drawingml/2006/main">
            <a:off x="685800" y="1666875"/>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ctr">
              <a:lnSpc>
                <a:spcPct val="106000"/>
              </a:lnSpc>
              <a:buNone/>
              <a:defRPr sz="2400" b="1">
                <a:solidFill>
                  <a:srgbClr val="F36B21"/>
                </a:solidFill>
                <a:latin typeface="Avenir Next"/>
                <a:ea typeface="Avenir Next"/>
                <a:cs typeface="Avenir Next"/>
              </a:defRPr>
            </a:pPr>
            <a:r>
              <a:rPr sz="2400" b="1">
                <a:solidFill>
                  <a:srgbClr val="F36B21"/>
                </a:solidFill>
                <a:latin typeface="Avenir Next"/>
                <a:ea typeface="Avenir Next"/>
                <a:cs typeface="Avenir Next"/>
              </a:rPr>
              <a:t>01</a:t>
            </a:r>
          </a:p>
        </p:txBody>
      </p:sp>
      <p:sp>
        <p:nvSpPr>
          <p:cNvPr id="7" name="">
            <a:extLst xmlns:a="http://schemas.openxmlformats.org/drawingml/2006/main">
              <a:ext uri="{FF2B5EF4-FFF2-40B4-BE49-F238E27FC236}">
                <a16:creationId xmlns:a16="http://schemas.microsoft.com/office/drawing/2014/main" id="{7160E85D-5072-4113-8193-5C29A851E9DB}"/>
              </a:ext>
            </a:extLst>
          </p:cNvPr>
          <p:cNvSpPr>
            <a:spLocks xmlns:a="http://schemas.openxmlformats.org/drawingml/2006/main" noGrp="1"/>
          </p:cNvSpPr>
          <p:nvPr/>
        </p:nvSpPr>
        <p:spPr>
          <a:xfrm xmlns:a="http://schemas.openxmlformats.org/drawingml/2006/main">
            <a:off x="1524000" y="1685925"/>
            <a:ext cx="2762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06000"/>
              </a:lnSpc>
              <a:buNone/>
              <a:defRPr sz="1875" b="1">
                <a:solidFill>
                  <a:srgbClr val="142B4A"/>
                </a:solidFill>
                <a:latin typeface="Avenir Next"/>
                <a:ea typeface="Avenir Next"/>
                <a:cs typeface="Avenir Next"/>
              </a:defRPr>
            </a:pPr>
            <a:r>
              <a:rPr sz="1875" b="1">
                <a:solidFill>
                  <a:srgbClr val="142B4A"/>
                </a:solidFill>
                <a:latin typeface="Avenir Next"/>
                <a:ea typeface="Avenir Next"/>
                <a:cs typeface="Avenir Next"/>
              </a:rPr>
              <a:t>API + database</a:t>
            </a:r>
          </a:p>
        </p:txBody>
      </p:sp>
      <p:sp>
        <p:nvSpPr>
          <p:cNvPr id="8" name="">
            <a:extLst xmlns:a="http://schemas.openxmlformats.org/drawingml/2006/main">
              <a:ext uri="{FF2B5EF4-FFF2-40B4-BE49-F238E27FC236}">
                <a16:creationId xmlns:a16="http://schemas.microsoft.com/office/drawing/2014/main" id="{7F97DE29-85D9-4A14-A8DD-4A0356F3CBA7}"/>
              </a:ext>
            </a:extLst>
          </p:cNvPr>
          <p:cNvSpPr>
            <a:spLocks xmlns:a="http://schemas.openxmlformats.org/drawingml/2006/main" noGrp="1"/>
          </p:cNvSpPr>
          <p:nvPr/>
        </p:nvSpPr>
        <p:spPr>
          <a:xfrm xmlns:a="http://schemas.openxmlformats.org/drawingml/2006/main">
            <a:off x="4572000" y="1685925"/>
            <a:ext cx="6477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12000"/>
              </a:lnSpc>
              <a:buNone/>
              <a:defRPr sz="1575" b="0">
                <a:solidFill>
                  <a:srgbClr val="18202C"/>
                </a:solidFill>
                <a:latin typeface="Avenir Next"/>
                <a:ea typeface="Avenir Next"/>
                <a:cs typeface="Avenir Next"/>
              </a:defRPr>
            </a:pPr>
            <a:r>
              <a:rPr sz="1575" b="0">
                <a:solidFill>
                  <a:srgbClr val="18202C"/>
                </a:solidFill>
                <a:latin typeface="Avenir Next"/>
                <a:ea typeface="Avenir Next"/>
                <a:cs typeface="Avenir Next"/>
              </a:rPr>
              <a:t>Validate input, create the order, and record the timeline.</a:t>
            </a:r>
          </a:p>
        </p:txBody>
      </p:sp>
      <p:sp>
        <p:nvSpPr>
          <p:cNvPr id="9" name="">
            <a:extLst xmlns:a="http://schemas.openxmlformats.org/drawingml/2006/main">
              <a:ext uri="{FF2B5EF4-FFF2-40B4-BE49-F238E27FC236}">
                <a16:creationId xmlns:a16="http://schemas.microsoft.com/office/drawing/2014/main" id="{49B7E8BC-7FBE-4111-B267-FFC972EBDC21}"/>
              </a:ext>
            </a:extLst>
          </p:cNvPr>
          <p:cNvSpPr>
            <a:spLocks xmlns:a="http://schemas.openxmlformats.org/drawingml/2006/main" noGrp="1"/>
          </p:cNvSpPr>
          <p:nvPr/>
        </p:nvSpPr>
        <p:spPr>
          <a:xfrm xmlns:a="http://schemas.openxmlformats.org/drawingml/2006/main">
            <a:off x="1524000" y="2390775"/>
            <a:ext cx="95250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10" name="">
            <a:extLst xmlns:a="http://schemas.openxmlformats.org/drawingml/2006/main">
              <a:ext uri="{FF2B5EF4-FFF2-40B4-BE49-F238E27FC236}">
                <a16:creationId xmlns:a16="http://schemas.microsoft.com/office/drawing/2014/main" id="{5A711200-A0D2-4D94-BEBF-A79AE2B33178}"/>
              </a:ext>
            </a:extLst>
          </p:cNvPr>
          <p:cNvSpPr>
            <a:spLocks xmlns:a="http://schemas.openxmlformats.org/drawingml/2006/main" noGrp="1"/>
          </p:cNvSpPr>
          <p:nvPr/>
        </p:nvSpPr>
        <p:spPr>
          <a:xfrm xmlns:a="http://schemas.openxmlformats.org/drawingml/2006/main">
            <a:off x="685800" y="2714625"/>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ctr">
              <a:lnSpc>
                <a:spcPct val="106000"/>
              </a:lnSpc>
              <a:buNone/>
              <a:defRPr sz="2400" b="1">
                <a:solidFill>
                  <a:srgbClr val="F36B21"/>
                </a:solidFill>
                <a:latin typeface="Avenir Next"/>
                <a:ea typeface="Avenir Next"/>
                <a:cs typeface="Avenir Next"/>
              </a:defRPr>
            </a:pPr>
            <a:r>
              <a:rPr sz="2400" b="1">
                <a:solidFill>
                  <a:srgbClr val="F36B21"/>
                </a:solidFill>
                <a:latin typeface="Avenir Next"/>
                <a:ea typeface="Avenir Next"/>
                <a:cs typeface="Avenir Next"/>
              </a:rPr>
              <a:t>02</a:t>
            </a:r>
          </a:p>
        </p:txBody>
      </p:sp>
      <p:sp>
        <p:nvSpPr>
          <p:cNvPr id="11" name="">
            <a:extLst xmlns:a="http://schemas.openxmlformats.org/drawingml/2006/main">
              <a:ext uri="{FF2B5EF4-FFF2-40B4-BE49-F238E27FC236}">
                <a16:creationId xmlns:a16="http://schemas.microsoft.com/office/drawing/2014/main" id="{11280806-DCB3-4AD7-B5CA-D769408DA56C}"/>
              </a:ext>
            </a:extLst>
          </p:cNvPr>
          <p:cNvSpPr>
            <a:spLocks xmlns:a="http://schemas.openxmlformats.org/drawingml/2006/main" noGrp="1"/>
          </p:cNvSpPr>
          <p:nvPr/>
        </p:nvSpPr>
        <p:spPr>
          <a:xfrm xmlns:a="http://schemas.openxmlformats.org/drawingml/2006/main">
            <a:off x="1524000" y="2733675"/>
            <a:ext cx="2762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06000"/>
              </a:lnSpc>
              <a:buNone/>
              <a:defRPr sz="1875" b="1">
                <a:solidFill>
                  <a:srgbClr val="142B4A"/>
                </a:solidFill>
                <a:latin typeface="Avenir Next"/>
                <a:ea typeface="Avenir Next"/>
                <a:cs typeface="Avenir Next"/>
              </a:defRPr>
            </a:pPr>
            <a:r>
              <a:rPr sz="1875" b="1">
                <a:solidFill>
                  <a:srgbClr val="142B4A"/>
                </a:solidFill>
                <a:latin typeface="Avenir Next"/>
                <a:ea typeface="Avenir Next"/>
                <a:cs typeface="Avenir Next"/>
              </a:rPr>
              <a:t>RabbitMQ setup</a:t>
            </a:r>
          </a:p>
        </p:txBody>
      </p:sp>
      <p:sp>
        <p:nvSpPr>
          <p:cNvPr id="12" name="">
            <a:extLst xmlns:a="http://schemas.openxmlformats.org/drawingml/2006/main">
              <a:ext uri="{FF2B5EF4-FFF2-40B4-BE49-F238E27FC236}">
                <a16:creationId xmlns:a16="http://schemas.microsoft.com/office/drawing/2014/main" id="{8AA5C7E3-253F-4470-B2EE-D00419A2DF7A}"/>
              </a:ext>
            </a:extLst>
          </p:cNvPr>
          <p:cNvSpPr>
            <a:spLocks xmlns:a="http://schemas.openxmlformats.org/drawingml/2006/main" noGrp="1"/>
          </p:cNvSpPr>
          <p:nvPr/>
        </p:nvSpPr>
        <p:spPr>
          <a:xfrm xmlns:a="http://schemas.openxmlformats.org/drawingml/2006/main">
            <a:off x="4572000" y="2733675"/>
            <a:ext cx="6477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12000"/>
              </a:lnSpc>
              <a:buNone/>
              <a:defRPr sz="1575" b="0">
                <a:solidFill>
                  <a:srgbClr val="18202C"/>
                </a:solidFill>
                <a:latin typeface="Avenir Next"/>
                <a:ea typeface="Avenir Next"/>
                <a:cs typeface="Avenir Next"/>
              </a:defRPr>
            </a:pPr>
            <a:r>
              <a:rPr sz="1575" b="0">
                <a:solidFill>
                  <a:srgbClr val="18202C"/>
                </a:solidFill>
                <a:latin typeface="Avenir Next"/>
                <a:ea typeface="Avenir Next"/>
                <a:cs typeface="Avenir Next"/>
              </a:rPr>
              <a:t>Declare the exchange, queues, bindings, and dead-letter queue.</a:t>
            </a:r>
          </a:p>
        </p:txBody>
      </p:sp>
      <p:sp>
        <p:nvSpPr>
          <p:cNvPr id="13" name="">
            <a:extLst xmlns:a="http://schemas.openxmlformats.org/drawingml/2006/main">
              <a:ext uri="{FF2B5EF4-FFF2-40B4-BE49-F238E27FC236}">
                <a16:creationId xmlns:a16="http://schemas.microsoft.com/office/drawing/2014/main" id="{2EAF08E5-630C-4A23-AD1A-54569BF63D15}"/>
              </a:ext>
            </a:extLst>
          </p:cNvPr>
          <p:cNvSpPr>
            <a:spLocks xmlns:a="http://schemas.openxmlformats.org/drawingml/2006/main" noGrp="1"/>
          </p:cNvSpPr>
          <p:nvPr/>
        </p:nvSpPr>
        <p:spPr>
          <a:xfrm xmlns:a="http://schemas.openxmlformats.org/drawingml/2006/main">
            <a:off x="1524000" y="3438525"/>
            <a:ext cx="95250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14" name="">
            <a:extLst xmlns:a="http://schemas.openxmlformats.org/drawingml/2006/main">
              <a:ext uri="{FF2B5EF4-FFF2-40B4-BE49-F238E27FC236}">
                <a16:creationId xmlns:a16="http://schemas.microsoft.com/office/drawing/2014/main" id="{45438C8C-1DD4-4D7B-9908-DF2C8FBD91BB}"/>
              </a:ext>
            </a:extLst>
          </p:cNvPr>
          <p:cNvSpPr>
            <a:spLocks xmlns:a="http://schemas.openxmlformats.org/drawingml/2006/main" noGrp="1"/>
          </p:cNvSpPr>
          <p:nvPr/>
        </p:nvSpPr>
        <p:spPr>
          <a:xfrm xmlns:a="http://schemas.openxmlformats.org/drawingml/2006/main">
            <a:off x="685800" y="3762375"/>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ctr">
              <a:lnSpc>
                <a:spcPct val="106000"/>
              </a:lnSpc>
              <a:buNone/>
              <a:defRPr sz="2400" b="1">
                <a:solidFill>
                  <a:srgbClr val="F36B21"/>
                </a:solidFill>
                <a:latin typeface="Avenir Next"/>
                <a:ea typeface="Avenir Next"/>
                <a:cs typeface="Avenir Next"/>
              </a:defRPr>
            </a:pPr>
            <a:r>
              <a:rPr sz="2400" b="1">
                <a:solidFill>
                  <a:srgbClr val="F36B21"/>
                </a:solidFill>
                <a:latin typeface="Avenir Next"/>
                <a:ea typeface="Avenir Next"/>
                <a:cs typeface="Avenir Next"/>
              </a:rPr>
              <a:t>03</a:t>
            </a:r>
          </a:p>
        </p:txBody>
      </p:sp>
      <p:sp>
        <p:nvSpPr>
          <p:cNvPr id="15" name="">
            <a:extLst xmlns:a="http://schemas.openxmlformats.org/drawingml/2006/main">
              <a:ext uri="{FF2B5EF4-FFF2-40B4-BE49-F238E27FC236}">
                <a16:creationId xmlns:a16="http://schemas.microsoft.com/office/drawing/2014/main" id="{9ED994DC-ED04-4443-BBF9-5C6C5FE83812}"/>
              </a:ext>
            </a:extLst>
          </p:cNvPr>
          <p:cNvSpPr>
            <a:spLocks xmlns:a="http://schemas.openxmlformats.org/drawingml/2006/main" noGrp="1"/>
          </p:cNvSpPr>
          <p:nvPr/>
        </p:nvSpPr>
        <p:spPr>
          <a:xfrm xmlns:a="http://schemas.openxmlformats.org/drawingml/2006/main">
            <a:off x="1524000" y="3781425"/>
            <a:ext cx="2762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06000"/>
              </a:lnSpc>
              <a:buNone/>
              <a:defRPr sz="1875" b="1">
                <a:solidFill>
                  <a:srgbClr val="142B4A"/>
                </a:solidFill>
                <a:latin typeface="Avenir Next"/>
                <a:ea typeface="Avenir Next"/>
                <a:cs typeface="Avenir Next"/>
              </a:defRPr>
            </a:pPr>
            <a:r>
              <a:rPr sz="1875" b="1">
                <a:solidFill>
                  <a:srgbClr val="142B4A"/>
                </a:solidFill>
                <a:latin typeface="Avenir Next"/>
                <a:ea typeface="Avenir Next"/>
                <a:cs typeface="Avenir Next"/>
              </a:rPr>
              <a:t>Worker services</a:t>
            </a:r>
          </a:p>
        </p:txBody>
      </p:sp>
      <p:sp>
        <p:nvSpPr>
          <p:cNvPr id="16" name="">
            <a:extLst xmlns:a="http://schemas.openxmlformats.org/drawingml/2006/main">
              <a:ext uri="{FF2B5EF4-FFF2-40B4-BE49-F238E27FC236}">
                <a16:creationId xmlns:a16="http://schemas.microsoft.com/office/drawing/2014/main" id="{60B426C8-10BE-4483-BAC7-D4683220528C}"/>
              </a:ext>
            </a:extLst>
          </p:cNvPr>
          <p:cNvSpPr>
            <a:spLocks xmlns:a="http://schemas.openxmlformats.org/drawingml/2006/main" noGrp="1"/>
          </p:cNvSpPr>
          <p:nvPr/>
        </p:nvSpPr>
        <p:spPr>
          <a:xfrm xmlns:a="http://schemas.openxmlformats.org/drawingml/2006/main">
            <a:off x="4572000" y="3781425"/>
            <a:ext cx="6477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12000"/>
              </a:lnSpc>
              <a:buNone/>
              <a:defRPr sz="1575" b="0">
                <a:solidFill>
                  <a:srgbClr val="18202C"/>
                </a:solidFill>
                <a:latin typeface="Avenir Next"/>
                <a:ea typeface="Avenir Next"/>
                <a:cs typeface="Avenir Next"/>
              </a:defRPr>
            </a:pPr>
            <a:r>
              <a:rPr sz="1575" b="0">
                <a:solidFill>
                  <a:srgbClr val="18202C"/>
                </a:solidFill>
                <a:latin typeface="Avenir Next"/>
                <a:ea typeface="Avenir Next"/>
                <a:cs typeface="Avenir Next"/>
              </a:rPr>
              <a:t>Implement payment, restaurant, and notification consumers.</a:t>
            </a:r>
          </a:p>
        </p:txBody>
      </p:sp>
      <p:sp>
        <p:nvSpPr>
          <p:cNvPr id="17" name="">
            <a:extLst xmlns:a="http://schemas.openxmlformats.org/drawingml/2006/main">
              <a:ext uri="{FF2B5EF4-FFF2-40B4-BE49-F238E27FC236}">
                <a16:creationId xmlns:a16="http://schemas.microsoft.com/office/drawing/2014/main" id="{01E6E810-F95F-42F4-B57D-A259103BF3BA}"/>
              </a:ext>
            </a:extLst>
          </p:cNvPr>
          <p:cNvSpPr>
            <a:spLocks xmlns:a="http://schemas.openxmlformats.org/drawingml/2006/main" noGrp="1"/>
          </p:cNvSpPr>
          <p:nvPr/>
        </p:nvSpPr>
        <p:spPr>
          <a:xfrm xmlns:a="http://schemas.openxmlformats.org/drawingml/2006/main">
            <a:off x="1524000" y="4486275"/>
            <a:ext cx="95250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18" name="">
            <a:extLst xmlns:a="http://schemas.openxmlformats.org/drawingml/2006/main">
              <a:ext uri="{FF2B5EF4-FFF2-40B4-BE49-F238E27FC236}">
                <a16:creationId xmlns:a16="http://schemas.microsoft.com/office/drawing/2014/main" id="{15D76233-E385-44CF-9708-AA9A35218B58}"/>
              </a:ext>
            </a:extLst>
          </p:cNvPr>
          <p:cNvSpPr>
            <a:spLocks xmlns:a="http://schemas.openxmlformats.org/drawingml/2006/main" noGrp="1"/>
          </p:cNvSpPr>
          <p:nvPr/>
        </p:nvSpPr>
        <p:spPr>
          <a:xfrm xmlns:a="http://schemas.openxmlformats.org/drawingml/2006/main">
            <a:off x="685800" y="4810125"/>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ctr">
              <a:lnSpc>
                <a:spcPct val="106000"/>
              </a:lnSpc>
              <a:buNone/>
              <a:defRPr sz="2400" b="1">
                <a:solidFill>
                  <a:srgbClr val="F36B21"/>
                </a:solidFill>
                <a:latin typeface="Avenir Next"/>
                <a:ea typeface="Avenir Next"/>
                <a:cs typeface="Avenir Next"/>
              </a:defRPr>
            </a:pPr>
            <a:r>
              <a:rPr sz="2400" b="1">
                <a:solidFill>
                  <a:srgbClr val="F36B21"/>
                </a:solidFill>
                <a:latin typeface="Avenir Next"/>
                <a:ea typeface="Avenir Next"/>
                <a:cs typeface="Avenir Next"/>
              </a:rPr>
              <a:t>04</a:t>
            </a:r>
          </a:p>
        </p:txBody>
      </p:sp>
      <p:sp>
        <p:nvSpPr>
          <p:cNvPr id="19" name="">
            <a:extLst xmlns:a="http://schemas.openxmlformats.org/drawingml/2006/main">
              <a:ext uri="{FF2B5EF4-FFF2-40B4-BE49-F238E27FC236}">
                <a16:creationId xmlns:a16="http://schemas.microsoft.com/office/drawing/2014/main" id="{43AA4C10-2574-4BBC-98B8-F66880952E6C}"/>
              </a:ext>
            </a:extLst>
          </p:cNvPr>
          <p:cNvSpPr>
            <a:spLocks xmlns:a="http://schemas.openxmlformats.org/drawingml/2006/main" noGrp="1"/>
          </p:cNvSpPr>
          <p:nvPr/>
        </p:nvSpPr>
        <p:spPr>
          <a:xfrm xmlns:a="http://schemas.openxmlformats.org/drawingml/2006/main">
            <a:off x="1524000" y="4829175"/>
            <a:ext cx="2762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06000"/>
              </a:lnSpc>
              <a:buNone/>
              <a:defRPr sz="1875" b="1">
                <a:solidFill>
                  <a:srgbClr val="142B4A"/>
                </a:solidFill>
                <a:latin typeface="Avenir Next"/>
                <a:ea typeface="Avenir Next"/>
                <a:cs typeface="Avenir Next"/>
              </a:defRPr>
            </a:pPr>
            <a:r>
              <a:rPr sz="1875" b="1">
                <a:solidFill>
                  <a:srgbClr val="142B4A"/>
                </a:solidFill>
                <a:latin typeface="Avenir Next"/>
                <a:ea typeface="Avenir Next"/>
                <a:cs typeface="Avenir Next"/>
              </a:rPr>
              <a:t>Test + demonstrate</a:t>
            </a:r>
          </a:p>
        </p:txBody>
      </p:sp>
      <p:sp>
        <p:nvSpPr>
          <p:cNvPr id="20" name="">
            <a:extLst xmlns:a="http://schemas.openxmlformats.org/drawingml/2006/main">
              <a:ext uri="{FF2B5EF4-FFF2-40B4-BE49-F238E27FC236}">
                <a16:creationId xmlns:a16="http://schemas.microsoft.com/office/drawing/2014/main" id="{C39DFB70-899E-4EE0-86E4-DE32FDE51A5B}"/>
              </a:ext>
            </a:extLst>
          </p:cNvPr>
          <p:cNvSpPr>
            <a:spLocks xmlns:a="http://schemas.openxmlformats.org/drawingml/2006/main" noGrp="1"/>
          </p:cNvSpPr>
          <p:nvPr/>
        </p:nvSpPr>
        <p:spPr>
          <a:xfrm xmlns:a="http://schemas.openxmlformats.org/drawingml/2006/main">
            <a:off x="4572000" y="4829175"/>
            <a:ext cx="6477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12000"/>
              </a:lnSpc>
              <a:buNone/>
              <a:defRPr sz="1575" b="0">
                <a:solidFill>
                  <a:srgbClr val="18202C"/>
                </a:solidFill>
                <a:latin typeface="Avenir Next"/>
                <a:ea typeface="Avenir Next"/>
                <a:cs typeface="Avenir Next"/>
              </a:defRPr>
            </a:pPr>
            <a:r>
              <a:rPr sz="1575" b="0">
                <a:solidFill>
                  <a:srgbClr val="18202C"/>
                </a:solidFill>
                <a:latin typeface="Avenir Next"/>
                <a:ea typeface="Avenir Next"/>
                <a:cs typeface="Avenir Next"/>
              </a:rPr>
              <a:t>Verify success, worker outage, retry, and dead-letter handling.</a:t>
            </a:r>
          </a:p>
        </p:txBody>
      </p:sp>
      <p:sp>
        <p:nvSpPr>
          <p:cNvPr id="21" name="">
            <a:extLst xmlns:a="http://schemas.openxmlformats.org/drawingml/2006/main">
              <a:ext uri="{FF2B5EF4-FFF2-40B4-BE49-F238E27FC236}">
                <a16:creationId xmlns:a16="http://schemas.microsoft.com/office/drawing/2014/main" id="{6F5CD6E8-3009-4B9F-A90E-FD8C852F5BE7}"/>
              </a:ext>
            </a:extLst>
          </p:cNvPr>
          <p:cNvSpPr>
            <a:spLocks xmlns:a="http://schemas.openxmlformats.org/drawingml/2006/main" noGrp="1"/>
          </p:cNvSpPr>
          <p:nvPr/>
        </p:nvSpPr>
        <p:spPr>
          <a:xfrm xmlns:a="http://schemas.openxmlformats.org/drawingml/2006/main">
            <a:off x="1571625" y="6000750"/>
            <a:ext cx="9525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06000"/>
              </a:lnSpc>
              <a:buNone/>
              <a:defRPr sz="1500" b="1">
                <a:solidFill>
                  <a:srgbClr val="C94710"/>
                </a:solidFill>
                <a:latin typeface="Avenir Next"/>
                <a:ea typeface="Avenir Next"/>
                <a:cs typeface="Avenir Next"/>
              </a:defRPr>
            </a:pPr>
            <a:r>
              <a:rPr sz="1500" b="1">
                <a:solidFill>
                  <a:srgbClr val="C94710"/>
                </a:solidFill>
                <a:latin typeface="Avenir Next"/>
                <a:ea typeface="Avenir Next"/>
                <a:cs typeface="Avenir Next"/>
              </a:rPr>
              <a:t>Handoff to Presenter 3: reliability, deployment, results, and the live demonstration</a:t>
            </a:r>
          </a:p>
        </p:txBody>
      </p:sp>
    </p:spTree>
    <p:extLst>
      <p:ext uri="{BB962C8B-B14F-4D97-AF65-F5344CB8AC3E}">
        <p14:creationId xmlns:p14="http://schemas.microsoft.com/office/powerpoint/2010/main" val="251960579"/>
      </p:ext>
    </p:extLst>
  </p:cSld>
</p:sld>
</file>

<file path=ppt/slides/slide8.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0B0485B4-A54E-42A1-95C1-B60F80ABFCB2}"/>
              </a:ext>
            </a:extLst>
          </p:cNvPr>
          <p:cNvSpPr>
            <a:spLocks xmlns:a="http://schemas.openxmlformats.org/drawingml/2006/main" noGrp="1"/>
          </p:cNvSpPr>
          <p:nvPr/>
        </p:nvSpPr>
        <p:spPr>
          <a:xfrm xmlns:a="http://schemas.openxmlformats.org/drawingml/2006/main">
            <a:off x="552450" y="342900"/>
            <a:ext cx="10287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95071"/>
          </a:bodyPr>
          <a:lstStyle xmlns:a="http://schemas.openxmlformats.org/drawingml/2006/main"/>
          <a:p xmlns:a="http://schemas.openxmlformats.org/drawingml/2006/main">
            <a:pPr algn="l">
              <a:lnSpc>
                <a:spcPct val="106000"/>
              </a:lnSpc>
              <a:buNone/>
              <a:defRPr sz="3225" b="1">
                <a:solidFill>
                  <a:srgbClr val="18202C"/>
                </a:solidFill>
                <a:latin typeface="Avenir Next"/>
                <a:ea typeface="Avenir Next"/>
                <a:cs typeface="Avenir Next"/>
              </a:defRPr>
            </a:pPr>
            <a:r>
              <a:rPr sz="3225" b="1">
                <a:solidFill>
                  <a:srgbClr val="18202C"/>
                </a:solidFill>
                <a:latin typeface="Avenir Next"/>
                <a:ea typeface="Avenir Next"/>
                <a:cs typeface="Avenir Next"/>
              </a:rPr>
              <a:t>How the system handles failure</a:t>
            </a:r>
          </a:p>
        </p:txBody>
      </p:sp>
      <p:sp>
        <p:nvSpPr>
          <p:cNvPr id="2" name="">
            <a:extLst xmlns:a="http://schemas.openxmlformats.org/drawingml/2006/main">
              <a:ext uri="{FF2B5EF4-FFF2-40B4-BE49-F238E27FC236}">
                <a16:creationId xmlns:a16="http://schemas.microsoft.com/office/drawing/2014/main" id="{73E9D03F-BC1D-4A18-BB5C-11C87C5CD99B}"/>
              </a:ext>
            </a:extLst>
          </p:cNvPr>
          <p:cNvSpPr>
            <a:spLocks xmlns:a="http://schemas.openxmlformats.org/drawingml/2006/main" noGrp="1"/>
          </p:cNvSpPr>
          <p:nvPr/>
        </p:nvSpPr>
        <p:spPr>
          <a:xfrm xmlns:a="http://schemas.openxmlformats.org/drawingml/2006/main">
            <a:off x="571500" y="914400"/>
            <a:ext cx="1028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06000"/>
              </a:lnSpc>
              <a:buNone/>
              <a:defRPr sz="1500" b="0">
                <a:solidFill>
                  <a:srgbClr val="627083"/>
                </a:solidFill>
                <a:latin typeface="Avenir Next"/>
                <a:ea typeface="Avenir Next"/>
                <a:cs typeface="Avenir Next"/>
              </a:defRPr>
            </a:pPr>
            <a:r>
              <a:rPr sz="1500" b="0">
                <a:solidFill>
                  <a:srgbClr val="627083"/>
                </a:solidFill>
                <a:latin typeface="Avenir Next"/>
                <a:ea typeface="Avenir Next"/>
                <a:cs typeface="Avenir Next"/>
              </a:rPr>
              <a:t>Temporary outages wait in a queue, while repeated failures move to a separate queue</a:t>
            </a:r>
          </a:p>
        </p:txBody>
      </p:sp>
      <p:sp>
        <p:nvSpPr>
          <p:cNvPr id="3" name="">
            <a:extLst xmlns:a="http://schemas.openxmlformats.org/drawingml/2006/main">
              <a:ext uri="{FF2B5EF4-FFF2-40B4-BE49-F238E27FC236}">
                <a16:creationId xmlns:a16="http://schemas.microsoft.com/office/drawing/2014/main" id="{230F5D66-DFE3-4897-927E-C5A0A25CD49D}"/>
              </a:ext>
            </a:extLst>
          </p:cNvPr>
          <p:cNvSpPr>
            <a:spLocks xmlns:a="http://schemas.openxmlformats.org/drawingml/2006/main" noGrp="1"/>
          </p:cNvSpPr>
          <p:nvPr/>
        </p:nvSpPr>
        <p:spPr>
          <a:xfrm xmlns:a="http://schemas.openxmlformats.org/drawingml/2006/main">
            <a:off x="533400" y="1295400"/>
            <a:ext cx="11125200" cy="47625"/>
          </a:xfrm>
          <a:prstGeom xmlns:a="http://schemas.openxmlformats.org/drawingml/2006/main" prst="rect">
            <a:avLst/>
          </a:prstGeom>
          <a:solidFill xmlns:a="http://schemas.openxmlformats.org/drawingml/2006/main">
            <a:srgbClr val="F36B21"/>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DD3FE07-018E-4D56-8AA6-2848E73F2C61}"/>
              </a:ext>
            </a:extLst>
          </p:cNvPr>
          <p:cNvSpPr>
            <a:spLocks xmlns:a="http://schemas.openxmlformats.org/drawingml/2006/main" noGrp="1"/>
          </p:cNvSpPr>
          <p:nvPr/>
        </p:nvSpPr>
        <p:spPr>
          <a:xfrm xmlns:a="http://schemas.openxmlformats.org/drawingml/2006/main">
            <a:off x="10382250" y="6619875"/>
            <a:ext cx="7239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91719"/>
          </a:bodyPr>
          <a:lstStyle xmlns:a="http://schemas.openxmlformats.org/drawingml/2006/main"/>
          <a:p xmlns:a="http://schemas.openxmlformats.org/drawingml/2006/main">
            <a:pPr algn="r">
              <a:lnSpc>
                <a:spcPct val="106000"/>
              </a:lnSpc>
              <a:buNone/>
              <a:defRPr sz="900" b="1">
                <a:solidFill>
                  <a:srgbClr val="627083"/>
                </a:solidFill>
                <a:latin typeface="Avenir Next"/>
                <a:ea typeface="Avenir Next"/>
                <a:cs typeface="Avenir Next"/>
              </a:defRPr>
            </a:pPr>
            <a:r>
              <a:rPr sz="900" b="1">
                <a:solidFill>
                  <a:srgbClr val="627083"/>
                </a:solidFill>
                <a:latin typeface="Avenir Next"/>
                <a:ea typeface="Avenir Next"/>
                <a:cs typeface="Avenir Next"/>
              </a:rPr>
              <a:t>P3</a:t>
            </a:r>
          </a:p>
        </p:txBody>
      </p:sp>
      <p:sp>
        <p:nvSpPr>
          <p:cNvPr id="5" name="">
            <a:extLst xmlns:a="http://schemas.openxmlformats.org/drawingml/2006/main">
              <a:ext uri="{FF2B5EF4-FFF2-40B4-BE49-F238E27FC236}">
                <a16:creationId xmlns:a16="http://schemas.microsoft.com/office/drawing/2014/main" id="{8D1E4B99-97D5-49F5-91AC-E09AF9F0A683}"/>
              </a:ext>
            </a:extLst>
          </p:cNvPr>
          <p:cNvSpPr>
            <a:spLocks xmlns:a="http://schemas.openxmlformats.org/drawingml/2006/main" noGrp="1"/>
          </p:cNvSpPr>
          <p:nvPr/>
        </p:nvSpPr>
        <p:spPr>
          <a:xfrm xmlns:a="http://schemas.openxmlformats.org/drawingml/2006/main">
            <a:off x="11191875" y="6619875"/>
            <a:ext cx="4286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91719"/>
          </a:bodyPr>
          <a:lstStyle xmlns:a="http://schemas.openxmlformats.org/drawingml/2006/main"/>
          <a:p xmlns:a="http://schemas.openxmlformats.org/drawingml/2006/main">
            <a:pPr algn="r">
              <a:lnSpc>
                <a:spcPct val="106000"/>
              </a:lnSpc>
              <a:buNone/>
              <a:defRPr sz="900" b="0">
                <a:solidFill>
                  <a:srgbClr val="627083"/>
                </a:solidFill>
                <a:latin typeface="Avenir Next"/>
                <a:ea typeface="Avenir Next"/>
                <a:cs typeface="Avenir Next"/>
              </a:defRPr>
            </a:pPr>
            <a:r>
              <a:rPr sz="900" b="0">
                <a:solidFill>
                  <a:srgbClr val="627083"/>
                </a:solidFill>
                <a:latin typeface="Avenir Next"/>
                <a:ea typeface="Avenir Next"/>
                <a:cs typeface="Avenir Next"/>
              </a:rPr>
              <a:t>08</a:t>
            </a:r>
          </a:p>
        </p:txBody>
      </p:sp>
      <p:sp>
        <p:nvSpPr>
          <p:cNvPr id="6" name="">
            <a:extLst xmlns:a="http://schemas.openxmlformats.org/drawingml/2006/main">
              <a:ext uri="{FF2B5EF4-FFF2-40B4-BE49-F238E27FC236}">
                <a16:creationId xmlns:a16="http://schemas.microsoft.com/office/drawing/2014/main" id="{EFEAEBE0-A060-42C3-8ABC-6D8D607C0F89}"/>
              </a:ext>
            </a:extLst>
          </p:cNvPr>
          <p:cNvSpPr>
            <a:spLocks xmlns:a="http://schemas.openxmlformats.org/drawingml/2006/main" noGrp="1"/>
          </p:cNvSpPr>
          <p:nvPr/>
        </p:nvSpPr>
        <p:spPr>
          <a:xfrm xmlns:a="http://schemas.openxmlformats.org/drawingml/2006/main">
            <a:off x="666750" y="1666875"/>
            <a:ext cx="4095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06000"/>
              </a:lnSpc>
              <a:buNone/>
              <a:defRPr sz="2100" b="1">
                <a:solidFill>
                  <a:srgbClr val="142B4A"/>
                </a:solidFill>
                <a:latin typeface="Avenir Next"/>
                <a:ea typeface="Avenir Next"/>
                <a:cs typeface="Avenir Next"/>
              </a:defRPr>
            </a:pPr>
            <a:r>
              <a:rPr sz="2100" b="1">
                <a:solidFill>
                  <a:srgbClr val="142B4A"/>
                </a:solidFill>
                <a:latin typeface="Avenir Next"/>
                <a:ea typeface="Avenir Next"/>
                <a:cs typeface="Avenir Next"/>
              </a:rPr>
              <a:t>Worker is temporarily down</a:t>
            </a:r>
          </a:p>
        </p:txBody>
      </p:sp>
      <p:sp>
        <p:nvSpPr>
          <p:cNvPr id="7" name="">
            <a:extLst xmlns:a="http://schemas.openxmlformats.org/drawingml/2006/main">
              <a:ext uri="{FF2B5EF4-FFF2-40B4-BE49-F238E27FC236}">
                <a16:creationId xmlns:a16="http://schemas.microsoft.com/office/drawing/2014/main" id="{453D64D4-F812-4534-B341-788350D21F89}"/>
              </a:ext>
            </a:extLst>
          </p:cNvPr>
          <p:cNvSpPr>
            <a:spLocks xmlns:a="http://schemas.openxmlformats.org/drawingml/2006/main" noGrp="1"/>
          </p:cNvSpPr>
          <p:nvPr/>
        </p:nvSpPr>
        <p:spPr>
          <a:xfrm xmlns:a="http://schemas.openxmlformats.org/drawingml/2006/main">
            <a:off x="1095375" y="2524125"/>
            <a:ext cx="2857500" cy="1095375"/>
          </a:xfrm>
          <a:prstGeom xmlns:a="http://schemas.openxmlformats.org/drawingml/2006/main" prst="roundRect">
            <a:avLst>
              <a:gd name="adj" fmla="val 10435"/>
            </a:avLst>
          </a:prstGeom>
          <a:solidFill xmlns:a="http://schemas.openxmlformats.org/drawingml/2006/main">
            <a:srgbClr val="DDEBFA"/>
          </a:solidFill>
          <a:ln xmlns:a="http://schemas.openxmlformats.org/drawingml/2006/main" w="14288">
            <a:solidFill>
              <a:srgbClr val="91BCE6"/>
            </a:solidFill>
          </a:ln>
        </p:spPr>
        <p:txBody>
          <a:bodyPr xmlns:a="http://schemas.openxmlformats.org/drawingml/2006/main" wrap="square" lIns="95250" tIns="76200" rIns="95250" bIns="76200" anchor="ctr">
            <a:normAutofit fontScale="100000"/>
          </a:bodyPr>
          <a:lstStyle xmlns:a="http://schemas.openxmlformats.org/drawingml/2006/main"/>
          <a:p xmlns:a="http://schemas.openxmlformats.org/drawingml/2006/main">
            <a:pPr algn="ctr">
              <a:lnSpc>
                <a:spcPct val="100000"/>
              </a:lnSpc>
              <a:buNone/>
              <a:defRPr sz="1875" b="1">
                <a:solidFill>
                  <a:srgbClr val="142B4A"/>
                </a:solidFill>
                <a:latin typeface="Avenir Next"/>
                <a:ea typeface="Avenir Next"/>
                <a:cs typeface="Avenir Next"/>
              </a:defRPr>
            </a:pPr>
            <a:r>
              <a:rPr sz="1875" b="1">
                <a:solidFill>
                  <a:srgbClr val="142B4A"/>
                </a:solidFill>
                <a:latin typeface="Avenir Next"/>
                <a:ea typeface="Avenir Next"/>
                <a:cs typeface="Avenir Next"/>
              </a:rPr>
              <a:t>RabbitMQ queue</a:t>
            </a:r>
          </a:p>
          <a:p xmlns:a="http://schemas.openxmlformats.org/drawingml/2006/main">
            <a:pPr algn="ctr">
              <a:lnSpc>
                <a:spcPct val="100000"/>
              </a:lnSpc>
              <a:buNone/>
              <a:defRPr sz="1875" b="1">
                <a:solidFill>
                  <a:srgbClr val="142B4A"/>
                </a:solidFill>
                <a:latin typeface="Avenir Next"/>
                <a:ea typeface="Avenir Next"/>
                <a:cs typeface="Avenir Next"/>
              </a:defRPr>
            </a:pPr>
            <a:r>
              <a:rPr sz="1875" b="1">
                <a:solidFill>
                  <a:srgbClr val="142B4A"/>
                </a:solidFill>
                <a:latin typeface="Avenir Next"/>
                <a:ea typeface="Avenir Next"/>
                <a:cs typeface="Avenir Next"/>
              </a:rPr>
              <a:t>keeps the jobs</a:t>
            </a:r>
          </a:p>
        </p:txBody>
      </p:sp>
      <p:sp>
        <p:nvSpPr>
          <p:cNvPr id="8" name="">
            <a:extLst xmlns:a="http://schemas.openxmlformats.org/drawingml/2006/main">
              <a:ext uri="{FF2B5EF4-FFF2-40B4-BE49-F238E27FC236}">
                <a16:creationId xmlns:a16="http://schemas.microsoft.com/office/drawing/2014/main" id="{333CC936-627A-40FB-B31C-37FA9C2661D4}"/>
              </a:ext>
            </a:extLst>
          </p:cNvPr>
          <p:cNvSpPr>
            <a:spLocks xmlns:a="http://schemas.openxmlformats.org/drawingml/2006/main" noGrp="1"/>
          </p:cNvSpPr>
          <p:nvPr/>
        </p:nvSpPr>
        <p:spPr>
          <a:xfrm xmlns:a="http://schemas.openxmlformats.org/drawingml/2006/main">
            <a:off x="809625" y="4000500"/>
            <a:ext cx="3429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ctr">
              <a:lnSpc>
                <a:spcPct val="114000"/>
              </a:lnSpc>
              <a:buNone/>
              <a:defRPr sz="1650" b="0">
                <a:solidFill>
                  <a:srgbClr val="18202C"/>
                </a:solidFill>
                <a:latin typeface="Avenir Next"/>
                <a:ea typeface="Avenir Next"/>
                <a:cs typeface="Avenir Next"/>
              </a:defRPr>
            </a:pPr>
            <a:r>
              <a:rPr sz="1650" b="0">
                <a:solidFill>
                  <a:srgbClr val="18202C"/>
                </a:solidFill>
                <a:latin typeface="Avenir Next"/>
                <a:ea typeface="Avenir Next"/>
                <a:cs typeface="Avenir Next"/>
              </a:rPr>
              <a:t>When the worker restarts, it processes the backlog.</a:t>
            </a:r>
          </a:p>
        </p:txBody>
      </p:sp>
      <p:sp>
        <p:nvSpPr>
          <p:cNvPr id="9" name="">
            <a:extLst xmlns:a="http://schemas.openxmlformats.org/drawingml/2006/main">
              <a:ext uri="{FF2B5EF4-FFF2-40B4-BE49-F238E27FC236}">
                <a16:creationId xmlns:a16="http://schemas.microsoft.com/office/drawing/2014/main" id="{FF13E261-2F95-4A9C-91D5-D9ACAAFDE343}"/>
              </a:ext>
            </a:extLst>
          </p:cNvPr>
          <p:cNvSpPr>
            <a:spLocks xmlns:a="http://schemas.openxmlformats.org/drawingml/2006/main" noGrp="1"/>
          </p:cNvSpPr>
          <p:nvPr/>
        </p:nvSpPr>
        <p:spPr>
          <a:xfrm xmlns:a="http://schemas.openxmlformats.org/drawingml/2006/main">
            <a:off x="5953125" y="1666875"/>
            <a:ext cx="0" cy="4000500"/>
          </a:xfrm>
          <a:prstGeom xmlns:a="http://schemas.openxmlformats.org/drawingml/2006/main" prst="line">
            <a:avLst/>
          </a:prstGeom>
          <a:noFill xmlns:a="http://schemas.openxmlformats.org/drawingml/2006/main"/>
          <a:ln xmlns:a="http://schemas.openxmlformats.org/drawingml/2006/main" w="19050">
            <a:solidFill>
              <a:srgbClr val="C7D0DA"/>
            </a:solidFill>
            <a:prstDash val="solid"/>
          </a:ln>
        </p:spPr>
      </p:sp>
      <p:sp>
        <p:nvSpPr>
          <p:cNvPr id="10" name="">
            <a:extLst xmlns:a="http://schemas.openxmlformats.org/drawingml/2006/main">
              <a:ext uri="{FF2B5EF4-FFF2-40B4-BE49-F238E27FC236}">
                <a16:creationId xmlns:a16="http://schemas.microsoft.com/office/drawing/2014/main" id="{12BBAE72-6196-4AFD-B907-A3E8C6340169}"/>
              </a:ext>
            </a:extLst>
          </p:cNvPr>
          <p:cNvSpPr>
            <a:spLocks xmlns:a="http://schemas.openxmlformats.org/drawingml/2006/main" noGrp="1"/>
          </p:cNvSpPr>
          <p:nvPr/>
        </p:nvSpPr>
        <p:spPr>
          <a:xfrm xmlns:a="http://schemas.openxmlformats.org/drawingml/2006/main">
            <a:off x="6524625" y="1666875"/>
            <a:ext cx="4095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06000"/>
              </a:lnSpc>
              <a:buNone/>
              <a:defRPr sz="2100" b="1">
                <a:solidFill>
                  <a:srgbClr val="142B4A"/>
                </a:solidFill>
                <a:latin typeface="Avenir Next"/>
                <a:ea typeface="Avenir Next"/>
                <a:cs typeface="Avenir Next"/>
              </a:defRPr>
            </a:pPr>
            <a:r>
              <a:rPr sz="2100" b="1">
                <a:solidFill>
                  <a:srgbClr val="142B4A"/>
                </a:solidFill>
                <a:latin typeface="Avenir Next"/>
                <a:ea typeface="Avenir Next"/>
                <a:cs typeface="Avenir Next"/>
              </a:rPr>
              <a:t>The same job keeps failing</a:t>
            </a:r>
          </a:p>
        </p:txBody>
      </p:sp>
      <p:sp>
        <p:nvSpPr>
          <p:cNvPr id="11" name="">
            <a:extLst xmlns:a="http://schemas.openxmlformats.org/drawingml/2006/main">
              <a:ext uri="{FF2B5EF4-FFF2-40B4-BE49-F238E27FC236}">
                <a16:creationId xmlns:a16="http://schemas.microsoft.com/office/drawing/2014/main" id="{AE4C3C9B-0661-4004-8AEA-8C3661131356}"/>
              </a:ext>
            </a:extLst>
          </p:cNvPr>
          <p:cNvSpPr>
            <a:spLocks xmlns:a="http://schemas.openxmlformats.org/drawingml/2006/main" noGrp="1"/>
          </p:cNvSpPr>
          <p:nvPr/>
        </p:nvSpPr>
        <p:spPr>
          <a:xfrm xmlns:a="http://schemas.openxmlformats.org/drawingml/2006/main">
            <a:off x="6572250" y="2619375"/>
            <a:ext cx="1190625" cy="5715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14288">
            <a:solidFill>
              <a:srgbClr val="C7D0DA"/>
            </a:solidFill>
            <a:prstDash val="solid"/>
          </a:ln>
        </p:spPr>
        <p:txBody>
          <a:bodyPr xmlns:a="http://schemas.openxmlformats.org/drawingml/2006/main" wrap="square" lIns="95250" tIns="76200" rIns="95250" bIns="76200" anchor="ctr">
            <a:normAutofit fontScale="100000"/>
          </a:bodyPr>
          <a:lstStyle xmlns:a="http://schemas.openxmlformats.org/drawingml/2006/main"/>
          <a:p xmlns:a="http://schemas.openxmlformats.org/drawingml/2006/main">
            <a:pPr algn="ctr">
              <a:lnSpc>
                <a:spcPct val="100000"/>
              </a:lnSpc>
              <a:buNone/>
              <a:defRPr sz="1425" b="1">
                <a:solidFill>
                  <a:srgbClr val="142B4A"/>
                </a:solidFill>
                <a:latin typeface="Avenir Next"/>
                <a:ea typeface="Avenir Next"/>
                <a:cs typeface="Avenir Next"/>
              </a:defRPr>
            </a:pPr>
            <a:r>
              <a:rPr sz="1425" b="1">
                <a:solidFill>
                  <a:srgbClr val="142B4A"/>
                </a:solidFill>
                <a:latin typeface="Avenir Next"/>
                <a:ea typeface="Avenir Next"/>
                <a:cs typeface="Avenir Next"/>
              </a:rPr>
              <a:t>Try 1</a:t>
            </a:r>
          </a:p>
        </p:txBody>
      </p:sp>
      <p:sp>
        <p:nvSpPr>
          <p:cNvPr id="12" name="">
            <a:extLst xmlns:a="http://schemas.openxmlformats.org/drawingml/2006/main">
              <a:ext uri="{FF2B5EF4-FFF2-40B4-BE49-F238E27FC236}">
                <a16:creationId xmlns:a16="http://schemas.microsoft.com/office/drawing/2014/main" id="{A1ECF310-7705-4593-B404-E01569FD2021}"/>
              </a:ext>
            </a:extLst>
          </p:cNvPr>
          <p:cNvSpPr>
            <a:spLocks xmlns:a="http://schemas.openxmlformats.org/drawingml/2006/main" noGrp="1"/>
          </p:cNvSpPr>
          <p:nvPr/>
        </p:nvSpPr>
        <p:spPr>
          <a:xfrm xmlns:a="http://schemas.openxmlformats.org/drawingml/2006/main">
            <a:off x="8143875" y="2619375"/>
            <a:ext cx="1190625" cy="5715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14288">
            <a:solidFill>
              <a:srgbClr val="C7D0DA"/>
            </a:solidFill>
            <a:prstDash val="solid"/>
          </a:ln>
        </p:spPr>
        <p:txBody>
          <a:bodyPr xmlns:a="http://schemas.openxmlformats.org/drawingml/2006/main" wrap="square" lIns="95250" tIns="76200" rIns="95250" bIns="76200" anchor="ctr">
            <a:normAutofit fontScale="100000"/>
          </a:bodyPr>
          <a:lstStyle xmlns:a="http://schemas.openxmlformats.org/drawingml/2006/main"/>
          <a:p xmlns:a="http://schemas.openxmlformats.org/drawingml/2006/main">
            <a:pPr algn="ctr">
              <a:lnSpc>
                <a:spcPct val="100000"/>
              </a:lnSpc>
              <a:buNone/>
              <a:defRPr sz="1425" b="1">
                <a:solidFill>
                  <a:srgbClr val="142B4A"/>
                </a:solidFill>
                <a:latin typeface="Avenir Next"/>
                <a:ea typeface="Avenir Next"/>
                <a:cs typeface="Avenir Next"/>
              </a:defRPr>
            </a:pPr>
            <a:r>
              <a:rPr sz="1425" b="1">
                <a:solidFill>
                  <a:srgbClr val="142B4A"/>
                </a:solidFill>
                <a:latin typeface="Avenir Next"/>
                <a:ea typeface="Avenir Next"/>
                <a:cs typeface="Avenir Next"/>
              </a:rPr>
              <a:t>Try 2</a:t>
            </a:r>
          </a:p>
        </p:txBody>
      </p:sp>
      <p:sp>
        <p:nvSpPr>
          <p:cNvPr id="13" name="">
            <a:extLst xmlns:a="http://schemas.openxmlformats.org/drawingml/2006/main">
              <a:ext uri="{FF2B5EF4-FFF2-40B4-BE49-F238E27FC236}">
                <a16:creationId xmlns:a16="http://schemas.microsoft.com/office/drawing/2014/main" id="{BD9E408E-A29C-4F97-8320-0218BE738983}"/>
              </a:ext>
            </a:extLst>
          </p:cNvPr>
          <p:cNvSpPr>
            <a:spLocks xmlns:a="http://schemas.openxmlformats.org/drawingml/2006/main" noGrp="1"/>
          </p:cNvSpPr>
          <p:nvPr/>
        </p:nvSpPr>
        <p:spPr>
          <a:xfrm xmlns:a="http://schemas.openxmlformats.org/drawingml/2006/main">
            <a:off x="9715500" y="2619375"/>
            <a:ext cx="1190625" cy="571500"/>
          </a:xfrm>
          <a:prstGeom xmlns:a="http://schemas.openxmlformats.org/drawingml/2006/main" prst="roundRect">
            <a:avLst>
              <a:gd name="adj" fmla="val 20000"/>
            </a:avLst>
          </a:prstGeom>
          <a:solidFill xmlns:a="http://schemas.openxmlformats.org/drawingml/2006/main">
            <a:srgbClr val="FBE7E5"/>
          </a:solidFill>
          <a:ln xmlns:a="http://schemas.openxmlformats.org/drawingml/2006/main" w="14288">
            <a:solidFill>
              <a:srgbClr val="C9322B"/>
            </a:solidFill>
          </a:ln>
        </p:spPr>
        <p:txBody>
          <a:bodyPr xmlns:a="http://schemas.openxmlformats.org/drawingml/2006/main" wrap="square" lIns="95250" tIns="76200" rIns="95250" bIns="76200" anchor="ctr">
            <a:normAutofit fontScale="100000"/>
          </a:bodyPr>
          <a:lstStyle xmlns:a="http://schemas.openxmlformats.org/drawingml/2006/main"/>
          <a:p xmlns:a="http://schemas.openxmlformats.org/drawingml/2006/main">
            <a:pPr algn="ctr">
              <a:lnSpc>
                <a:spcPct val="100000"/>
              </a:lnSpc>
              <a:buNone/>
              <a:defRPr sz="1425" b="1">
                <a:solidFill>
                  <a:srgbClr val="C9322B"/>
                </a:solidFill>
                <a:latin typeface="Avenir Next"/>
                <a:ea typeface="Avenir Next"/>
                <a:cs typeface="Avenir Next"/>
              </a:defRPr>
            </a:pPr>
            <a:r>
              <a:rPr sz="1425" b="1">
                <a:solidFill>
                  <a:srgbClr val="C9322B"/>
                </a:solidFill>
                <a:latin typeface="Avenir Next"/>
                <a:ea typeface="Avenir Next"/>
                <a:cs typeface="Avenir Next"/>
              </a:rPr>
              <a:t>Try 3</a:t>
            </a:r>
          </a:p>
        </p:txBody>
      </p:sp>
      <p:cxnSp>
        <p:nvCxnSpPr>
          <p:cNvPr id="32" name=""/>
          <p:cNvCxnSpPr>
            <a:stCxn xmlns:a="http://schemas.openxmlformats.org/drawingml/2006/main" id="11" idx="3"/>
            <a:endCxn xmlns:a="http://schemas.openxmlformats.org/drawingml/2006/main" id="12" idx="1"/>
          </p:cNvCxnSpPr>
          <p:nvPr/>
        </p:nvCxnSpPr>
        <p:spPr>
          <a:xfrm xmlns:a="http://schemas.openxmlformats.org/drawingml/2006/main">
            <a:off x="7762875" y="2905125"/>
            <a:ext cx="381000" cy="0"/>
          </a:xfrm>
          <a:prstGeom xmlns:a="http://schemas.openxmlformats.org/drawingml/2006/main" prst="straightConnector1">
            <a:avLst/>
          </a:prstGeom>
          <a:ln xmlns:a="http://schemas.openxmlformats.org/drawingml/2006/main" w="19050">
            <a:solidFill>
              <a:srgbClr val="C9322B"/>
            </a:solidFill>
            <a:prstDash val="solid"/>
            <a:tailEnd type="triangle" w="sm" len="sm"/>
          </a:ln>
        </p:spPr>
      </p:cxnSp>
      <p:cxnSp>
        <p:nvCxnSpPr>
          <p:cNvPr id="33" name=""/>
          <p:cNvCxnSpPr>
            <a:stCxn xmlns:a="http://schemas.openxmlformats.org/drawingml/2006/main" id="12" idx="3"/>
            <a:endCxn xmlns:a="http://schemas.openxmlformats.org/drawingml/2006/main" id="13" idx="1"/>
          </p:cNvCxnSpPr>
          <p:nvPr/>
        </p:nvCxnSpPr>
        <p:spPr>
          <a:xfrm xmlns:a="http://schemas.openxmlformats.org/drawingml/2006/main">
            <a:off x="9334500" y="2905125"/>
            <a:ext cx="381000" cy="0"/>
          </a:xfrm>
          <a:prstGeom xmlns:a="http://schemas.openxmlformats.org/drawingml/2006/main" prst="straightConnector1">
            <a:avLst/>
          </a:prstGeom>
          <a:ln xmlns:a="http://schemas.openxmlformats.org/drawingml/2006/main" w="19050">
            <a:solidFill>
              <a:srgbClr val="C9322B"/>
            </a:solidFill>
            <a:prstDash val="solid"/>
            <a:tailEnd type="triangle" w="sm" len="sm"/>
          </a:ln>
        </p:spPr>
      </p:cxnSp>
      <p:sp>
        <p:nvSpPr>
          <p:cNvPr id="16" name="">
            <a:extLst xmlns:a="http://schemas.openxmlformats.org/drawingml/2006/main">
              <a:ext uri="{FF2B5EF4-FFF2-40B4-BE49-F238E27FC236}">
                <a16:creationId xmlns:a16="http://schemas.microsoft.com/office/drawing/2014/main" id="{01BA7550-ACE7-4E97-BC99-F3DD8F0CD248}"/>
              </a:ext>
            </a:extLst>
          </p:cNvPr>
          <p:cNvSpPr>
            <a:spLocks xmlns:a="http://schemas.openxmlformats.org/drawingml/2006/main" noGrp="1"/>
          </p:cNvSpPr>
          <p:nvPr/>
        </p:nvSpPr>
        <p:spPr>
          <a:xfrm xmlns:a="http://schemas.openxmlformats.org/drawingml/2006/main">
            <a:off x="7905750" y="4095750"/>
            <a:ext cx="2476500" cy="857250"/>
          </a:xfrm>
          <a:prstGeom xmlns:a="http://schemas.openxmlformats.org/drawingml/2006/main" prst="roundRect">
            <a:avLst>
              <a:gd name="adj" fmla="val 13333"/>
            </a:avLst>
          </a:prstGeom>
          <a:solidFill xmlns:a="http://schemas.openxmlformats.org/drawingml/2006/main">
            <a:srgbClr val="FBE7E5"/>
          </a:solidFill>
          <a:ln xmlns:a="http://schemas.openxmlformats.org/drawingml/2006/main" w="14288">
            <a:solidFill>
              <a:srgbClr val="C9322B"/>
            </a:solidFill>
          </a:ln>
        </p:spPr>
        <p:txBody>
          <a:bodyPr xmlns:a="http://schemas.openxmlformats.org/drawingml/2006/main" wrap="square" lIns="95250" tIns="76200" rIns="95250" bIns="76200" anchor="ctr">
            <a:normAutofit fontScale="100000"/>
          </a:bodyPr>
          <a:lstStyle xmlns:a="http://schemas.openxmlformats.org/drawingml/2006/main"/>
          <a:p xmlns:a="http://schemas.openxmlformats.org/drawingml/2006/main">
            <a:pPr algn="ctr">
              <a:lnSpc>
                <a:spcPct val="100000"/>
              </a:lnSpc>
              <a:buNone/>
              <a:defRPr sz="1650" b="1">
                <a:solidFill>
                  <a:srgbClr val="C9322B"/>
                </a:solidFill>
                <a:latin typeface="Avenir Next"/>
                <a:ea typeface="Avenir Next"/>
                <a:cs typeface="Avenir Next"/>
              </a:defRPr>
            </a:pPr>
            <a:r>
              <a:rPr sz="1650" b="1">
                <a:solidFill>
                  <a:srgbClr val="C9322B"/>
                </a:solidFill>
                <a:latin typeface="Avenir Next"/>
                <a:ea typeface="Avenir Next"/>
                <a:cs typeface="Avenir Next"/>
              </a:rPr>
              <a:t>Dead-letter queue</a:t>
            </a:r>
          </a:p>
          <a:p xmlns:a="http://schemas.openxmlformats.org/drawingml/2006/main">
            <a:pPr algn="ctr">
              <a:lnSpc>
                <a:spcPct val="100000"/>
              </a:lnSpc>
              <a:buNone/>
              <a:defRPr sz="1650" b="1">
                <a:solidFill>
                  <a:srgbClr val="C9322B"/>
                </a:solidFill>
                <a:latin typeface="Avenir Next"/>
                <a:ea typeface="Avenir Next"/>
                <a:cs typeface="Avenir Next"/>
              </a:defRPr>
            </a:pPr>
            <a:r>
              <a:rPr sz="1650" b="1">
                <a:solidFill>
                  <a:srgbClr val="C9322B"/>
                </a:solidFill>
                <a:latin typeface="Avenir Next"/>
                <a:ea typeface="Avenir Next"/>
                <a:cs typeface="Avenir Next"/>
              </a:rPr>
              <a:t>for inspection</a:t>
            </a:r>
          </a:p>
        </p:txBody>
      </p:sp>
      <p:cxnSp>
        <p:nvCxnSpPr>
          <p:cNvPr id="35" name=""/>
          <p:cNvCxnSpPr>
            <a:stCxn xmlns:a="http://schemas.openxmlformats.org/drawingml/2006/main" id="13" idx="2"/>
            <a:endCxn xmlns:a="http://schemas.openxmlformats.org/drawingml/2006/main" id="16" idx="0"/>
          </p:cNvCxnSpPr>
          <p:nvPr/>
        </p:nvCxnSpPr>
        <p:spPr>
          <a:xfrm xmlns:a="http://schemas.openxmlformats.org/drawingml/2006/main" flipH="1">
            <a:off x="9144000" y="3190875"/>
            <a:ext cx="1166813" cy="904875"/>
          </a:xfrm>
          <a:prstGeom xmlns:a="http://schemas.openxmlformats.org/drawingml/2006/main" prst="bentConnector4">
            <a:avLst>
              <a:gd name="adj1" fmla="val 0"/>
              <a:gd name="adj2" fmla="val 50000"/>
            </a:avLst>
          </a:prstGeom>
          <a:ln xmlns:a="http://schemas.openxmlformats.org/drawingml/2006/main" w="19050">
            <a:solidFill>
              <a:srgbClr val="C9322B"/>
            </a:solidFill>
            <a:prstDash val="dash"/>
            <a:tailEnd type="triangle" w="sm" len="sm"/>
          </a:ln>
        </p:spPr>
      </p:cxnSp>
      <p:sp>
        <p:nvSpPr>
          <p:cNvPr id="18" name="">
            <a:extLst xmlns:a="http://schemas.openxmlformats.org/drawingml/2006/main">
              <a:ext uri="{FF2B5EF4-FFF2-40B4-BE49-F238E27FC236}">
                <a16:creationId xmlns:a16="http://schemas.microsoft.com/office/drawing/2014/main" id="{E81F10C3-0595-4FA5-8DF7-67A8558F56DA}"/>
              </a:ext>
            </a:extLst>
          </p:cNvPr>
          <p:cNvSpPr>
            <a:spLocks xmlns:a="http://schemas.openxmlformats.org/drawingml/2006/main" noGrp="1"/>
          </p:cNvSpPr>
          <p:nvPr/>
        </p:nvSpPr>
        <p:spPr>
          <a:xfrm xmlns:a="http://schemas.openxmlformats.org/drawingml/2006/main">
            <a:off x="2047875" y="5810250"/>
            <a:ext cx="8096250" cy="457200"/>
          </a:xfrm>
          <a:prstGeom xmlns:a="http://schemas.openxmlformats.org/drawingml/2006/main" prst="roundRect">
            <a:avLst>
              <a:gd name="adj" fmla="val 25000"/>
            </a:avLst>
          </a:prstGeom>
          <a:solidFill xmlns:a="http://schemas.openxmlformats.org/drawingml/2006/main">
            <a:srgbClr val="F6E7B0"/>
          </a:solidFill>
          <a:ln xmlns:a="http://schemas.openxmlformats.org/drawingml/2006/main" w="9525">
            <a:solidFill>
              <a:srgbClr val="D7BC58"/>
            </a:solidFill>
          </a:ln>
        </p:spPr>
        <p:txBody>
          <a:bodyPr xmlns:a="http://schemas.openxmlformats.org/drawingml/2006/main" wrap="square" lIns="95250" tIns="76200" rIns="95250" bIns="76200" anchor="ctr">
            <a:normAutofit fontScale="100000"/>
          </a:bodyPr>
          <a:lstStyle xmlns:a="http://schemas.openxmlformats.org/drawingml/2006/main"/>
          <a:p xmlns:a="http://schemas.openxmlformats.org/drawingml/2006/main">
            <a:pPr algn="ctr">
              <a:lnSpc>
                <a:spcPct val="100000"/>
              </a:lnSpc>
              <a:buNone/>
              <a:defRPr sz="1350" b="1">
                <a:solidFill>
                  <a:srgbClr val="142B4A"/>
                </a:solidFill>
                <a:latin typeface="Avenir Next"/>
                <a:ea typeface="Avenir Next"/>
                <a:cs typeface="Avenir Next"/>
              </a:defRPr>
            </a:pPr>
            <a:r>
              <a:rPr sz="1350" b="1">
                <a:solidFill>
                  <a:srgbClr val="142B4A"/>
                </a:solidFill>
                <a:latin typeface="Avenir Next"/>
                <a:ea typeface="Avenir Next"/>
                <a:cs typeface="Avenir Next"/>
              </a:rPr>
              <a:t>Delivery is at least once. Payment must use order_id to prevent duplicate charges.</a:t>
            </a:r>
          </a:p>
        </p:txBody>
      </p:sp>
    </p:spTree>
    <p:extLst>
      <p:ext uri="{BB962C8B-B14F-4D97-AF65-F5344CB8AC3E}">
        <p14:creationId xmlns:p14="http://schemas.microsoft.com/office/powerpoint/2010/main" val="2109064756"/>
      </p:ext>
    </p:extLst>
  </p:cSld>
</p:sld>
</file>

<file path=ppt/slides/slide9.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A1F6926D-9AE0-4616-9C7E-51A8458D81B0}"/>
              </a:ext>
            </a:extLst>
          </p:cNvPr>
          <p:cNvSpPr>
            <a:spLocks xmlns:a="http://schemas.openxmlformats.org/drawingml/2006/main" noGrp="1"/>
          </p:cNvSpPr>
          <p:nvPr/>
        </p:nvSpPr>
        <p:spPr>
          <a:xfrm xmlns:a="http://schemas.openxmlformats.org/drawingml/2006/main">
            <a:off x="552450" y="342900"/>
            <a:ext cx="10287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95071"/>
          </a:bodyPr>
          <a:lstStyle xmlns:a="http://schemas.openxmlformats.org/drawingml/2006/main"/>
          <a:p xmlns:a="http://schemas.openxmlformats.org/drawingml/2006/main">
            <a:pPr algn="l">
              <a:lnSpc>
                <a:spcPct val="106000"/>
              </a:lnSpc>
              <a:buNone/>
              <a:defRPr sz="3225" b="1">
                <a:solidFill>
                  <a:srgbClr val="18202C"/>
                </a:solidFill>
                <a:latin typeface="Avenir Next"/>
                <a:ea typeface="Avenir Next"/>
                <a:cs typeface="Avenir Next"/>
              </a:defRPr>
            </a:pPr>
            <a:r>
              <a:rPr sz="3225" b="1">
                <a:solidFill>
                  <a:srgbClr val="18202C"/>
                </a:solidFill>
                <a:latin typeface="Avenir Next"/>
                <a:ea typeface="Avenir Next"/>
                <a:cs typeface="Avenir Next"/>
              </a:rPr>
              <a:t>Deployment and system checks</a:t>
            </a:r>
          </a:p>
        </p:txBody>
      </p:sp>
      <p:sp>
        <p:nvSpPr>
          <p:cNvPr id="2" name="">
            <a:extLst xmlns:a="http://schemas.openxmlformats.org/drawingml/2006/main">
              <a:ext uri="{FF2B5EF4-FFF2-40B4-BE49-F238E27FC236}">
                <a16:creationId xmlns:a16="http://schemas.microsoft.com/office/drawing/2014/main" id="{FF6926E3-5C3D-4F7D-821E-A5605E4AD013}"/>
              </a:ext>
            </a:extLst>
          </p:cNvPr>
          <p:cNvSpPr>
            <a:spLocks xmlns:a="http://schemas.openxmlformats.org/drawingml/2006/main" noGrp="1"/>
          </p:cNvSpPr>
          <p:nvPr/>
        </p:nvSpPr>
        <p:spPr>
          <a:xfrm xmlns:a="http://schemas.openxmlformats.org/drawingml/2006/main">
            <a:off x="571500" y="914400"/>
            <a:ext cx="1028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06000"/>
              </a:lnSpc>
              <a:buNone/>
              <a:defRPr sz="1500" b="0">
                <a:solidFill>
                  <a:srgbClr val="627083"/>
                </a:solidFill>
                <a:latin typeface="Avenir Next"/>
                <a:ea typeface="Avenir Next"/>
                <a:cs typeface="Avenir Next"/>
              </a:defRPr>
            </a:pPr>
            <a:r>
              <a:rPr sz="1500" b="0">
                <a:solidFill>
                  <a:srgbClr val="627083"/>
                </a:solidFill>
                <a:latin typeface="Avenir Next"/>
                <a:ea typeface="Avenir Next"/>
                <a:cs typeface="Avenir Next"/>
              </a:rPr>
              <a:t>Docker Compose starts the complete stack with health checks</a:t>
            </a:r>
          </a:p>
        </p:txBody>
      </p:sp>
      <p:sp>
        <p:nvSpPr>
          <p:cNvPr id="3" name="">
            <a:extLst xmlns:a="http://schemas.openxmlformats.org/drawingml/2006/main">
              <a:ext uri="{FF2B5EF4-FFF2-40B4-BE49-F238E27FC236}">
                <a16:creationId xmlns:a16="http://schemas.microsoft.com/office/drawing/2014/main" id="{1B54C7BE-7392-46B1-BCC2-EB900FD9F19C}"/>
              </a:ext>
            </a:extLst>
          </p:cNvPr>
          <p:cNvSpPr>
            <a:spLocks xmlns:a="http://schemas.openxmlformats.org/drawingml/2006/main" noGrp="1"/>
          </p:cNvSpPr>
          <p:nvPr/>
        </p:nvSpPr>
        <p:spPr>
          <a:xfrm xmlns:a="http://schemas.openxmlformats.org/drawingml/2006/main">
            <a:off x="533400" y="1295400"/>
            <a:ext cx="11125200" cy="47625"/>
          </a:xfrm>
          <a:prstGeom xmlns:a="http://schemas.openxmlformats.org/drawingml/2006/main" prst="rect">
            <a:avLst/>
          </a:prstGeom>
          <a:solidFill xmlns:a="http://schemas.openxmlformats.org/drawingml/2006/main">
            <a:srgbClr val="F36B21"/>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40CB981-C9C3-4F77-B714-ACF86DC4278E}"/>
              </a:ext>
            </a:extLst>
          </p:cNvPr>
          <p:cNvSpPr>
            <a:spLocks xmlns:a="http://schemas.openxmlformats.org/drawingml/2006/main" noGrp="1"/>
          </p:cNvSpPr>
          <p:nvPr/>
        </p:nvSpPr>
        <p:spPr>
          <a:xfrm xmlns:a="http://schemas.openxmlformats.org/drawingml/2006/main">
            <a:off x="10382250" y="6619875"/>
            <a:ext cx="7239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91719"/>
          </a:bodyPr>
          <a:lstStyle xmlns:a="http://schemas.openxmlformats.org/drawingml/2006/main"/>
          <a:p xmlns:a="http://schemas.openxmlformats.org/drawingml/2006/main">
            <a:pPr algn="r">
              <a:lnSpc>
                <a:spcPct val="106000"/>
              </a:lnSpc>
              <a:buNone/>
              <a:defRPr sz="900" b="1">
                <a:solidFill>
                  <a:srgbClr val="627083"/>
                </a:solidFill>
                <a:latin typeface="Avenir Next"/>
                <a:ea typeface="Avenir Next"/>
                <a:cs typeface="Avenir Next"/>
              </a:defRPr>
            </a:pPr>
            <a:r>
              <a:rPr sz="900" b="1">
                <a:solidFill>
                  <a:srgbClr val="627083"/>
                </a:solidFill>
                <a:latin typeface="Avenir Next"/>
                <a:ea typeface="Avenir Next"/>
                <a:cs typeface="Avenir Next"/>
              </a:rPr>
              <a:t>P3</a:t>
            </a:r>
          </a:p>
        </p:txBody>
      </p:sp>
      <p:sp>
        <p:nvSpPr>
          <p:cNvPr id="5" name="">
            <a:extLst xmlns:a="http://schemas.openxmlformats.org/drawingml/2006/main">
              <a:ext uri="{FF2B5EF4-FFF2-40B4-BE49-F238E27FC236}">
                <a16:creationId xmlns:a16="http://schemas.microsoft.com/office/drawing/2014/main" id="{39562361-CB04-4409-9A4F-17A07D0EB82A}"/>
              </a:ext>
            </a:extLst>
          </p:cNvPr>
          <p:cNvSpPr>
            <a:spLocks xmlns:a="http://schemas.openxmlformats.org/drawingml/2006/main" noGrp="1"/>
          </p:cNvSpPr>
          <p:nvPr/>
        </p:nvSpPr>
        <p:spPr>
          <a:xfrm xmlns:a="http://schemas.openxmlformats.org/drawingml/2006/main">
            <a:off x="11191875" y="6619875"/>
            <a:ext cx="4286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91719"/>
          </a:bodyPr>
          <a:lstStyle xmlns:a="http://schemas.openxmlformats.org/drawingml/2006/main"/>
          <a:p xmlns:a="http://schemas.openxmlformats.org/drawingml/2006/main">
            <a:pPr algn="r">
              <a:lnSpc>
                <a:spcPct val="106000"/>
              </a:lnSpc>
              <a:buNone/>
              <a:defRPr sz="900" b="0">
                <a:solidFill>
                  <a:srgbClr val="627083"/>
                </a:solidFill>
                <a:latin typeface="Avenir Next"/>
                <a:ea typeface="Avenir Next"/>
                <a:cs typeface="Avenir Next"/>
              </a:defRPr>
            </a:pPr>
            <a:r>
              <a:rPr sz="900" b="0">
                <a:solidFill>
                  <a:srgbClr val="627083"/>
                </a:solidFill>
                <a:latin typeface="Avenir Next"/>
                <a:ea typeface="Avenir Next"/>
                <a:cs typeface="Avenir Next"/>
              </a:rPr>
              <a:t>09</a:t>
            </a:r>
          </a:p>
        </p:txBody>
      </p:sp>
      <p:sp>
        <p:nvSpPr>
          <p:cNvPr id="6" name="">
            <a:extLst xmlns:a="http://schemas.openxmlformats.org/drawingml/2006/main">
              <a:ext uri="{FF2B5EF4-FFF2-40B4-BE49-F238E27FC236}">
                <a16:creationId xmlns:a16="http://schemas.microsoft.com/office/drawing/2014/main" id="{C323D641-753E-4590-986F-8C5ABB7ABF91}"/>
              </a:ext>
            </a:extLst>
          </p:cNvPr>
          <p:cNvSpPr>
            <a:spLocks xmlns:a="http://schemas.openxmlformats.org/drawingml/2006/main" noGrp="1"/>
          </p:cNvSpPr>
          <p:nvPr/>
        </p:nvSpPr>
        <p:spPr>
          <a:xfrm xmlns:a="http://schemas.openxmlformats.org/drawingml/2006/main">
            <a:off x="714375" y="2047875"/>
            <a:ext cx="1905000" cy="723900"/>
          </a:xfrm>
          <a:prstGeom xmlns:a="http://schemas.openxmlformats.org/drawingml/2006/main" prst="roundRect">
            <a:avLst>
              <a:gd name="adj" fmla="val 15789"/>
            </a:avLst>
          </a:prstGeom>
          <a:solidFill xmlns:a="http://schemas.openxmlformats.org/drawingml/2006/main">
            <a:srgbClr val="DDEBFA"/>
          </a:solidFill>
          <a:ln xmlns:a="http://schemas.openxmlformats.org/drawingml/2006/main" w="14288">
            <a:solidFill>
              <a:srgbClr val="91BCE6"/>
            </a:solidFill>
          </a:ln>
        </p:spPr>
        <p:txBody>
          <a:bodyPr xmlns:a="http://schemas.openxmlformats.org/drawingml/2006/main" wrap="square" lIns="95250" tIns="76200" rIns="95250" bIns="76200" anchor="ctr">
            <a:normAutofit fontScale="100000"/>
          </a:bodyPr>
          <a:lstStyle xmlns:a="http://schemas.openxmlformats.org/drawingml/2006/main"/>
          <a:p xmlns:a="http://schemas.openxmlformats.org/drawingml/2006/main">
            <a:pPr algn="ctr">
              <a:lnSpc>
                <a:spcPct val="100000"/>
              </a:lnSpc>
              <a:buNone/>
              <a:defRPr sz="1650" b="1">
                <a:solidFill>
                  <a:srgbClr val="142B4A"/>
                </a:solidFill>
                <a:latin typeface="Avenir Next"/>
                <a:ea typeface="Avenir Next"/>
                <a:cs typeface="Avenir Next"/>
              </a:defRPr>
            </a:pPr>
            <a:r>
              <a:rPr sz="1650" b="1">
                <a:solidFill>
                  <a:srgbClr val="142B4A"/>
                </a:solidFill>
                <a:latin typeface="Avenir Next"/>
                <a:ea typeface="Avenir Next"/>
                <a:cs typeface="Avenir Next"/>
              </a:rPr>
              <a:t>RabbitMQ</a:t>
            </a:r>
          </a:p>
        </p:txBody>
      </p:sp>
      <p:sp>
        <p:nvSpPr>
          <p:cNvPr id="7" name="">
            <a:extLst xmlns:a="http://schemas.openxmlformats.org/drawingml/2006/main">
              <a:ext uri="{FF2B5EF4-FFF2-40B4-BE49-F238E27FC236}">
                <a16:creationId xmlns:a16="http://schemas.microsoft.com/office/drawing/2014/main" id="{10A63814-A20D-46EF-8970-1C68D1424978}"/>
              </a:ext>
            </a:extLst>
          </p:cNvPr>
          <p:cNvSpPr>
            <a:spLocks xmlns:a="http://schemas.openxmlformats.org/drawingml/2006/main" noGrp="1"/>
          </p:cNvSpPr>
          <p:nvPr/>
        </p:nvSpPr>
        <p:spPr>
          <a:xfrm xmlns:a="http://schemas.openxmlformats.org/drawingml/2006/main">
            <a:off x="714375" y="3714750"/>
            <a:ext cx="1905000" cy="723900"/>
          </a:xfrm>
          <a:prstGeom xmlns:a="http://schemas.openxmlformats.org/drawingml/2006/main" prst="roundRect">
            <a:avLst>
              <a:gd name="adj" fmla="val 15789"/>
            </a:avLst>
          </a:prstGeom>
          <a:solidFill xmlns:a="http://schemas.openxmlformats.org/drawingml/2006/main">
            <a:srgbClr val="EDE4F7"/>
          </a:solidFill>
          <a:ln xmlns:a="http://schemas.openxmlformats.org/drawingml/2006/main" w="14288">
            <a:solidFill>
              <a:srgbClr val="CDBAE0"/>
            </a:solidFill>
          </a:ln>
        </p:spPr>
        <p:txBody>
          <a:bodyPr xmlns:a="http://schemas.openxmlformats.org/drawingml/2006/main" wrap="square" lIns="95250" tIns="76200" rIns="95250" bIns="76200" anchor="ctr">
            <a:normAutofit fontScale="100000"/>
          </a:bodyPr>
          <a:lstStyle xmlns:a="http://schemas.openxmlformats.org/drawingml/2006/main"/>
          <a:p xmlns:a="http://schemas.openxmlformats.org/drawingml/2006/main">
            <a:pPr algn="ctr">
              <a:lnSpc>
                <a:spcPct val="100000"/>
              </a:lnSpc>
              <a:buNone/>
              <a:defRPr sz="1650" b="1">
                <a:solidFill>
                  <a:srgbClr val="142B4A"/>
                </a:solidFill>
                <a:latin typeface="Avenir Next"/>
                <a:ea typeface="Avenir Next"/>
                <a:cs typeface="Avenir Next"/>
              </a:defRPr>
            </a:pPr>
            <a:r>
              <a:rPr sz="1650" b="1">
                <a:solidFill>
                  <a:srgbClr val="142B4A"/>
                </a:solidFill>
                <a:latin typeface="Avenir Next"/>
                <a:ea typeface="Avenir Next"/>
                <a:cs typeface="Avenir Next"/>
              </a:rPr>
              <a:t>PostgreSQL</a:t>
            </a:r>
          </a:p>
        </p:txBody>
      </p:sp>
      <p:sp>
        <p:nvSpPr>
          <p:cNvPr id="8" name="">
            <a:extLst xmlns:a="http://schemas.openxmlformats.org/drawingml/2006/main">
              <a:ext uri="{FF2B5EF4-FFF2-40B4-BE49-F238E27FC236}">
                <a16:creationId xmlns:a16="http://schemas.microsoft.com/office/drawing/2014/main" id="{AB070675-3BAC-4F5C-AD2F-15C7EA4A0D74}"/>
              </a:ext>
            </a:extLst>
          </p:cNvPr>
          <p:cNvSpPr>
            <a:spLocks xmlns:a="http://schemas.openxmlformats.org/drawingml/2006/main" noGrp="1"/>
          </p:cNvSpPr>
          <p:nvPr/>
        </p:nvSpPr>
        <p:spPr>
          <a:xfrm xmlns:a="http://schemas.openxmlformats.org/drawingml/2006/main">
            <a:off x="3667125" y="2047875"/>
            <a:ext cx="2952750" cy="2381250"/>
          </a:xfrm>
          <a:prstGeom xmlns:a="http://schemas.openxmlformats.org/drawingml/2006/main" prst="roundRect">
            <a:avLst>
              <a:gd name="adj" fmla="val 4800"/>
            </a:avLst>
          </a:prstGeom>
          <a:solidFill xmlns:a="http://schemas.openxmlformats.org/drawingml/2006/main">
            <a:srgbClr val="FCE4D6"/>
          </a:solidFill>
          <a:ln xmlns:a="http://schemas.openxmlformats.org/drawingml/2006/main" w="14288">
            <a:solidFill>
              <a:srgbClr val="F36B21"/>
            </a:solidFill>
          </a:ln>
        </p:spPr>
        <p:txBody>
          <a:bodyPr xmlns:a="http://schemas.openxmlformats.org/drawingml/2006/main" wrap="square" lIns="95250" tIns="76200" rIns="95250" bIns="76200" anchor="ctr">
            <a:normAutofit fontScale="100000"/>
          </a:bodyPr>
          <a:lstStyle xmlns:a="http://schemas.openxmlformats.org/drawingml/2006/main"/>
          <a:p xmlns:a="http://schemas.openxmlformats.org/drawingml/2006/main">
            <a:pPr algn="ctr">
              <a:lnSpc>
                <a:spcPct val="100000"/>
              </a:lnSpc>
              <a:buNone/>
              <a:defRPr sz="1650" b="1">
                <a:solidFill>
                  <a:srgbClr val="142B4A"/>
                </a:solidFill>
                <a:latin typeface="Avenir Next"/>
                <a:ea typeface="Avenir Next"/>
                <a:cs typeface="Avenir Next"/>
              </a:defRPr>
            </a:pPr>
            <a:r>
              <a:rPr sz="1650" b="1">
                <a:solidFill>
                  <a:srgbClr val="142B4A"/>
                </a:solidFill>
                <a:latin typeface="Avenir Next"/>
                <a:ea typeface="Avenir Next"/>
                <a:cs typeface="Avenir Next"/>
              </a:rPr>
              <a:t>One application image</a:t>
            </a:r>
          </a:p>
          <a:p xmlns:a="http://schemas.openxmlformats.org/drawingml/2006/main">
            <a:r>
              <a:t/>
            </a:r>
          </a:p>
          <a:p xmlns:a="http://schemas.openxmlformats.org/drawingml/2006/main">
            <a:pPr algn="ctr">
              <a:lnSpc>
                <a:spcPct val="100000"/>
              </a:lnSpc>
              <a:buNone/>
              <a:defRPr sz="1650" b="1">
                <a:solidFill>
                  <a:srgbClr val="142B4A"/>
                </a:solidFill>
                <a:latin typeface="Avenir Next"/>
                <a:ea typeface="Avenir Next"/>
                <a:cs typeface="Avenir Next"/>
              </a:defRPr>
            </a:pPr>
            <a:r>
              <a:rPr sz="1650" b="1">
                <a:solidFill>
                  <a:srgbClr val="142B4A"/>
                </a:solidFill>
                <a:latin typeface="Avenir Next"/>
                <a:ea typeface="Avenir Next"/>
                <a:cs typeface="Avenir Next"/>
              </a:rPr>
              <a:t>API</a:t>
            </a:r>
          </a:p>
          <a:p xmlns:a="http://schemas.openxmlformats.org/drawingml/2006/main">
            <a:pPr algn="ctr">
              <a:lnSpc>
                <a:spcPct val="100000"/>
              </a:lnSpc>
              <a:buNone/>
              <a:defRPr sz="1650" b="1">
                <a:solidFill>
                  <a:srgbClr val="142B4A"/>
                </a:solidFill>
                <a:latin typeface="Avenir Next"/>
                <a:ea typeface="Avenir Next"/>
                <a:cs typeface="Avenir Next"/>
              </a:defRPr>
            </a:pPr>
            <a:r>
              <a:rPr sz="1650" b="1">
                <a:solidFill>
                  <a:srgbClr val="142B4A"/>
                </a:solidFill>
                <a:latin typeface="Avenir Next"/>
                <a:ea typeface="Avenir Next"/>
                <a:cs typeface="Avenir Next"/>
              </a:rPr>
              <a:t>Payment worker</a:t>
            </a:r>
          </a:p>
          <a:p xmlns:a="http://schemas.openxmlformats.org/drawingml/2006/main">
            <a:pPr algn="ctr">
              <a:lnSpc>
                <a:spcPct val="100000"/>
              </a:lnSpc>
              <a:buNone/>
              <a:defRPr sz="1650" b="1">
                <a:solidFill>
                  <a:srgbClr val="142B4A"/>
                </a:solidFill>
                <a:latin typeface="Avenir Next"/>
                <a:ea typeface="Avenir Next"/>
                <a:cs typeface="Avenir Next"/>
              </a:defRPr>
            </a:pPr>
            <a:r>
              <a:rPr sz="1650" b="1">
                <a:solidFill>
                  <a:srgbClr val="142B4A"/>
                </a:solidFill>
                <a:latin typeface="Avenir Next"/>
                <a:ea typeface="Avenir Next"/>
                <a:cs typeface="Avenir Next"/>
              </a:rPr>
              <a:t>Restaurant worker</a:t>
            </a:r>
          </a:p>
          <a:p xmlns:a="http://schemas.openxmlformats.org/drawingml/2006/main">
            <a:pPr algn="ctr">
              <a:lnSpc>
                <a:spcPct val="100000"/>
              </a:lnSpc>
              <a:buNone/>
              <a:defRPr sz="1650" b="1">
                <a:solidFill>
                  <a:srgbClr val="142B4A"/>
                </a:solidFill>
                <a:latin typeface="Avenir Next"/>
                <a:ea typeface="Avenir Next"/>
                <a:cs typeface="Avenir Next"/>
              </a:defRPr>
            </a:pPr>
            <a:r>
              <a:rPr sz="1650" b="1">
                <a:solidFill>
                  <a:srgbClr val="142B4A"/>
                </a:solidFill>
                <a:latin typeface="Avenir Next"/>
                <a:ea typeface="Avenir Next"/>
                <a:cs typeface="Avenir Next"/>
              </a:rPr>
              <a:t>Notification worker</a:t>
            </a:r>
          </a:p>
        </p:txBody>
      </p:sp>
      <p:cxnSp>
        <p:nvCxnSpPr>
          <p:cNvPr id="31" name=""/>
          <p:cNvCxnSpPr>
            <a:stCxn xmlns:a="http://schemas.openxmlformats.org/drawingml/2006/main" id="8" idx="1"/>
            <a:endCxn xmlns:a="http://schemas.openxmlformats.org/drawingml/2006/main" id="6" idx="3"/>
          </p:cNvCxnSpPr>
          <p:nvPr/>
        </p:nvCxnSpPr>
        <p:spPr>
          <a:xfrm xmlns:a="http://schemas.openxmlformats.org/drawingml/2006/main" flipH="1" flipV="1">
            <a:off x="2619375" y="2409825"/>
            <a:ext cx="1047750" cy="828675"/>
          </a:xfrm>
          <a:prstGeom xmlns:a="http://schemas.openxmlformats.org/drawingml/2006/main" prst="straightConnector1">
            <a:avLst/>
          </a:prstGeom>
          <a:ln xmlns:a="http://schemas.openxmlformats.org/drawingml/2006/main" w="19050">
            <a:solidFill>
              <a:srgbClr val="142B4A"/>
            </a:solidFill>
            <a:prstDash val="solid"/>
            <a:tailEnd type="triangle" w="sm" len="sm"/>
          </a:ln>
        </p:spPr>
      </p:cxnSp>
      <p:cxnSp>
        <p:nvCxnSpPr>
          <p:cNvPr id="32" name=""/>
          <p:cNvCxnSpPr>
            <a:stCxn xmlns:a="http://schemas.openxmlformats.org/drawingml/2006/main" id="8" idx="1"/>
            <a:endCxn xmlns:a="http://schemas.openxmlformats.org/drawingml/2006/main" id="7" idx="3"/>
          </p:cNvCxnSpPr>
          <p:nvPr/>
        </p:nvCxnSpPr>
        <p:spPr>
          <a:xfrm xmlns:a="http://schemas.openxmlformats.org/drawingml/2006/main" flipH="1">
            <a:off x="2619375" y="3238500"/>
            <a:ext cx="1047750" cy="838200"/>
          </a:xfrm>
          <a:prstGeom xmlns:a="http://schemas.openxmlformats.org/drawingml/2006/main" prst="straightConnector1">
            <a:avLst/>
          </a:prstGeom>
          <a:ln xmlns:a="http://schemas.openxmlformats.org/drawingml/2006/main" w="19050">
            <a:solidFill>
              <a:srgbClr val="142B4A"/>
            </a:solidFill>
            <a:prstDash val="solid"/>
            <a:tailEnd type="triangle" w="sm" len="sm"/>
          </a:ln>
        </p:spPr>
      </p:cxnSp>
      <p:sp>
        <p:nvSpPr>
          <p:cNvPr id="11" name="">
            <a:extLst xmlns:a="http://schemas.openxmlformats.org/drawingml/2006/main">
              <a:ext uri="{FF2B5EF4-FFF2-40B4-BE49-F238E27FC236}">
                <a16:creationId xmlns:a16="http://schemas.microsoft.com/office/drawing/2014/main" id="{3F81D4B1-2319-4D06-BD66-950A41461BD2}"/>
              </a:ext>
            </a:extLst>
          </p:cNvPr>
          <p:cNvSpPr>
            <a:spLocks xmlns:a="http://schemas.openxmlformats.org/drawingml/2006/main" noGrp="1"/>
          </p:cNvSpPr>
          <p:nvPr/>
        </p:nvSpPr>
        <p:spPr>
          <a:xfrm xmlns:a="http://schemas.openxmlformats.org/drawingml/2006/main">
            <a:off x="7286625" y="1714500"/>
            <a:ext cx="0" cy="3905250"/>
          </a:xfrm>
          <a:prstGeom xmlns:a="http://schemas.openxmlformats.org/drawingml/2006/main" prst="line">
            <a:avLst/>
          </a:prstGeom>
          <a:noFill xmlns:a="http://schemas.openxmlformats.org/drawingml/2006/main"/>
          <a:ln xmlns:a="http://schemas.openxmlformats.org/drawingml/2006/main" w="19050">
            <a:solidFill>
              <a:srgbClr val="C7D0DA"/>
            </a:solidFill>
            <a:prstDash val="solid"/>
          </a:ln>
        </p:spPr>
      </p:sp>
      <p:sp>
        <p:nvSpPr>
          <p:cNvPr id="12" name="">
            <a:extLst xmlns:a="http://schemas.openxmlformats.org/drawingml/2006/main">
              <a:ext uri="{FF2B5EF4-FFF2-40B4-BE49-F238E27FC236}">
                <a16:creationId xmlns:a16="http://schemas.microsoft.com/office/drawing/2014/main" id="{1F522956-B794-4B14-B112-A592F53B7CE9}"/>
              </a:ext>
            </a:extLst>
          </p:cNvPr>
          <p:cNvSpPr>
            <a:spLocks xmlns:a="http://schemas.openxmlformats.org/drawingml/2006/main" noGrp="1"/>
          </p:cNvSpPr>
          <p:nvPr/>
        </p:nvSpPr>
        <p:spPr>
          <a:xfrm xmlns:a="http://schemas.openxmlformats.org/drawingml/2006/main">
            <a:off x="7810500" y="1809750"/>
            <a:ext cx="323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95463"/>
          </a:bodyPr>
          <a:lstStyle xmlns:a="http://schemas.openxmlformats.org/drawingml/2006/main"/>
          <a:p xmlns:a="http://schemas.openxmlformats.org/drawingml/2006/main">
            <a:pPr algn="l">
              <a:lnSpc>
                <a:spcPct val="106000"/>
              </a:lnSpc>
              <a:buNone/>
              <a:defRPr sz="2100" b="1">
                <a:solidFill>
                  <a:srgbClr val="142B4A"/>
                </a:solidFill>
                <a:latin typeface="Avenir Next"/>
                <a:ea typeface="Avenir Next"/>
                <a:cs typeface="Avenir Next"/>
              </a:defRPr>
            </a:pPr>
            <a:r>
              <a:rPr sz="2100" b="1">
                <a:solidFill>
                  <a:srgbClr val="142B4A"/>
                </a:solidFill>
                <a:latin typeface="Avenir Next"/>
                <a:ea typeface="Avenir Next"/>
                <a:cs typeface="Avenir Next"/>
              </a:rPr>
              <a:t>Checks before the demo</a:t>
            </a:r>
          </a:p>
        </p:txBody>
      </p:sp>
      <p:sp>
        <p:nvSpPr>
          <p:cNvPr id="13" name="">
            <a:extLst xmlns:a="http://schemas.openxmlformats.org/drawingml/2006/main">
              <a:ext uri="{FF2B5EF4-FFF2-40B4-BE49-F238E27FC236}">
                <a16:creationId xmlns:a16="http://schemas.microsoft.com/office/drawing/2014/main" id="{72193DEE-EC39-4D6F-9E27-37AB5C85D9FC}"/>
              </a:ext>
            </a:extLst>
          </p:cNvPr>
          <p:cNvSpPr>
            <a:spLocks xmlns:a="http://schemas.openxmlformats.org/drawingml/2006/main" noGrp="1"/>
          </p:cNvSpPr>
          <p:nvPr/>
        </p:nvSpPr>
        <p:spPr>
          <a:xfrm xmlns:a="http://schemas.openxmlformats.org/drawingml/2006/main">
            <a:off x="7762875" y="2619375"/>
            <a:ext cx="428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94340"/>
          </a:bodyPr>
          <a:lstStyle xmlns:a="http://schemas.openxmlformats.org/drawingml/2006/main"/>
          <a:p xmlns:a="http://schemas.openxmlformats.org/drawingml/2006/main">
            <a:pPr algn="ctr">
              <a:lnSpc>
                <a:spcPct val="106000"/>
              </a:lnSpc>
              <a:buNone/>
              <a:defRPr sz="2250" b="1">
                <a:solidFill>
                  <a:srgbClr val="F36B21"/>
                </a:solidFill>
                <a:latin typeface="Avenir Next"/>
                <a:ea typeface="Avenir Next"/>
                <a:cs typeface="Avenir Next"/>
              </a:defRPr>
            </a:pPr>
            <a:r>
              <a:rPr sz="2250" b="1">
                <a:solidFill>
                  <a:srgbClr val="F36B21"/>
                </a:solidFill>
                <a:latin typeface="Avenir Next"/>
                <a:ea typeface="Avenir Next"/>
                <a:cs typeface="Avenir Next"/>
              </a:rPr>
              <a:t>1</a:t>
            </a:r>
          </a:p>
        </p:txBody>
      </p:sp>
      <p:sp>
        <p:nvSpPr>
          <p:cNvPr id="14" name="">
            <a:extLst xmlns:a="http://schemas.openxmlformats.org/drawingml/2006/main">
              <a:ext uri="{FF2B5EF4-FFF2-40B4-BE49-F238E27FC236}">
                <a16:creationId xmlns:a16="http://schemas.microsoft.com/office/drawing/2014/main" id="{916DDE85-7E3A-4BF0-ADCB-D8734DC3BC0B}"/>
              </a:ext>
            </a:extLst>
          </p:cNvPr>
          <p:cNvSpPr>
            <a:spLocks xmlns:a="http://schemas.openxmlformats.org/drawingml/2006/main" noGrp="1"/>
          </p:cNvSpPr>
          <p:nvPr/>
        </p:nvSpPr>
        <p:spPr>
          <a:xfrm xmlns:a="http://schemas.openxmlformats.org/drawingml/2006/main">
            <a:off x="8429625" y="2619375"/>
            <a:ext cx="1476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98270"/>
          </a:bodyPr>
          <a:lstStyle xmlns:a="http://schemas.openxmlformats.org/drawingml/2006/main"/>
          <a:p xmlns:a="http://schemas.openxmlformats.org/drawingml/2006/main">
            <a:pPr algn="l">
              <a:lnSpc>
                <a:spcPct val="106000"/>
              </a:lnSpc>
              <a:buNone/>
              <a:defRPr sz="1800" b="1">
                <a:solidFill>
                  <a:srgbClr val="142B4A"/>
                </a:solidFill>
                <a:latin typeface="Avenir Next"/>
                <a:ea typeface="Avenir Next"/>
                <a:cs typeface="Avenir Next"/>
              </a:defRPr>
            </a:pPr>
            <a:r>
              <a:rPr sz="1800" b="1">
                <a:solidFill>
                  <a:srgbClr val="142B4A"/>
                </a:solidFill>
                <a:latin typeface="Avenir Next"/>
                <a:ea typeface="Avenir Next"/>
                <a:cs typeface="Avenir Next"/>
              </a:rPr>
              <a:t>Health</a:t>
            </a:r>
          </a:p>
        </p:txBody>
      </p:sp>
      <p:sp>
        <p:nvSpPr>
          <p:cNvPr id="15" name="">
            <a:extLst xmlns:a="http://schemas.openxmlformats.org/drawingml/2006/main">
              <a:ext uri="{FF2B5EF4-FFF2-40B4-BE49-F238E27FC236}">
                <a16:creationId xmlns:a16="http://schemas.microsoft.com/office/drawing/2014/main" id="{5BC101C6-BC41-4E83-A77F-097C69503FEA}"/>
              </a:ext>
            </a:extLst>
          </p:cNvPr>
          <p:cNvSpPr>
            <a:spLocks xmlns:a="http://schemas.openxmlformats.org/drawingml/2006/main" noGrp="1"/>
          </p:cNvSpPr>
          <p:nvPr/>
        </p:nvSpPr>
        <p:spPr>
          <a:xfrm xmlns:a="http://schemas.openxmlformats.org/drawingml/2006/main">
            <a:off x="8429625" y="3019425"/>
            <a:ext cx="295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96801"/>
          </a:bodyPr>
          <a:lstStyle xmlns:a="http://schemas.openxmlformats.org/drawingml/2006/main"/>
          <a:p xmlns:a="http://schemas.openxmlformats.org/drawingml/2006/main">
            <a:pPr algn="l">
              <a:lnSpc>
                <a:spcPct val="110000"/>
              </a:lnSpc>
              <a:buNone/>
              <a:defRPr sz="1350" b="0">
                <a:solidFill>
                  <a:srgbClr val="18202C"/>
                </a:solidFill>
                <a:latin typeface="Avenir Next"/>
                <a:ea typeface="Avenir Next"/>
                <a:cs typeface="Avenir Next"/>
              </a:defRPr>
            </a:pPr>
            <a:r>
              <a:rPr sz="1350" b="0">
                <a:solidFill>
                  <a:srgbClr val="18202C"/>
                </a:solidFill>
                <a:latin typeface="Avenir Next"/>
                <a:ea typeface="Avenir Next"/>
                <a:cs typeface="Avenir Next"/>
              </a:rPr>
              <a:t>RabbitMQ and PostgreSQL are reachable</a:t>
            </a:r>
          </a:p>
        </p:txBody>
      </p:sp>
      <p:sp>
        <p:nvSpPr>
          <p:cNvPr id="16" name="">
            <a:extLst xmlns:a="http://schemas.openxmlformats.org/drawingml/2006/main">
              <a:ext uri="{FF2B5EF4-FFF2-40B4-BE49-F238E27FC236}">
                <a16:creationId xmlns:a16="http://schemas.microsoft.com/office/drawing/2014/main" id="{675A8E2C-DDC7-42A1-9FD3-0C700D09E003}"/>
              </a:ext>
            </a:extLst>
          </p:cNvPr>
          <p:cNvSpPr>
            <a:spLocks xmlns:a="http://schemas.openxmlformats.org/drawingml/2006/main" noGrp="1"/>
          </p:cNvSpPr>
          <p:nvPr/>
        </p:nvSpPr>
        <p:spPr>
          <a:xfrm xmlns:a="http://schemas.openxmlformats.org/drawingml/2006/main">
            <a:off x="7762875" y="3667125"/>
            <a:ext cx="428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94340"/>
          </a:bodyPr>
          <a:lstStyle xmlns:a="http://schemas.openxmlformats.org/drawingml/2006/main"/>
          <a:p xmlns:a="http://schemas.openxmlformats.org/drawingml/2006/main">
            <a:pPr algn="ctr">
              <a:lnSpc>
                <a:spcPct val="106000"/>
              </a:lnSpc>
              <a:buNone/>
              <a:defRPr sz="2250" b="1">
                <a:solidFill>
                  <a:srgbClr val="F36B21"/>
                </a:solidFill>
                <a:latin typeface="Avenir Next"/>
                <a:ea typeface="Avenir Next"/>
                <a:cs typeface="Avenir Next"/>
              </a:defRPr>
            </a:pPr>
            <a:r>
              <a:rPr sz="2250" b="1">
                <a:solidFill>
                  <a:srgbClr val="F36B21"/>
                </a:solidFill>
                <a:latin typeface="Avenir Next"/>
                <a:ea typeface="Avenir Next"/>
                <a:cs typeface="Avenir Next"/>
              </a:rPr>
              <a:t>2</a:t>
            </a:r>
          </a:p>
        </p:txBody>
      </p:sp>
      <p:sp>
        <p:nvSpPr>
          <p:cNvPr id="17" name="">
            <a:extLst xmlns:a="http://schemas.openxmlformats.org/drawingml/2006/main">
              <a:ext uri="{FF2B5EF4-FFF2-40B4-BE49-F238E27FC236}">
                <a16:creationId xmlns:a16="http://schemas.microsoft.com/office/drawing/2014/main" id="{D1FD35C0-D715-470B-8137-ABD398A402F8}"/>
              </a:ext>
            </a:extLst>
          </p:cNvPr>
          <p:cNvSpPr>
            <a:spLocks xmlns:a="http://schemas.openxmlformats.org/drawingml/2006/main" noGrp="1"/>
          </p:cNvSpPr>
          <p:nvPr/>
        </p:nvSpPr>
        <p:spPr>
          <a:xfrm xmlns:a="http://schemas.openxmlformats.org/drawingml/2006/main">
            <a:off x="8429625" y="3667125"/>
            <a:ext cx="1476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98270"/>
          </a:bodyPr>
          <a:lstStyle xmlns:a="http://schemas.openxmlformats.org/drawingml/2006/main"/>
          <a:p xmlns:a="http://schemas.openxmlformats.org/drawingml/2006/main">
            <a:pPr algn="l">
              <a:lnSpc>
                <a:spcPct val="106000"/>
              </a:lnSpc>
              <a:buNone/>
              <a:defRPr sz="1800" b="1">
                <a:solidFill>
                  <a:srgbClr val="142B4A"/>
                </a:solidFill>
                <a:latin typeface="Avenir Next"/>
                <a:ea typeface="Avenir Next"/>
                <a:cs typeface="Avenir Next"/>
              </a:defRPr>
            </a:pPr>
            <a:r>
              <a:rPr sz="1800" b="1">
                <a:solidFill>
                  <a:srgbClr val="142B4A"/>
                </a:solidFill>
                <a:latin typeface="Avenir Next"/>
                <a:ea typeface="Avenir Next"/>
                <a:cs typeface="Avenir Next"/>
              </a:rPr>
              <a:t>Tests</a:t>
            </a:r>
          </a:p>
        </p:txBody>
      </p:sp>
      <p:sp>
        <p:nvSpPr>
          <p:cNvPr id="18" name="">
            <a:extLst xmlns:a="http://schemas.openxmlformats.org/drawingml/2006/main">
              <a:ext uri="{FF2B5EF4-FFF2-40B4-BE49-F238E27FC236}">
                <a16:creationId xmlns:a16="http://schemas.microsoft.com/office/drawing/2014/main" id="{C5E69492-702F-412F-BDE6-FCD9089F81A4}"/>
              </a:ext>
            </a:extLst>
          </p:cNvPr>
          <p:cNvSpPr>
            <a:spLocks xmlns:a="http://schemas.openxmlformats.org/drawingml/2006/main" noGrp="1"/>
          </p:cNvSpPr>
          <p:nvPr/>
        </p:nvSpPr>
        <p:spPr>
          <a:xfrm xmlns:a="http://schemas.openxmlformats.org/drawingml/2006/main">
            <a:off x="8429625" y="4067175"/>
            <a:ext cx="295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96801"/>
          </a:bodyPr>
          <a:lstStyle xmlns:a="http://schemas.openxmlformats.org/drawingml/2006/main"/>
          <a:p xmlns:a="http://schemas.openxmlformats.org/drawingml/2006/main">
            <a:pPr algn="l">
              <a:lnSpc>
                <a:spcPct val="110000"/>
              </a:lnSpc>
              <a:buNone/>
              <a:defRPr sz="1350" b="0">
                <a:solidFill>
                  <a:srgbClr val="18202C"/>
                </a:solidFill>
                <a:latin typeface="Avenir Next"/>
                <a:ea typeface="Avenir Next"/>
                <a:cs typeface="Avenir Next"/>
              </a:defRPr>
            </a:pPr>
            <a:r>
              <a:rPr sz="1350" b="0">
                <a:solidFill>
                  <a:srgbClr val="18202C"/>
                </a:solidFill>
                <a:latin typeface="Avenir Next"/>
                <a:ea typeface="Avenir Next"/>
                <a:cs typeface="Avenir Next"/>
              </a:rPr>
              <a:t>Validation, routing, workers, and live flow</a:t>
            </a:r>
          </a:p>
        </p:txBody>
      </p:sp>
      <p:sp>
        <p:nvSpPr>
          <p:cNvPr id="19" name="">
            <a:extLst xmlns:a="http://schemas.openxmlformats.org/drawingml/2006/main">
              <a:ext uri="{FF2B5EF4-FFF2-40B4-BE49-F238E27FC236}">
                <a16:creationId xmlns:a16="http://schemas.microsoft.com/office/drawing/2014/main" id="{7FE0CFBB-7E97-420A-BAD6-A504DCD8DDC0}"/>
              </a:ext>
            </a:extLst>
          </p:cNvPr>
          <p:cNvSpPr>
            <a:spLocks xmlns:a="http://schemas.openxmlformats.org/drawingml/2006/main" noGrp="1"/>
          </p:cNvSpPr>
          <p:nvPr/>
        </p:nvSpPr>
        <p:spPr>
          <a:xfrm xmlns:a="http://schemas.openxmlformats.org/drawingml/2006/main">
            <a:off x="7762875" y="4714875"/>
            <a:ext cx="428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94340"/>
          </a:bodyPr>
          <a:lstStyle xmlns:a="http://schemas.openxmlformats.org/drawingml/2006/main"/>
          <a:p xmlns:a="http://schemas.openxmlformats.org/drawingml/2006/main">
            <a:pPr algn="ctr">
              <a:lnSpc>
                <a:spcPct val="106000"/>
              </a:lnSpc>
              <a:buNone/>
              <a:defRPr sz="2250" b="1">
                <a:solidFill>
                  <a:srgbClr val="F36B21"/>
                </a:solidFill>
                <a:latin typeface="Avenir Next"/>
                <a:ea typeface="Avenir Next"/>
                <a:cs typeface="Avenir Next"/>
              </a:defRPr>
            </a:pPr>
            <a:r>
              <a:rPr sz="2250" b="1">
                <a:solidFill>
                  <a:srgbClr val="F36B21"/>
                </a:solidFill>
                <a:latin typeface="Avenir Next"/>
                <a:ea typeface="Avenir Next"/>
                <a:cs typeface="Avenir Next"/>
              </a:rPr>
              <a:t>3</a:t>
            </a:r>
          </a:p>
        </p:txBody>
      </p:sp>
      <p:sp>
        <p:nvSpPr>
          <p:cNvPr id="20" name="">
            <a:extLst xmlns:a="http://schemas.openxmlformats.org/drawingml/2006/main">
              <a:ext uri="{FF2B5EF4-FFF2-40B4-BE49-F238E27FC236}">
                <a16:creationId xmlns:a16="http://schemas.microsoft.com/office/drawing/2014/main" id="{4AB9BE17-413D-4918-AF61-8BCE586D404D}"/>
              </a:ext>
            </a:extLst>
          </p:cNvPr>
          <p:cNvSpPr>
            <a:spLocks xmlns:a="http://schemas.openxmlformats.org/drawingml/2006/main" noGrp="1"/>
          </p:cNvSpPr>
          <p:nvPr/>
        </p:nvSpPr>
        <p:spPr>
          <a:xfrm xmlns:a="http://schemas.openxmlformats.org/drawingml/2006/main">
            <a:off x="8429625" y="4714875"/>
            <a:ext cx="1476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98270"/>
          </a:bodyPr>
          <a:lstStyle xmlns:a="http://schemas.openxmlformats.org/drawingml/2006/main"/>
          <a:p xmlns:a="http://schemas.openxmlformats.org/drawingml/2006/main">
            <a:pPr algn="l">
              <a:lnSpc>
                <a:spcPct val="106000"/>
              </a:lnSpc>
              <a:buNone/>
              <a:defRPr sz="1800" b="1">
                <a:solidFill>
                  <a:srgbClr val="142B4A"/>
                </a:solidFill>
                <a:latin typeface="Avenir Next"/>
                <a:ea typeface="Avenir Next"/>
                <a:cs typeface="Avenir Next"/>
              </a:defRPr>
            </a:pPr>
            <a:r>
              <a:rPr sz="1800" b="1">
                <a:solidFill>
                  <a:srgbClr val="142B4A"/>
                </a:solidFill>
                <a:latin typeface="Avenir Next"/>
                <a:ea typeface="Avenir Next"/>
                <a:cs typeface="Avenir Next"/>
              </a:rPr>
              <a:t>Scripts</a:t>
            </a:r>
          </a:p>
        </p:txBody>
      </p:sp>
      <p:sp>
        <p:nvSpPr>
          <p:cNvPr id="21" name="">
            <a:extLst xmlns:a="http://schemas.openxmlformats.org/drawingml/2006/main">
              <a:ext uri="{FF2B5EF4-FFF2-40B4-BE49-F238E27FC236}">
                <a16:creationId xmlns:a16="http://schemas.microsoft.com/office/drawing/2014/main" id="{84182780-BAA4-4E3B-A540-3347272BA5E0}"/>
              </a:ext>
            </a:extLst>
          </p:cNvPr>
          <p:cNvSpPr>
            <a:spLocks xmlns:a="http://schemas.openxmlformats.org/drawingml/2006/main" noGrp="1"/>
          </p:cNvSpPr>
          <p:nvPr/>
        </p:nvSpPr>
        <p:spPr>
          <a:xfrm xmlns:a="http://schemas.openxmlformats.org/drawingml/2006/main">
            <a:off x="8429625" y="5114925"/>
            <a:ext cx="295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96801"/>
          </a:bodyPr>
          <a:lstStyle xmlns:a="http://schemas.openxmlformats.org/drawingml/2006/main"/>
          <a:p xmlns:a="http://schemas.openxmlformats.org/drawingml/2006/main">
            <a:pPr algn="l">
              <a:lnSpc>
                <a:spcPct val="110000"/>
              </a:lnSpc>
              <a:buNone/>
              <a:defRPr sz="1350" b="0">
                <a:solidFill>
                  <a:srgbClr val="18202C"/>
                </a:solidFill>
                <a:latin typeface="Avenir Next"/>
                <a:ea typeface="Avenir Next"/>
                <a:cs typeface="Avenir Next"/>
              </a:defRPr>
            </a:pPr>
            <a:r>
              <a:rPr sz="1350" b="0">
                <a:solidFill>
                  <a:srgbClr val="18202C"/>
                </a:solidFill>
                <a:latin typeface="Avenir Next"/>
                <a:ea typeface="Avenir Next"/>
                <a:cs typeface="Avenir Next"/>
              </a:rPr>
              <a:t>Load, outage recovery, retry, and DLQ</a:t>
            </a:r>
          </a:p>
        </p:txBody>
      </p:sp>
      <p:sp>
        <p:nvSpPr>
          <p:cNvPr id="22" name="">
            <a:extLst xmlns:a="http://schemas.openxmlformats.org/drawingml/2006/main">
              <a:ext uri="{FF2B5EF4-FFF2-40B4-BE49-F238E27FC236}">
                <a16:creationId xmlns:a16="http://schemas.microsoft.com/office/drawing/2014/main" id="{4D7EE079-A0BB-461B-B400-0C1F2FB0690A}"/>
              </a:ext>
            </a:extLst>
          </p:cNvPr>
          <p:cNvSpPr>
            <a:spLocks xmlns:a="http://schemas.openxmlformats.org/drawingml/2006/main" noGrp="1"/>
          </p:cNvSpPr>
          <p:nvPr/>
        </p:nvSpPr>
        <p:spPr>
          <a:xfrm xmlns:a="http://schemas.openxmlformats.org/drawingml/2006/main">
            <a:off x="666750" y="5857875"/>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06000"/>
              </a:lnSpc>
              <a:buNone/>
              <a:defRPr sz="1425" b="0">
                <a:solidFill>
                  <a:srgbClr val="627083"/>
                </a:solidFill>
                <a:latin typeface="Avenir Next"/>
                <a:ea typeface="Avenir Next"/>
                <a:cs typeface="Avenir Next"/>
              </a:defRPr>
            </a:pPr>
            <a:r>
              <a:rPr sz="1425" b="0">
                <a:solidFill>
                  <a:srgbClr val="627083"/>
                </a:solidFill>
                <a:latin typeface="Avenir Next"/>
                <a:ea typeface="Avenir Next"/>
                <a:cs typeface="Avenir Next"/>
              </a:rPr>
              <a:t>Install the pinned Python dependencies before running pytest locally.</a:t>
            </a:r>
          </a:p>
        </p:txBody>
      </p:sp>
    </p:spTree>
    <p:extLst>
      <p:ext uri="{BB962C8B-B14F-4D97-AF65-F5344CB8AC3E}">
        <p14:creationId xmlns:p14="http://schemas.microsoft.com/office/powerpoint/2010/main" val="260014075"/>
      </p:ext>
    </p:extLst>
  </p:cSld>
</p:sld>
</file>

<file path=ppt/slides/slide10.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D6F20BBB-663E-4FEB-8E80-8A6B029ECCCB}"/>
              </a:ext>
            </a:extLst>
          </p:cNvPr>
          <p:cNvSpPr>
            <a:spLocks xmlns:a="http://schemas.openxmlformats.org/drawingml/2006/main" noGrp="1"/>
          </p:cNvSpPr>
          <p:nvPr/>
        </p:nvSpPr>
        <p:spPr>
          <a:xfrm xmlns:a="http://schemas.openxmlformats.org/drawingml/2006/main">
            <a:off x="552450" y="342900"/>
            <a:ext cx="10287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95071"/>
          </a:bodyPr>
          <a:lstStyle xmlns:a="http://schemas.openxmlformats.org/drawingml/2006/main"/>
          <a:p xmlns:a="http://schemas.openxmlformats.org/drawingml/2006/main">
            <a:pPr algn="l">
              <a:lnSpc>
                <a:spcPct val="106000"/>
              </a:lnSpc>
              <a:buNone/>
              <a:defRPr sz="3225" b="1">
                <a:solidFill>
                  <a:srgbClr val="18202C"/>
                </a:solidFill>
                <a:latin typeface="Avenir Next"/>
                <a:ea typeface="Avenir Next"/>
                <a:cs typeface="Avenir Next"/>
              </a:defRPr>
            </a:pPr>
            <a:r>
              <a:rPr sz="3225" b="1">
                <a:solidFill>
                  <a:srgbClr val="18202C"/>
                </a:solidFill>
                <a:latin typeface="Avenir Next"/>
                <a:ea typeface="Avenir Next"/>
                <a:cs typeface="Avenir Next"/>
              </a:rPr>
              <a:t>The API responds much faster</a:t>
            </a:r>
          </a:p>
        </p:txBody>
      </p:sp>
      <p:sp>
        <p:nvSpPr>
          <p:cNvPr id="2" name="">
            <a:extLst xmlns:a="http://schemas.openxmlformats.org/drawingml/2006/main">
              <a:ext uri="{FF2B5EF4-FFF2-40B4-BE49-F238E27FC236}">
                <a16:creationId xmlns:a16="http://schemas.microsoft.com/office/drawing/2014/main" id="{60BAEF86-DB0E-4183-A67D-D19A85E5A159}"/>
              </a:ext>
            </a:extLst>
          </p:cNvPr>
          <p:cNvSpPr>
            <a:spLocks xmlns:a="http://schemas.openxmlformats.org/drawingml/2006/main" noGrp="1"/>
          </p:cNvSpPr>
          <p:nvPr/>
        </p:nvSpPr>
        <p:spPr>
          <a:xfrm xmlns:a="http://schemas.openxmlformats.org/drawingml/2006/main">
            <a:off x="571500" y="914400"/>
            <a:ext cx="1028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06000"/>
              </a:lnSpc>
              <a:buNone/>
              <a:defRPr sz="1500" b="0">
                <a:solidFill>
                  <a:srgbClr val="627083"/>
                </a:solidFill>
                <a:latin typeface="Avenir Next"/>
                <a:ea typeface="Avenir Next"/>
                <a:cs typeface="Avenir Next"/>
              </a:defRPr>
            </a:pPr>
            <a:r>
              <a:rPr sz="1500" b="0">
                <a:solidFill>
                  <a:srgbClr val="627083"/>
                </a:solidFill>
                <a:latin typeface="Avenir Next"/>
                <a:ea typeface="Avenir Next"/>
                <a:cs typeface="Avenir Next"/>
              </a:rPr>
              <a:t>30 orders with six concurrent clients on the development laptop, 19 September 2026</a:t>
            </a:r>
          </a:p>
        </p:txBody>
      </p:sp>
      <p:sp>
        <p:nvSpPr>
          <p:cNvPr id="3" name="">
            <a:extLst xmlns:a="http://schemas.openxmlformats.org/drawingml/2006/main">
              <a:ext uri="{FF2B5EF4-FFF2-40B4-BE49-F238E27FC236}">
                <a16:creationId xmlns:a16="http://schemas.microsoft.com/office/drawing/2014/main" id="{66438D0A-872C-4A9F-A824-086311B8FE84}"/>
              </a:ext>
            </a:extLst>
          </p:cNvPr>
          <p:cNvSpPr>
            <a:spLocks xmlns:a="http://schemas.openxmlformats.org/drawingml/2006/main" noGrp="1"/>
          </p:cNvSpPr>
          <p:nvPr/>
        </p:nvSpPr>
        <p:spPr>
          <a:xfrm xmlns:a="http://schemas.openxmlformats.org/drawingml/2006/main">
            <a:off x="533400" y="1295400"/>
            <a:ext cx="11125200" cy="47625"/>
          </a:xfrm>
          <a:prstGeom xmlns:a="http://schemas.openxmlformats.org/drawingml/2006/main" prst="rect">
            <a:avLst/>
          </a:prstGeom>
          <a:solidFill xmlns:a="http://schemas.openxmlformats.org/drawingml/2006/main">
            <a:srgbClr val="F36B21"/>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DE25D1D-DAEB-4D61-A601-44C584132BD0}"/>
              </a:ext>
            </a:extLst>
          </p:cNvPr>
          <p:cNvSpPr>
            <a:spLocks xmlns:a="http://schemas.openxmlformats.org/drawingml/2006/main" noGrp="1"/>
          </p:cNvSpPr>
          <p:nvPr/>
        </p:nvSpPr>
        <p:spPr>
          <a:xfrm xmlns:a="http://schemas.openxmlformats.org/drawingml/2006/main">
            <a:off x="10382250" y="6619875"/>
            <a:ext cx="7239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91719"/>
          </a:bodyPr>
          <a:lstStyle xmlns:a="http://schemas.openxmlformats.org/drawingml/2006/main"/>
          <a:p xmlns:a="http://schemas.openxmlformats.org/drawingml/2006/main">
            <a:pPr algn="r">
              <a:lnSpc>
                <a:spcPct val="106000"/>
              </a:lnSpc>
              <a:buNone/>
              <a:defRPr sz="900" b="1">
                <a:solidFill>
                  <a:srgbClr val="627083"/>
                </a:solidFill>
                <a:latin typeface="Avenir Next"/>
                <a:ea typeface="Avenir Next"/>
                <a:cs typeface="Avenir Next"/>
              </a:defRPr>
            </a:pPr>
            <a:r>
              <a:rPr sz="900" b="1">
                <a:solidFill>
                  <a:srgbClr val="627083"/>
                </a:solidFill>
                <a:latin typeface="Avenir Next"/>
                <a:ea typeface="Avenir Next"/>
                <a:cs typeface="Avenir Next"/>
              </a:rPr>
              <a:t>P3</a:t>
            </a:r>
          </a:p>
        </p:txBody>
      </p:sp>
      <p:sp>
        <p:nvSpPr>
          <p:cNvPr id="5" name="">
            <a:extLst xmlns:a="http://schemas.openxmlformats.org/drawingml/2006/main">
              <a:ext uri="{FF2B5EF4-FFF2-40B4-BE49-F238E27FC236}">
                <a16:creationId xmlns:a16="http://schemas.microsoft.com/office/drawing/2014/main" id="{D83CAA72-7E25-4D56-BE1D-0255806822E8}"/>
              </a:ext>
            </a:extLst>
          </p:cNvPr>
          <p:cNvSpPr>
            <a:spLocks xmlns:a="http://schemas.openxmlformats.org/drawingml/2006/main" noGrp="1"/>
          </p:cNvSpPr>
          <p:nvPr/>
        </p:nvSpPr>
        <p:spPr>
          <a:xfrm xmlns:a="http://schemas.openxmlformats.org/drawingml/2006/main">
            <a:off x="11191875" y="6619875"/>
            <a:ext cx="4286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91719"/>
          </a:bodyPr>
          <a:lstStyle xmlns:a="http://schemas.openxmlformats.org/drawingml/2006/main"/>
          <a:p xmlns:a="http://schemas.openxmlformats.org/drawingml/2006/main">
            <a:pPr algn="r">
              <a:lnSpc>
                <a:spcPct val="106000"/>
              </a:lnSpc>
              <a:buNone/>
              <a:defRPr sz="900" b="0">
                <a:solidFill>
                  <a:srgbClr val="627083"/>
                </a:solidFill>
                <a:latin typeface="Avenir Next"/>
                <a:ea typeface="Avenir Next"/>
                <a:cs typeface="Avenir Next"/>
              </a:defRPr>
            </a:pPr>
            <a:r>
              <a:rPr sz="900" b="0">
                <a:solidFill>
                  <a:srgbClr val="627083"/>
                </a:solidFill>
                <a:latin typeface="Avenir Next"/>
                <a:ea typeface="Avenir Next"/>
                <a:cs typeface="Avenir Next"/>
              </a:rPr>
              <a:t>10</a:t>
            </a:r>
          </a:p>
        </p:txBody>
      </p:sp>
      <p:graphicFrame>
        <p:nvGraphicFramePr>
          <p:cNvPr id="18" name="Chart"/>
          <p:cNvGraphicFramePr/>
          <p:nvPr/>
        </p:nvGraphicFramePr>
        <p:xfrm>
          <a:off xmlns:a="http://schemas.openxmlformats.org/drawingml/2006/main" x="523875" y="1762125"/>
          <a:ext xmlns:a="http://schemas.openxmlformats.org/drawingml/2006/main" cx="7239000" cy="3714750"/>
        </p:xfrm>
        <a:graphic xmlns:a="http://schemas.openxmlformats.org/drawingml/2006/main">
          <a:graphicData uri="http://schemas.openxmlformats.org/drawingml/2006/chart">
            <c:chart xmlns:r="http://schemas.openxmlformats.org/officeDocument/2006/relationships" xmlns:c="http://schemas.openxmlformats.org/drawingml/2006/chart" r:id="Rb3d2435450e14d5e"/>
          </a:graphicData>
        </a:graphic>
      </p:graphicFrame>
      <p:sp>
        <p:nvSpPr>
          <p:cNvPr id="7" name="">
            <a:extLst xmlns:a="http://schemas.openxmlformats.org/drawingml/2006/main">
              <a:ext uri="{FF2B5EF4-FFF2-40B4-BE49-F238E27FC236}">
                <a16:creationId xmlns:a16="http://schemas.microsoft.com/office/drawing/2014/main" id="{FAB3A376-604F-489E-AB41-6FF42AA663A3}"/>
              </a:ext>
            </a:extLst>
          </p:cNvPr>
          <p:cNvSpPr>
            <a:spLocks xmlns:a="http://schemas.openxmlformats.org/drawingml/2006/main" noGrp="1"/>
          </p:cNvSpPr>
          <p:nvPr/>
        </p:nvSpPr>
        <p:spPr>
          <a:xfrm xmlns:a="http://schemas.openxmlformats.org/drawingml/2006/main">
            <a:off x="8429625" y="1952625"/>
            <a:ext cx="2667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92910"/>
          </a:bodyPr>
          <a:lstStyle xmlns:a="http://schemas.openxmlformats.org/drawingml/2006/main"/>
          <a:p xmlns:a="http://schemas.openxmlformats.org/drawingml/2006/main">
            <a:pPr algn="ctr">
              <a:lnSpc>
                <a:spcPct val="106000"/>
              </a:lnSpc>
              <a:buNone/>
              <a:defRPr sz="4950" b="1">
                <a:solidFill>
                  <a:srgbClr val="C94710"/>
                </a:solidFill>
                <a:latin typeface="Avenir Next"/>
                <a:ea typeface="Avenir Next"/>
                <a:cs typeface="Avenir Next"/>
              </a:defRPr>
            </a:pPr>
            <a:r>
              <a:rPr sz="4950" b="1">
                <a:solidFill>
                  <a:srgbClr val="C94710"/>
                </a:solidFill>
                <a:latin typeface="Avenir Next"/>
                <a:ea typeface="Avenir Next"/>
                <a:cs typeface="Avenir Next"/>
              </a:rPr>
              <a:t>339×</a:t>
            </a:r>
          </a:p>
        </p:txBody>
      </p:sp>
      <p:sp>
        <p:nvSpPr>
          <p:cNvPr id="8" name="">
            <a:extLst xmlns:a="http://schemas.openxmlformats.org/drawingml/2006/main">
              <a:ext uri="{FF2B5EF4-FFF2-40B4-BE49-F238E27FC236}">
                <a16:creationId xmlns:a16="http://schemas.microsoft.com/office/drawing/2014/main" id="{18DB7D17-8FBE-403B-9936-D06A72B4C60E}"/>
              </a:ext>
            </a:extLst>
          </p:cNvPr>
          <p:cNvSpPr>
            <a:spLocks xmlns:a="http://schemas.openxmlformats.org/drawingml/2006/main" noGrp="1"/>
          </p:cNvSpPr>
          <p:nvPr/>
        </p:nvSpPr>
        <p:spPr>
          <a:xfrm xmlns:a="http://schemas.openxmlformats.org/drawingml/2006/main">
            <a:off x="8334375" y="2733675"/>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ctr">
              <a:lnSpc>
                <a:spcPct val="106000"/>
              </a:lnSpc>
              <a:buNone/>
              <a:defRPr sz="1800" b="1">
                <a:solidFill>
                  <a:srgbClr val="142B4A"/>
                </a:solidFill>
                <a:latin typeface="Avenir Next"/>
                <a:ea typeface="Avenir Next"/>
                <a:cs typeface="Avenir Next"/>
              </a:defRPr>
            </a:pPr>
            <a:r>
              <a:rPr sz="1800" b="1">
                <a:solidFill>
                  <a:srgbClr val="142B4A"/>
                </a:solidFill>
                <a:latin typeface="Avenir Next"/>
                <a:ea typeface="Avenir Next"/>
                <a:cs typeface="Avenir Next"/>
              </a:rPr>
              <a:t>faster API acceptance</a:t>
            </a:r>
          </a:p>
        </p:txBody>
      </p:sp>
      <p:sp>
        <p:nvSpPr>
          <p:cNvPr id="9" name="">
            <a:extLst xmlns:a="http://schemas.openxmlformats.org/drawingml/2006/main">
              <a:ext uri="{FF2B5EF4-FFF2-40B4-BE49-F238E27FC236}">
                <a16:creationId xmlns:a16="http://schemas.microsoft.com/office/drawing/2014/main" id="{26664522-856D-4190-ADD4-2E905CFC9A7F}"/>
              </a:ext>
            </a:extLst>
          </p:cNvPr>
          <p:cNvSpPr>
            <a:spLocks xmlns:a="http://schemas.openxmlformats.org/drawingml/2006/main" noGrp="1"/>
          </p:cNvSpPr>
          <p:nvPr/>
        </p:nvSpPr>
        <p:spPr>
          <a:xfrm xmlns:a="http://schemas.openxmlformats.org/drawingml/2006/main">
            <a:off x="8477250" y="3381375"/>
            <a:ext cx="2571750" cy="0"/>
          </a:xfrm>
          <a:prstGeom xmlns:a="http://schemas.openxmlformats.org/drawingml/2006/main" prst="line">
            <a:avLst/>
          </a:prstGeom>
          <a:noFill xmlns:a="http://schemas.openxmlformats.org/drawingml/2006/main"/>
          <a:ln xmlns:a="http://schemas.openxmlformats.org/drawingml/2006/main" w="14288">
            <a:solidFill>
              <a:srgbClr val="C7D0DA"/>
            </a:solidFill>
            <a:prstDash val="solid"/>
          </a:ln>
        </p:spPr>
      </p:sp>
      <p:sp>
        <p:nvSpPr>
          <p:cNvPr id="10" name="">
            <a:extLst xmlns:a="http://schemas.openxmlformats.org/drawingml/2006/main">
              <a:ext uri="{FF2B5EF4-FFF2-40B4-BE49-F238E27FC236}">
                <a16:creationId xmlns:a16="http://schemas.microsoft.com/office/drawing/2014/main" id="{FAA8F16A-0486-4F6E-BA43-72A4FF0EAF62}"/>
              </a:ext>
            </a:extLst>
          </p:cNvPr>
          <p:cNvSpPr>
            <a:spLocks xmlns:a="http://schemas.openxmlformats.org/drawingml/2006/main" noGrp="1"/>
          </p:cNvSpPr>
          <p:nvPr/>
        </p:nvSpPr>
        <p:spPr>
          <a:xfrm xmlns:a="http://schemas.openxmlformats.org/drawingml/2006/main">
            <a:off x="8524875" y="3714750"/>
            <a:ext cx="2476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ctr">
              <a:lnSpc>
                <a:spcPct val="106000"/>
              </a:lnSpc>
              <a:buNone/>
              <a:defRPr sz="3150" b="1">
                <a:solidFill>
                  <a:srgbClr val="2E7D4F"/>
                </a:solidFill>
                <a:latin typeface="Avenir Next"/>
                <a:ea typeface="Avenir Next"/>
                <a:cs typeface="Avenir Next"/>
              </a:defRPr>
            </a:pPr>
            <a:r>
              <a:rPr sz="3150" b="1">
                <a:solidFill>
                  <a:srgbClr val="2E7D4F"/>
                </a:solidFill>
                <a:latin typeface="Avenir Next"/>
                <a:ea typeface="Avenir Next"/>
                <a:cs typeface="Avenir Next"/>
              </a:rPr>
              <a:t>30 / 30</a:t>
            </a:r>
          </a:p>
        </p:txBody>
      </p:sp>
      <p:sp>
        <p:nvSpPr>
          <p:cNvPr id="11" name="">
            <a:extLst xmlns:a="http://schemas.openxmlformats.org/drawingml/2006/main">
              <a:ext uri="{FF2B5EF4-FFF2-40B4-BE49-F238E27FC236}">
                <a16:creationId xmlns:a16="http://schemas.microsoft.com/office/drawing/2014/main" id="{68854B52-DCAF-4957-8744-E0068B12A28F}"/>
              </a:ext>
            </a:extLst>
          </p:cNvPr>
          <p:cNvSpPr>
            <a:spLocks xmlns:a="http://schemas.openxmlformats.org/drawingml/2006/main" noGrp="1"/>
          </p:cNvSpPr>
          <p:nvPr/>
        </p:nvSpPr>
        <p:spPr>
          <a:xfrm xmlns:a="http://schemas.openxmlformats.org/drawingml/2006/main">
            <a:off x="8334375" y="4267200"/>
            <a:ext cx="285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ctr">
              <a:lnSpc>
                <a:spcPct val="112000"/>
              </a:lnSpc>
              <a:buNone/>
              <a:defRPr sz="1500" b="0">
                <a:solidFill>
                  <a:srgbClr val="18202C"/>
                </a:solidFill>
                <a:latin typeface="Avenir Next"/>
                <a:ea typeface="Avenir Next"/>
                <a:cs typeface="Avenir Next"/>
              </a:defRPr>
            </a:pPr>
            <a:r>
              <a:rPr sz="1500" b="0">
                <a:solidFill>
                  <a:srgbClr val="18202C"/>
                </a:solidFill>
                <a:latin typeface="Avenir Next"/>
                <a:ea typeface="Avenir Next"/>
                <a:cs typeface="Avenir Next"/>
              </a:rPr>
              <a:t>asynchronous orders eventually completed</a:t>
            </a:r>
          </a:p>
        </p:txBody>
      </p:sp>
      <p:sp>
        <p:nvSpPr>
          <p:cNvPr id="12" name="">
            <a:extLst xmlns:a="http://schemas.openxmlformats.org/drawingml/2006/main">
              <a:ext uri="{FF2B5EF4-FFF2-40B4-BE49-F238E27FC236}">
                <a16:creationId xmlns:a16="http://schemas.microsoft.com/office/drawing/2014/main" id="{604A21E1-C8E3-4D56-B2E5-59718A9C3614}"/>
              </a:ext>
            </a:extLst>
          </p:cNvPr>
          <p:cNvSpPr>
            <a:spLocks xmlns:a="http://schemas.openxmlformats.org/drawingml/2006/main" noGrp="1"/>
          </p:cNvSpPr>
          <p:nvPr/>
        </p:nvSpPr>
        <p:spPr>
          <a:xfrm xmlns:a="http://schemas.openxmlformats.org/drawingml/2006/main">
            <a:off x="8191500" y="5286375"/>
            <a:ext cx="3143250" cy="666750"/>
          </a:xfrm>
          <a:prstGeom xmlns:a="http://schemas.openxmlformats.org/drawingml/2006/main" prst="roundRect">
            <a:avLst>
              <a:gd name="adj" fmla="val 17143"/>
            </a:avLst>
          </a:prstGeom>
          <a:solidFill xmlns:a="http://schemas.openxmlformats.org/drawingml/2006/main">
            <a:srgbClr val="F6E7B0"/>
          </a:solidFill>
          <a:ln xmlns:a="http://schemas.openxmlformats.org/drawingml/2006/main" w="9525">
            <a:solidFill>
              <a:srgbClr val="D7BC58"/>
            </a:solidFill>
          </a:ln>
        </p:spPr>
        <p:txBody>
          <a:bodyPr xmlns:a="http://schemas.openxmlformats.org/drawingml/2006/main" wrap="square" lIns="95250" tIns="76200" rIns="95250" bIns="76200" anchor="ctr">
            <a:normAutofit fontScale="96519"/>
          </a:bodyPr>
          <a:lstStyle xmlns:a="http://schemas.openxmlformats.org/drawingml/2006/main"/>
          <a:p xmlns:a="http://schemas.openxmlformats.org/drawingml/2006/main">
            <a:pPr algn="ctr">
              <a:lnSpc>
                <a:spcPct val="100000"/>
              </a:lnSpc>
              <a:buNone/>
              <a:defRPr sz="1350" b="1">
                <a:solidFill>
                  <a:srgbClr val="142B4A"/>
                </a:solidFill>
                <a:latin typeface="Avenir Next"/>
                <a:ea typeface="Avenir Next"/>
                <a:cs typeface="Avenir Next"/>
              </a:defRPr>
            </a:pPr>
            <a:r>
              <a:rPr sz="1350" b="1">
                <a:solidFill>
                  <a:srgbClr val="142B4A"/>
                </a:solidFill>
                <a:latin typeface="Avenir Next"/>
                <a:ea typeface="Avenir Next"/>
                <a:cs typeface="Avenir Next"/>
              </a:rPr>
              <a:t>The workers still perform the full business process after the response.</a:t>
            </a:r>
          </a:p>
        </p:txBody>
      </p:sp>
    </p:spTree>
    <p:extLst>
      <p:ext uri="{BB962C8B-B14F-4D97-AF65-F5344CB8AC3E}">
        <p14:creationId xmlns:p14="http://schemas.microsoft.com/office/powerpoint/2010/main" val="216274684"/>
      </p:ext>
    </p:extLst>
  </p:cSld>
</p:sld>
</file>

<file path=ppt/slides/slide11.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1A889601-BE43-4BA2-BAC0-77E79A2D757C}"/>
              </a:ext>
            </a:extLst>
          </p:cNvPr>
          <p:cNvSpPr>
            <a:spLocks xmlns:a="http://schemas.openxmlformats.org/drawingml/2006/main" noGrp="1"/>
          </p:cNvSpPr>
          <p:nvPr/>
        </p:nvSpPr>
        <p:spPr>
          <a:xfrm xmlns:a="http://schemas.openxmlformats.org/drawingml/2006/main">
            <a:off x="552450" y="342900"/>
            <a:ext cx="10287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95071"/>
          </a:bodyPr>
          <a:lstStyle xmlns:a="http://schemas.openxmlformats.org/drawingml/2006/main"/>
          <a:p xmlns:a="http://schemas.openxmlformats.org/drawingml/2006/main">
            <a:pPr algn="l">
              <a:lnSpc>
                <a:spcPct val="106000"/>
              </a:lnSpc>
              <a:buNone/>
              <a:defRPr sz="3225" b="1">
                <a:solidFill>
                  <a:srgbClr val="18202C"/>
                </a:solidFill>
                <a:latin typeface="Avenir Next"/>
                <a:ea typeface="Avenir Next"/>
                <a:cs typeface="Avenir Next"/>
              </a:defRPr>
            </a:pPr>
            <a:r>
              <a:rPr sz="3225" b="1">
                <a:solidFill>
                  <a:srgbClr val="18202C"/>
                </a:solidFill>
                <a:latin typeface="Avenir Next"/>
                <a:ea typeface="Avenir Next"/>
                <a:cs typeface="Avenir Next"/>
              </a:rPr>
              <a:t>Live demo and key takeaway</a:t>
            </a:r>
          </a:p>
        </p:txBody>
      </p:sp>
      <p:sp>
        <p:nvSpPr>
          <p:cNvPr id="2" name="">
            <a:extLst xmlns:a="http://schemas.openxmlformats.org/drawingml/2006/main">
              <a:ext uri="{FF2B5EF4-FFF2-40B4-BE49-F238E27FC236}">
                <a16:creationId xmlns:a16="http://schemas.microsoft.com/office/drawing/2014/main" id="{133E5E42-7402-4E8B-BC18-0645450950BD}"/>
              </a:ext>
            </a:extLst>
          </p:cNvPr>
          <p:cNvSpPr>
            <a:spLocks xmlns:a="http://schemas.openxmlformats.org/drawingml/2006/main" noGrp="1"/>
          </p:cNvSpPr>
          <p:nvPr/>
        </p:nvSpPr>
        <p:spPr>
          <a:xfrm xmlns:a="http://schemas.openxmlformats.org/drawingml/2006/main">
            <a:off x="571500" y="914400"/>
            <a:ext cx="1028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06000"/>
              </a:lnSpc>
              <a:buNone/>
              <a:defRPr sz="1500" b="0">
                <a:solidFill>
                  <a:srgbClr val="627083"/>
                </a:solidFill>
                <a:latin typeface="Avenir Next"/>
                <a:ea typeface="Avenir Next"/>
                <a:cs typeface="Avenir Next"/>
              </a:defRPr>
            </a:pPr>
            <a:r>
              <a:rPr sz="1500" b="0">
                <a:solidFill>
                  <a:srgbClr val="627083"/>
                </a:solidFill>
                <a:latin typeface="Avenir Next"/>
                <a:ea typeface="Avenir Next"/>
                <a:cs typeface="Avenir Next"/>
              </a:rPr>
              <a:t>Four steps show the main idea without overloading the audience</a:t>
            </a:r>
          </a:p>
        </p:txBody>
      </p:sp>
      <p:sp>
        <p:nvSpPr>
          <p:cNvPr id="3" name="">
            <a:extLst xmlns:a="http://schemas.openxmlformats.org/drawingml/2006/main">
              <a:ext uri="{FF2B5EF4-FFF2-40B4-BE49-F238E27FC236}">
                <a16:creationId xmlns:a16="http://schemas.microsoft.com/office/drawing/2014/main" id="{FF1F8D92-87EC-45A5-B16A-F333A3850043}"/>
              </a:ext>
            </a:extLst>
          </p:cNvPr>
          <p:cNvSpPr>
            <a:spLocks xmlns:a="http://schemas.openxmlformats.org/drawingml/2006/main" noGrp="1"/>
          </p:cNvSpPr>
          <p:nvPr/>
        </p:nvSpPr>
        <p:spPr>
          <a:xfrm xmlns:a="http://schemas.openxmlformats.org/drawingml/2006/main">
            <a:off x="533400" y="1295400"/>
            <a:ext cx="11125200" cy="47625"/>
          </a:xfrm>
          <a:prstGeom xmlns:a="http://schemas.openxmlformats.org/drawingml/2006/main" prst="rect">
            <a:avLst/>
          </a:prstGeom>
          <a:solidFill xmlns:a="http://schemas.openxmlformats.org/drawingml/2006/main">
            <a:srgbClr val="F36B21"/>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192FD94-BD62-4B9F-A7E6-298D98D510D3}"/>
              </a:ext>
            </a:extLst>
          </p:cNvPr>
          <p:cNvSpPr>
            <a:spLocks xmlns:a="http://schemas.openxmlformats.org/drawingml/2006/main" noGrp="1"/>
          </p:cNvSpPr>
          <p:nvPr/>
        </p:nvSpPr>
        <p:spPr>
          <a:xfrm xmlns:a="http://schemas.openxmlformats.org/drawingml/2006/main">
            <a:off x="10382250" y="6619875"/>
            <a:ext cx="7239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91719"/>
          </a:bodyPr>
          <a:lstStyle xmlns:a="http://schemas.openxmlformats.org/drawingml/2006/main"/>
          <a:p xmlns:a="http://schemas.openxmlformats.org/drawingml/2006/main">
            <a:pPr algn="r">
              <a:lnSpc>
                <a:spcPct val="106000"/>
              </a:lnSpc>
              <a:buNone/>
              <a:defRPr sz="900" b="1">
                <a:solidFill>
                  <a:srgbClr val="627083"/>
                </a:solidFill>
                <a:latin typeface="Avenir Next"/>
                <a:ea typeface="Avenir Next"/>
                <a:cs typeface="Avenir Next"/>
              </a:defRPr>
            </a:pPr>
            <a:r>
              <a:rPr sz="900" b="1">
                <a:solidFill>
                  <a:srgbClr val="627083"/>
                </a:solidFill>
                <a:latin typeface="Avenir Next"/>
                <a:ea typeface="Avenir Next"/>
                <a:cs typeface="Avenir Next"/>
              </a:rPr>
              <a:t>P3</a:t>
            </a:r>
          </a:p>
        </p:txBody>
      </p:sp>
      <p:sp>
        <p:nvSpPr>
          <p:cNvPr id="5" name="">
            <a:extLst xmlns:a="http://schemas.openxmlformats.org/drawingml/2006/main">
              <a:ext uri="{FF2B5EF4-FFF2-40B4-BE49-F238E27FC236}">
                <a16:creationId xmlns:a16="http://schemas.microsoft.com/office/drawing/2014/main" id="{55292001-5A87-4806-9BFA-FD521D270AB9}"/>
              </a:ext>
            </a:extLst>
          </p:cNvPr>
          <p:cNvSpPr>
            <a:spLocks xmlns:a="http://schemas.openxmlformats.org/drawingml/2006/main" noGrp="1"/>
          </p:cNvSpPr>
          <p:nvPr/>
        </p:nvSpPr>
        <p:spPr>
          <a:xfrm xmlns:a="http://schemas.openxmlformats.org/drawingml/2006/main">
            <a:off x="11191875" y="6619875"/>
            <a:ext cx="4286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91719"/>
          </a:bodyPr>
          <a:lstStyle xmlns:a="http://schemas.openxmlformats.org/drawingml/2006/main"/>
          <a:p xmlns:a="http://schemas.openxmlformats.org/drawingml/2006/main">
            <a:pPr algn="r">
              <a:lnSpc>
                <a:spcPct val="106000"/>
              </a:lnSpc>
              <a:buNone/>
              <a:defRPr sz="900" b="0">
                <a:solidFill>
                  <a:srgbClr val="627083"/>
                </a:solidFill>
                <a:latin typeface="Avenir Next"/>
                <a:ea typeface="Avenir Next"/>
                <a:cs typeface="Avenir Next"/>
              </a:defRPr>
            </a:pPr>
            <a:r>
              <a:rPr sz="900" b="0">
                <a:solidFill>
                  <a:srgbClr val="627083"/>
                </a:solidFill>
                <a:latin typeface="Avenir Next"/>
                <a:ea typeface="Avenir Next"/>
                <a:cs typeface="Avenir Next"/>
              </a:rPr>
              <a:t>11</a:t>
            </a:r>
          </a:p>
        </p:txBody>
      </p:sp>
      <p:sp>
        <p:nvSpPr>
          <p:cNvPr id="6" name="">
            <a:extLst xmlns:a="http://schemas.openxmlformats.org/drawingml/2006/main">
              <a:ext uri="{FF2B5EF4-FFF2-40B4-BE49-F238E27FC236}">
                <a16:creationId xmlns:a16="http://schemas.microsoft.com/office/drawing/2014/main" id="{2448B017-CE34-4F05-851B-5A5A08E32892}"/>
              </a:ext>
            </a:extLst>
          </p:cNvPr>
          <p:cNvSpPr>
            <a:spLocks xmlns:a="http://schemas.openxmlformats.org/drawingml/2006/main" noGrp="1"/>
          </p:cNvSpPr>
          <p:nvPr/>
        </p:nvSpPr>
        <p:spPr>
          <a:xfrm xmlns:a="http://schemas.openxmlformats.org/drawingml/2006/main">
            <a:off x="685800" y="1571625"/>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ctr">
              <a:lnSpc>
                <a:spcPct val="106000"/>
              </a:lnSpc>
              <a:buNone/>
              <a:defRPr sz="2400" b="1">
                <a:solidFill>
                  <a:srgbClr val="F36B21"/>
                </a:solidFill>
                <a:latin typeface="Avenir Next"/>
                <a:ea typeface="Avenir Next"/>
                <a:cs typeface="Avenir Next"/>
              </a:defRPr>
            </a:pPr>
            <a:r>
              <a:rPr sz="2400" b="1">
                <a:solidFill>
                  <a:srgbClr val="F36B21"/>
                </a:solidFill>
                <a:latin typeface="Avenir Next"/>
                <a:ea typeface="Avenir Next"/>
                <a:cs typeface="Avenir Next"/>
              </a:rPr>
              <a:t>1</a:t>
            </a:r>
          </a:p>
        </p:txBody>
      </p:sp>
      <p:sp>
        <p:nvSpPr>
          <p:cNvPr id="7" name="">
            <a:extLst xmlns:a="http://schemas.openxmlformats.org/drawingml/2006/main">
              <a:ext uri="{FF2B5EF4-FFF2-40B4-BE49-F238E27FC236}">
                <a16:creationId xmlns:a16="http://schemas.microsoft.com/office/drawing/2014/main" id="{A0C4D420-F1B9-491E-8284-A1C9C9EE9750}"/>
              </a:ext>
            </a:extLst>
          </p:cNvPr>
          <p:cNvSpPr>
            <a:spLocks xmlns:a="http://schemas.openxmlformats.org/drawingml/2006/main" noGrp="1"/>
          </p:cNvSpPr>
          <p:nvPr/>
        </p:nvSpPr>
        <p:spPr>
          <a:xfrm xmlns:a="http://schemas.openxmlformats.org/drawingml/2006/main">
            <a:off x="1524000" y="1590675"/>
            <a:ext cx="2762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06000"/>
              </a:lnSpc>
              <a:buNone/>
              <a:defRPr sz="1875" b="1">
                <a:solidFill>
                  <a:srgbClr val="142B4A"/>
                </a:solidFill>
                <a:latin typeface="Avenir Next"/>
                <a:ea typeface="Avenir Next"/>
                <a:cs typeface="Avenir Next"/>
              </a:defRPr>
            </a:pPr>
            <a:r>
              <a:rPr sz="1875" b="1">
                <a:solidFill>
                  <a:srgbClr val="142B4A"/>
                </a:solidFill>
                <a:latin typeface="Avenir Next"/>
                <a:ea typeface="Avenir Next"/>
                <a:cs typeface="Avenir Next"/>
              </a:rPr>
              <a:t>Compare both paths</a:t>
            </a:r>
          </a:p>
        </p:txBody>
      </p:sp>
      <p:sp>
        <p:nvSpPr>
          <p:cNvPr id="8" name="">
            <a:extLst xmlns:a="http://schemas.openxmlformats.org/drawingml/2006/main">
              <a:ext uri="{FF2B5EF4-FFF2-40B4-BE49-F238E27FC236}">
                <a16:creationId xmlns:a16="http://schemas.microsoft.com/office/drawing/2014/main" id="{7FD707FA-9B14-468E-95F1-A9E684FCDE46}"/>
              </a:ext>
            </a:extLst>
          </p:cNvPr>
          <p:cNvSpPr>
            <a:spLocks xmlns:a="http://schemas.openxmlformats.org/drawingml/2006/main" noGrp="1"/>
          </p:cNvSpPr>
          <p:nvPr/>
        </p:nvSpPr>
        <p:spPr>
          <a:xfrm xmlns:a="http://schemas.openxmlformats.org/drawingml/2006/main">
            <a:off x="4572000" y="1590675"/>
            <a:ext cx="6477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12000"/>
              </a:lnSpc>
              <a:buNone/>
              <a:defRPr sz="1575" b="0">
                <a:solidFill>
                  <a:srgbClr val="18202C"/>
                </a:solidFill>
                <a:latin typeface="Avenir Next"/>
                <a:ea typeface="Avenir Next"/>
                <a:cs typeface="Avenir Next"/>
              </a:defRPr>
            </a:pPr>
            <a:r>
              <a:rPr sz="1575" b="0">
                <a:solidFill>
                  <a:srgbClr val="18202C"/>
                </a:solidFill>
                <a:latin typeface="Avenir Next"/>
                <a:ea typeface="Avenir Next"/>
                <a:cs typeface="Avenir Next"/>
              </a:rPr>
              <a:t>RabbitMQ responds while the synchronous request waits.</a:t>
            </a:r>
          </a:p>
        </p:txBody>
      </p:sp>
      <p:sp>
        <p:nvSpPr>
          <p:cNvPr id="9" name="">
            <a:extLst xmlns:a="http://schemas.openxmlformats.org/drawingml/2006/main">
              <a:ext uri="{FF2B5EF4-FFF2-40B4-BE49-F238E27FC236}">
                <a16:creationId xmlns:a16="http://schemas.microsoft.com/office/drawing/2014/main" id="{0910983A-4B01-4D5E-A0F4-AFDA13C6A66F}"/>
              </a:ext>
            </a:extLst>
          </p:cNvPr>
          <p:cNvSpPr>
            <a:spLocks xmlns:a="http://schemas.openxmlformats.org/drawingml/2006/main" noGrp="1"/>
          </p:cNvSpPr>
          <p:nvPr/>
        </p:nvSpPr>
        <p:spPr>
          <a:xfrm xmlns:a="http://schemas.openxmlformats.org/drawingml/2006/main">
            <a:off x="1524000" y="2276475"/>
            <a:ext cx="95250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10" name="">
            <a:extLst xmlns:a="http://schemas.openxmlformats.org/drawingml/2006/main">
              <a:ext uri="{FF2B5EF4-FFF2-40B4-BE49-F238E27FC236}">
                <a16:creationId xmlns:a16="http://schemas.microsoft.com/office/drawing/2014/main" id="{CF304592-9B2D-4614-86AB-3C8B70739926}"/>
              </a:ext>
            </a:extLst>
          </p:cNvPr>
          <p:cNvSpPr>
            <a:spLocks xmlns:a="http://schemas.openxmlformats.org/drawingml/2006/main" noGrp="1"/>
          </p:cNvSpPr>
          <p:nvPr/>
        </p:nvSpPr>
        <p:spPr>
          <a:xfrm xmlns:a="http://schemas.openxmlformats.org/drawingml/2006/main">
            <a:off x="685800" y="2552700"/>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ctr">
              <a:lnSpc>
                <a:spcPct val="106000"/>
              </a:lnSpc>
              <a:buNone/>
              <a:defRPr sz="2400" b="1">
                <a:solidFill>
                  <a:srgbClr val="F36B21"/>
                </a:solidFill>
                <a:latin typeface="Avenir Next"/>
                <a:ea typeface="Avenir Next"/>
                <a:cs typeface="Avenir Next"/>
              </a:defRPr>
            </a:pPr>
            <a:r>
              <a:rPr sz="2400" b="1">
                <a:solidFill>
                  <a:srgbClr val="F36B21"/>
                </a:solidFill>
                <a:latin typeface="Avenir Next"/>
                <a:ea typeface="Avenir Next"/>
                <a:cs typeface="Avenir Next"/>
              </a:rPr>
              <a:t>2</a:t>
            </a:r>
          </a:p>
        </p:txBody>
      </p:sp>
      <p:sp>
        <p:nvSpPr>
          <p:cNvPr id="11" name="">
            <a:extLst xmlns:a="http://schemas.openxmlformats.org/drawingml/2006/main">
              <a:ext uri="{FF2B5EF4-FFF2-40B4-BE49-F238E27FC236}">
                <a16:creationId xmlns:a16="http://schemas.microsoft.com/office/drawing/2014/main" id="{EC8EBE3C-5BCC-4FF1-8E3C-E920D047EF88}"/>
              </a:ext>
            </a:extLst>
          </p:cNvPr>
          <p:cNvSpPr>
            <a:spLocks xmlns:a="http://schemas.openxmlformats.org/drawingml/2006/main" noGrp="1"/>
          </p:cNvSpPr>
          <p:nvPr/>
        </p:nvSpPr>
        <p:spPr>
          <a:xfrm xmlns:a="http://schemas.openxmlformats.org/drawingml/2006/main">
            <a:off x="1524000" y="2571750"/>
            <a:ext cx="2762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06000"/>
              </a:lnSpc>
              <a:buNone/>
              <a:defRPr sz="1875" b="1">
                <a:solidFill>
                  <a:srgbClr val="142B4A"/>
                </a:solidFill>
                <a:latin typeface="Avenir Next"/>
                <a:ea typeface="Avenir Next"/>
                <a:cs typeface="Avenir Next"/>
              </a:defRPr>
            </a:pPr>
            <a:r>
              <a:rPr sz="1875" b="1">
                <a:solidFill>
                  <a:srgbClr val="142B4A"/>
                </a:solidFill>
                <a:latin typeface="Avenir Next"/>
                <a:ea typeface="Avenir Next"/>
                <a:cs typeface="Avenir Next"/>
              </a:rPr>
              <a:t>Follow one order</a:t>
            </a:r>
          </a:p>
        </p:txBody>
      </p:sp>
      <p:sp>
        <p:nvSpPr>
          <p:cNvPr id="12" name="">
            <a:extLst xmlns:a="http://schemas.openxmlformats.org/drawingml/2006/main">
              <a:ext uri="{FF2B5EF4-FFF2-40B4-BE49-F238E27FC236}">
                <a16:creationId xmlns:a16="http://schemas.microsoft.com/office/drawing/2014/main" id="{1B76DBBA-79D6-40A9-AB23-9EC59F3960D8}"/>
              </a:ext>
            </a:extLst>
          </p:cNvPr>
          <p:cNvSpPr>
            <a:spLocks xmlns:a="http://schemas.openxmlformats.org/drawingml/2006/main" noGrp="1"/>
          </p:cNvSpPr>
          <p:nvPr/>
        </p:nvSpPr>
        <p:spPr>
          <a:xfrm xmlns:a="http://schemas.openxmlformats.org/drawingml/2006/main">
            <a:off x="4572000" y="2571750"/>
            <a:ext cx="6477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12000"/>
              </a:lnSpc>
              <a:buNone/>
              <a:defRPr sz="1575" b="0">
                <a:solidFill>
                  <a:srgbClr val="18202C"/>
                </a:solidFill>
                <a:latin typeface="Avenir Next"/>
                <a:ea typeface="Avenir Next"/>
                <a:cs typeface="Avenir Next"/>
              </a:defRPr>
            </a:pPr>
            <a:r>
              <a:rPr sz="1575" b="0">
                <a:solidFill>
                  <a:srgbClr val="18202C"/>
                </a:solidFill>
                <a:latin typeface="Avenir Next"/>
                <a:ea typeface="Avenir Next"/>
                <a:cs typeface="Avenir Next"/>
              </a:rPr>
              <a:t>Watch PENDING, PAID, and COMPLETED in the timeline.</a:t>
            </a:r>
          </a:p>
        </p:txBody>
      </p:sp>
      <p:sp>
        <p:nvSpPr>
          <p:cNvPr id="13" name="">
            <a:extLst xmlns:a="http://schemas.openxmlformats.org/drawingml/2006/main">
              <a:ext uri="{FF2B5EF4-FFF2-40B4-BE49-F238E27FC236}">
                <a16:creationId xmlns:a16="http://schemas.microsoft.com/office/drawing/2014/main" id="{4A463B00-F5BF-4BA2-8CC0-36DD4C4A0AC7}"/>
              </a:ext>
            </a:extLst>
          </p:cNvPr>
          <p:cNvSpPr>
            <a:spLocks xmlns:a="http://schemas.openxmlformats.org/drawingml/2006/main" noGrp="1"/>
          </p:cNvSpPr>
          <p:nvPr/>
        </p:nvSpPr>
        <p:spPr>
          <a:xfrm xmlns:a="http://schemas.openxmlformats.org/drawingml/2006/main">
            <a:off x="1524000" y="3257550"/>
            <a:ext cx="95250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14" name="">
            <a:extLst xmlns:a="http://schemas.openxmlformats.org/drawingml/2006/main">
              <a:ext uri="{FF2B5EF4-FFF2-40B4-BE49-F238E27FC236}">
                <a16:creationId xmlns:a16="http://schemas.microsoft.com/office/drawing/2014/main" id="{809E8485-9EBF-4553-B20A-50459A0D0C4C}"/>
              </a:ext>
            </a:extLst>
          </p:cNvPr>
          <p:cNvSpPr>
            <a:spLocks xmlns:a="http://schemas.openxmlformats.org/drawingml/2006/main" noGrp="1"/>
          </p:cNvSpPr>
          <p:nvPr/>
        </p:nvSpPr>
        <p:spPr>
          <a:xfrm xmlns:a="http://schemas.openxmlformats.org/drawingml/2006/main">
            <a:off x="685800" y="3533775"/>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ctr">
              <a:lnSpc>
                <a:spcPct val="106000"/>
              </a:lnSpc>
              <a:buNone/>
              <a:defRPr sz="2400" b="1">
                <a:solidFill>
                  <a:srgbClr val="F36B21"/>
                </a:solidFill>
                <a:latin typeface="Avenir Next"/>
                <a:ea typeface="Avenir Next"/>
                <a:cs typeface="Avenir Next"/>
              </a:defRPr>
            </a:pPr>
            <a:r>
              <a:rPr sz="2400" b="1">
                <a:solidFill>
                  <a:srgbClr val="F36B21"/>
                </a:solidFill>
                <a:latin typeface="Avenir Next"/>
                <a:ea typeface="Avenir Next"/>
                <a:cs typeface="Avenir Next"/>
              </a:rPr>
              <a:t>3</a:t>
            </a:r>
          </a:p>
        </p:txBody>
      </p:sp>
      <p:sp>
        <p:nvSpPr>
          <p:cNvPr id="15" name="">
            <a:extLst xmlns:a="http://schemas.openxmlformats.org/drawingml/2006/main">
              <a:ext uri="{FF2B5EF4-FFF2-40B4-BE49-F238E27FC236}">
                <a16:creationId xmlns:a16="http://schemas.microsoft.com/office/drawing/2014/main" id="{386D969C-73C7-4D87-AC53-2D5C0523D468}"/>
              </a:ext>
            </a:extLst>
          </p:cNvPr>
          <p:cNvSpPr>
            <a:spLocks xmlns:a="http://schemas.openxmlformats.org/drawingml/2006/main" noGrp="1"/>
          </p:cNvSpPr>
          <p:nvPr/>
        </p:nvSpPr>
        <p:spPr>
          <a:xfrm xmlns:a="http://schemas.openxmlformats.org/drawingml/2006/main">
            <a:off x="1524000" y="3552825"/>
            <a:ext cx="2762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06000"/>
              </a:lnSpc>
              <a:buNone/>
              <a:defRPr sz="1875" b="1">
                <a:solidFill>
                  <a:srgbClr val="142B4A"/>
                </a:solidFill>
                <a:latin typeface="Avenir Next"/>
                <a:ea typeface="Avenir Next"/>
                <a:cs typeface="Avenir Next"/>
              </a:defRPr>
            </a:pPr>
            <a:r>
              <a:rPr sz="1875" b="1">
                <a:solidFill>
                  <a:srgbClr val="142B4A"/>
                </a:solidFill>
                <a:latin typeface="Avenir Next"/>
                <a:ea typeface="Avenir Next"/>
                <a:cs typeface="Avenir Next"/>
              </a:rPr>
              <a:t>Stop a worker</a:t>
            </a:r>
          </a:p>
        </p:txBody>
      </p:sp>
      <p:sp>
        <p:nvSpPr>
          <p:cNvPr id="16" name="">
            <a:extLst xmlns:a="http://schemas.openxmlformats.org/drawingml/2006/main">
              <a:ext uri="{FF2B5EF4-FFF2-40B4-BE49-F238E27FC236}">
                <a16:creationId xmlns:a16="http://schemas.microsoft.com/office/drawing/2014/main" id="{A48F67EE-9F89-4C7A-B50F-AE11F0183A23}"/>
              </a:ext>
            </a:extLst>
          </p:cNvPr>
          <p:cNvSpPr>
            <a:spLocks xmlns:a="http://schemas.openxmlformats.org/drawingml/2006/main" noGrp="1"/>
          </p:cNvSpPr>
          <p:nvPr/>
        </p:nvSpPr>
        <p:spPr>
          <a:xfrm xmlns:a="http://schemas.openxmlformats.org/drawingml/2006/main">
            <a:off x="4572000" y="3552825"/>
            <a:ext cx="6477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12000"/>
              </a:lnSpc>
              <a:buNone/>
              <a:defRPr sz="1575" b="0">
                <a:solidFill>
                  <a:srgbClr val="18202C"/>
                </a:solidFill>
                <a:latin typeface="Avenir Next"/>
                <a:ea typeface="Avenir Next"/>
                <a:cs typeface="Avenir Next"/>
              </a:defRPr>
            </a:pPr>
            <a:r>
              <a:rPr sz="1575" b="0">
                <a:solidFill>
                  <a:srgbClr val="18202C"/>
                </a:solidFill>
                <a:latin typeface="Avenir Next"/>
                <a:ea typeface="Avenir Next"/>
                <a:cs typeface="Avenir Next"/>
              </a:rPr>
              <a:t>Orders stay queued and finish after the worker returns.</a:t>
            </a:r>
          </a:p>
        </p:txBody>
      </p:sp>
      <p:sp>
        <p:nvSpPr>
          <p:cNvPr id="17" name="">
            <a:extLst xmlns:a="http://schemas.openxmlformats.org/drawingml/2006/main">
              <a:ext uri="{FF2B5EF4-FFF2-40B4-BE49-F238E27FC236}">
                <a16:creationId xmlns:a16="http://schemas.microsoft.com/office/drawing/2014/main" id="{8A0E8500-830B-497B-8F6D-0D44684A47CD}"/>
              </a:ext>
            </a:extLst>
          </p:cNvPr>
          <p:cNvSpPr>
            <a:spLocks xmlns:a="http://schemas.openxmlformats.org/drawingml/2006/main" noGrp="1"/>
          </p:cNvSpPr>
          <p:nvPr/>
        </p:nvSpPr>
        <p:spPr>
          <a:xfrm xmlns:a="http://schemas.openxmlformats.org/drawingml/2006/main">
            <a:off x="1524000" y="4238625"/>
            <a:ext cx="95250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18" name="">
            <a:extLst xmlns:a="http://schemas.openxmlformats.org/drawingml/2006/main">
              <a:ext uri="{FF2B5EF4-FFF2-40B4-BE49-F238E27FC236}">
                <a16:creationId xmlns:a16="http://schemas.microsoft.com/office/drawing/2014/main" id="{80A43D18-35F0-46DB-ACC8-ECA1EF2BA912}"/>
              </a:ext>
            </a:extLst>
          </p:cNvPr>
          <p:cNvSpPr>
            <a:spLocks xmlns:a="http://schemas.openxmlformats.org/drawingml/2006/main" noGrp="1"/>
          </p:cNvSpPr>
          <p:nvPr/>
        </p:nvSpPr>
        <p:spPr>
          <a:xfrm xmlns:a="http://schemas.openxmlformats.org/drawingml/2006/main">
            <a:off x="685800" y="4514850"/>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ctr">
              <a:lnSpc>
                <a:spcPct val="106000"/>
              </a:lnSpc>
              <a:buNone/>
              <a:defRPr sz="2400" b="1">
                <a:solidFill>
                  <a:srgbClr val="C9322B"/>
                </a:solidFill>
                <a:latin typeface="Avenir Next"/>
                <a:ea typeface="Avenir Next"/>
                <a:cs typeface="Avenir Next"/>
              </a:defRPr>
            </a:pPr>
            <a:r>
              <a:rPr sz="2400" b="1">
                <a:solidFill>
                  <a:srgbClr val="C9322B"/>
                </a:solidFill>
                <a:latin typeface="Avenir Next"/>
                <a:ea typeface="Avenir Next"/>
                <a:cs typeface="Avenir Next"/>
              </a:rPr>
              <a:t>4</a:t>
            </a:r>
          </a:p>
        </p:txBody>
      </p:sp>
      <p:sp>
        <p:nvSpPr>
          <p:cNvPr id="19" name="">
            <a:extLst xmlns:a="http://schemas.openxmlformats.org/drawingml/2006/main">
              <a:ext uri="{FF2B5EF4-FFF2-40B4-BE49-F238E27FC236}">
                <a16:creationId xmlns:a16="http://schemas.microsoft.com/office/drawing/2014/main" id="{1C8CE47D-E581-42E6-B4AF-81235684102E}"/>
              </a:ext>
            </a:extLst>
          </p:cNvPr>
          <p:cNvSpPr>
            <a:spLocks xmlns:a="http://schemas.openxmlformats.org/drawingml/2006/main" noGrp="1"/>
          </p:cNvSpPr>
          <p:nvPr/>
        </p:nvSpPr>
        <p:spPr>
          <a:xfrm xmlns:a="http://schemas.openxmlformats.org/drawingml/2006/main">
            <a:off x="1524000" y="4533900"/>
            <a:ext cx="2762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06000"/>
              </a:lnSpc>
              <a:buNone/>
              <a:defRPr sz="1875" b="1">
                <a:solidFill>
                  <a:srgbClr val="142B4A"/>
                </a:solidFill>
                <a:latin typeface="Avenir Next"/>
                <a:ea typeface="Avenir Next"/>
                <a:cs typeface="Avenir Next"/>
              </a:defRPr>
            </a:pPr>
            <a:r>
              <a:rPr sz="1875" b="1">
                <a:solidFill>
                  <a:srgbClr val="142B4A"/>
                </a:solidFill>
                <a:latin typeface="Avenir Next"/>
                <a:ea typeface="Avenir Next"/>
                <a:cs typeface="Avenir Next"/>
              </a:rPr>
              <a:t>Force a failure</a:t>
            </a:r>
          </a:p>
        </p:txBody>
      </p:sp>
      <p:sp>
        <p:nvSpPr>
          <p:cNvPr id="20" name="">
            <a:extLst xmlns:a="http://schemas.openxmlformats.org/drawingml/2006/main">
              <a:ext uri="{FF2B5EF4-FFF2-40B4-BE49-F238E27FC236}">
                <a16:creationId xmlns:a16="http://schemas.microsoft.com/office/drawing/2014/main" id="{48D1C534-C21A-45CE-A2DC-196E8DB0CD31}"/>
              </a:ext>
            </a:extLst>
          </p:cNvPr>
          <p:cNvSpPr>
            <a:spLocks xmlns:a="http://schemas.openxmlformats.org/drawingml/2006/main" noGrp="1"/>
          </p:cNvSpPr>
          <p:nvPr/>
        </p:nvSpPr>
        <p:spPr>
          <a:xfrm xmlns:a="http://schemas.openxmlformats.org/drawingml/2006/main">
            <a:off x="4572000" y="4533900"/>
            <a:ext cx="6477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12000"/>
              </a:lnSpc>
              <a:buNone/>
              <a:defRPr sz="1575" b="0">
                <a:solidFill>
                  <a:srgbClr val="18202C"/>
                </a:solidFill>
                <a:latin typeface="Avenir Next"/>
                <a:ea typeface="Avenir Next"/>
                <a:cs typeface="Avenir Next"/>
              </a:defRPr>
            </a:pPr>
            <a:r>
              <a:rPr sz="1575" b="0">
                <a:solidFill>
                  <a:srgbClr val="18202C"/>
                </a:solidFill>
                <a:latin typeface="Avenir Next"/>
                <a:ea typeface="Avenir Next"/>
                <a:cs typeface="Avenir Next"/>
              </a:rPr>
              <a:t>Three attempts end in FAILED and one DLQ message.</a:t>
            </a:r>
          </a:p>
        </p:txBody>
      </p:sp>
      <p:sp>
        <p:nvSpPr>
          <p:cNvPr id="21" name="">
            <a:extLst xmlns:a="http://schemas.openxmlformats.org/drawingml/2006/main">
              <a:ext uri="{FF2B5EF4-FFF2-40B4-BE49-F238E27FC236}">
                <a16:creationId xmlns:a16="http://schemas.microsoft.com/office/drawing/2014/main" id="{C3070422-3D4D-4348-95B7-EAA1235BACA0}"/>
              </a:ext>
            </a:extLst>
          </p:cNvPr>
          <p:cNvSpPr>
            <a:spLocks xmlns:a="http://schemas.openxmlformats.org/drawingml/2006/main" noGrp="1"/>
          </p:cNvSpPr>
          <p:nvPr/>
        </p:nvSpPr>
        <p:spPr>
          <a:xfrm xmlns:a="http://schemas.openxmlformats.org/drawingml/2006/main">
            <a:off x="1381125" y="5715000"/>
            <a:ext cx="9429750" cy="552450"/>
          </a:xfrm>
          <a:prstGeom xmlns:a="http://schemas.openxmlformats.org/drawingml/2006/main" prst="roundRect">
            <a:avLst>
              <a:gd name="adj" fmla="val 20690"/>
            </a:avLst>
          </a:prstGeom>
          <a:solidFill xmlns:a="http://schemas.openxmlformats.org/drawingml/2006/main">
            <a:srgbClr val="DFF1E3"/>
          </a:solidFill>
          <a:ln xmlns:a="http://schemas.openxmlformats.org/drawingml/2006/main" w="11430">
            <a:solidFill>
              <a:srgbClr val="2E7D4F"/>
            </a:solidFill>
          </a:ln>
        </p:spPr>
        <p:txBody>
          <a:bodyPr xmlns:a="http://schemas.openxmlformats.org/drawingml/2006/main" wrap="square" lIns="95250" tIns="76200" rIns="95250" bIns="76200" anchor="ctr">
            <a:normAutofit fontScale="91867"/>
          </a:bodyPr>
          <a:lstStyle xmlns:a="http://schemas.openxmlformats.org/drawingml/2006/main"/>
          <a:p xmlns:a="http://schemas.openxmlformats.org/drawingml/2006/main">
            <a:pPr algn="ctr">
              <a:lnSpc>
                <a:spcPct val="100000"/>
              </a:lnSpc>
              <a:buNone/>
              <a:defRPr sz="1725" b="1">
                <a:solidFill>
                  <a:srgbClr val="142B4A"/>
                </a:solidFill>
                <a:latin typeface="Avenir Next"/>
                <a:ea typeface="Avenir Next"/>
                <a:cs typeface="Avenir Next"/>
              </a:defRPr>
            </a:pPr>
            <a:r>
              <a:rPr sz="1725" b="1">
                <a:solidFill>
                  <a:srgbClr val="142B4A"/>
                </a:solidFill>
                <a:latin typeface="Avenir Next"/>
                <a:ea typeface="Avenir Next"/>
                <a:cs typeface="Avenir Next"/>
              </a:rPr>
              <a:t>RabbitMQ lets the API respond quickly, keeps unfinished work safe, and makes failure visible.</a:t>
            </a:r>
          </a:p>
        </p:txBody>
      </p:sp>
    </p:spTree>
    <p:extLst>
      <p:ext uri="{BB962C8B-B14F-4D97-AF65-F5344CB8AC3E}">
        <p14:creationId xmlns:p14="http://schemas.microsoft.com/office/powerpoint/2010/main" val="130946345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2026-09-22T09:06:46.8050000Z</dcterms:created>
  <dcterms:modified xsi:type="dcterms:W3CDTF">2026-09-22T09:06:46.8050000Z</dcterms:modified>
</coreProperties>
</file>